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21031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技术管理培训  /  视觉样稿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85216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46520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28816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S01  / 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42415"/>
            <a:ext cx="58521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0E1825"/>
                </a:solidFill>
                <a:latin typeface="Microsoft YaHei"/>
                <a:ea typeface="Microsoft YaHei"/>
              </a:rPr>
              <a:t>软件开发模式，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00784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0E1825"/>
                </a:solidFill>
                <a:latin typeface="Microsoft YaHei"/>
                <a:ea typeface="Microsoft YaHei"/>
              </a:rPr>
              <a:t>正在进入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008" y="1700784"/>
            <a:ext cx="506577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0756C7"/>
                </a:solidFill>
                <a:latin typeface="Microsoft YaHei"/>
                <a:ea typeface="Microsoft YaHei"/>
              </a:rPr>
              <a:t>AI Agent 时代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542032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344052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02666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6F7C8E"/>
                </a:solidFill>
                <a:latin typeface="Microsoft YaHei"/>
                <a:ea typeface="Microsoft YaHei"/>
              </a:rPr>
              <a:t>面向产品、项目与研发管理人员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43216" y="1179576"/>
            <a:ext cx="41422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FROM PROCESS  TO  COLLABORATION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43216" y="1837943"/>
            <a:ext cx="3904488" cy="0"/>
          </a:xfrm>
          <a:prstGeom prst="line">
            <a:avLst/>
          </a:prstGeom>
          <a:ln w="25400">
            <a:solidFill>
              <a:srgbClr val="075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461504" y="2212848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61504" y="2272284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45552" y="2368296"/>
            <a:ext cx="475488" cy="0"/>
          </a:xfrm>
          <a:prstGeom prst="line">
            <a:avLst/>
          </a:prstGeom>
          <a:ln w="16510">
            <a:solidFill>
              <a:srgbClr val="075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94776" y="2157984"/>
            <a:ext cx="24231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E1825"/>
                </a:solidFill>
                <a:latin typeface="Microsoft YaHei"/>
                <a:ea typeface="Microsoft YaHei"/>
              </a:rPr>
              <a:t>阶段控制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251460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6F7C8E"/>
                </a:solidFill>
                <a:latin typeface="Microsoft YaHei"/>
                <a:ea typeface="Microsoft YaHei"/>
              </a:rPr>
              <a:t>需求与责任</a:t>
            </a:r>
          </a:p>
        </p:txBody>
      </p:sp>
      <p:sp>
        <p:nvSpPr>
          <p:cNvPr id="19" name="Oval 18"/>
          <p:cNvSpPr/>
          <p:nvPr/>
        </p:nvSpPr>
        <p:spPr>
          <a:xfrm>
            <a:off x="7461504" y="324612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1504" y="3305556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02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45552" y="3401568"/>
            <a:ext cx="475488" cy="0"/>
          </a:xfrm>
          <a:prstGeom prst="line">
            <a:avLst/>
          </a:prstGeom>
          <a:ln w="16510">
            <a:solidFill>
              <a:srgbClr val="075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94776" y="3191256"/>
            <a:ext cx="24231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E1825"/>
                </a:solidFill>
                <a:latin typeface="Microsoft YaHei"/>
                <a:ea typeface="Microsoft YaHei"/>
              </a:rPr>
              <a:t>持续反馈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4776" y="354787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6F7C8E"/>
                </a:solidFill>
                <a:latin typeface="Microsoft YaHei"/>
                <a:ea typeface="Microsoft YaHei"/>
              </a:rPr>
              <a:t>迭代与交付</a:t>
            </a:r>
          </a:p>
        </p:txBody>
      </p:sp>
      <p:sp>
        <p:nvSpPr>
          <p:cNvPr id="24" name="Oval 23"/>
          <p:cNvSpPr/>
          <p:nvPr/>
        </p:nvSpPr>
        <p:spPr>
          <a:xfrm>
            <a:off x="7461504" y="4279391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A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61504" y="4338827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CA469"/>
                </a:solidFill>
                <a:latin typeface="Microsoft YaHei"/>
                <a:ea typeface="Microsoft YaHei"/>
              </a:rPr>
              <a:t>03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45552" y="4434840"/>
            <a:ext cx="475488" cy="0"/>
          </a:xfrm>
          <a:prstGeom prst="line">
            <a:avLst/>
          </a:prstGeom>
          <a:ln w="16510">
            <a:solidFill>
              <a:srgbClr val="0CA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94776" y="4224527"/>
            <a:ext cx="24231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E1825"/>
                </a:solidFill>
                <a:latin typeface="Microsoft YaHei"/>
                <a:ea typeface="Microsoft YaHei"/>
              </a:rPr>
              <a:t>Agent 协作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4581143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6F7C8E"/>
                </a:solidFill>
                <a:latin typeface="Microsoft YaHei"/>
                <a:ea typeface="Microsoft YaHei"/>
              </a:rPr>
              <a:t>执行与验证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" y="4873752"/>
            <a:ext cx="694944" cy="50292"/>
          </a:xfrm>
          <a:prstGeom prst="rect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" y="5111496"/>
            <a:ext cx="65288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043D93"/>
                </a:solidFill>
                <a:latin typeface="Microsoft YaHei"/>
                <a:ea typeface="Microsoft YaHei"/>
              </a:rPr>
              <a:t>工程纪律被保留，协作颗粒度被重塑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" y="5824728"/>
            <a:ext cx="2523744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" y="5884164"/>
            <a:ext cx="25237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单位 / 讲师 / 日期 待补充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21031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模式演进  /  总图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85216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46520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28816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S02  / 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4124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E1825"/>
                </a:solidFill>
                <a:latin typeface="Microsoft YaHei"/>
                <a:ea typeface="Microsoft YaHei"/>
              </a:rPr>
              <a:t>软件开发模式，并非推倒重来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40817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6F7C8E"/>
                </a:solidFill>
                <a:latin typeface="Microsoft YaHei"/>
                <a:ea typeface="Microsoft YaHei"/>
              </a:rPr>
              <a:t>每一次演进，都在回答新的协作瓶颈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2880360"/>
            <a:ext cx="10479024" cy="0"/>
          </a:xfrm>
          <a:prstGeom prst="line">
            <a:avLst/>
          </a:prstGeom>
          <a:ln w="28575">
            <a:solidFill>
              <a:srgbClr val="075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68096" y="265176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80263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929384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0E1825"/>
                </a:solidFill>
                <a:latin typeface="Microsoft YaHei"/>
                <a:ea typeface="Microsoft YaHei"/>
              </a:rPr>
              <a:t>瀑布 / V 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38144"/>
            <a:ext cx="30175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756C7"/>
                </a:solidFill>
                <a:latin typeface="Microsoft YaHei"/>
                <a:ea typeface="Microsoft YaHei"/>
              </a:rPr>
              <a:t>控制复杂度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904487"/>
            <a:ext cx="30632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344052"/>
                </a:solidFill>
                <a:latin typeface="Microsoft YaHei"/>
                <a:ea typeface="Microsoft YaHei"/>
              </a:rPr>
              <a:t>基线 · 评审 · 责任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398264"/>
            <a:ext cx="566928" cy="41148"/>
          </a:xfrm>
          <a:prstGeom prst="rect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14800" y="265176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80263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1929384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0E1825"/>
                </a:solidFill>
                <a:latin typeface="Microsoft YaHei"/>
                <a:ea typeface="Microsoft YaHei"/>
              </a:rPr>
              <a:t>敏捷 / DevOps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438144"/>
            <a:ext cx="30175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756C7"/>
                </a:solidFill>
                <a:latin typeface="Microsoft YaHei"/>
                <a:ea typeface="Microsoft YaHei"/>
              </a:rPr>
              <a:t>缩短反馈周期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904487"/>
            <a:ext cx="30632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344052"/>
                </a:solidFill>
                <a:latin typeface="Microsoft YaHei"/>
                <a:ea typeface="Microsoft YaHei"/>
              </a:rPr>
              <a:t>迭代 · 流水线 · 反馈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4398264"/>
            <a:ext cx="566928" cy="41148"/>
          </a:xfrm>
          <a:prstGeom prst="rect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265176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A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280263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1929384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0E1825"/>
                </a:solidFill>
                <a:latin typeface="Microsoft YaHei"/>
                <a:ea typeface="Microsoft YaHei"/>
              </a:rPr>
              <a:t>AI Agent 协作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3438144"/>
            <a:ext cx="30175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CA469"/>
                </a:solidFill>
                <a:latin typeface="Microsoft YaHei"/>
                <a:ea typeface="Microsoft YaHei"/>
              </a:rPr>
              <a:t>细化可委派工作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3904487"/>
            <a:ext cx="30632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344052"/>
                </a:solidFill>
                <a:latin typeface="Microsoft YaHei"/>
                <a:ea typeface="Microsoft YaHei"/>
              </a:rPr>
              <a:t>上下文 · 执行 · 验证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6096" y="4398264"/>
            <a:ext cx="566928" cy="41148"/>
          </a:xfrm>
          <a:prstGeom prst="rect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58368" y="5084064"/>
            <a:ext cx="10479024" cy="0"/>
          </a:xfrm>
          <a:prstGeom prst="line">
            <a:avLst/>
          </a:prstGeom>
          <a:ln w="1270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2" y="537667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保留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330952"/>
            <a:ext cx="14264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43D93"/>
                </a:solidFill>
                <a:latin typeface="Microsoft YaHei"/>
                <a:ea typeface="Microsoft YaHei"/>
              </a:rPr>
              <a:t>工程基线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45536" y="534009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6F7C8E"/>
                </a:solidFill>
                <a:latin typeface="Microsoft YaHei"/>
                <a:ea typeface="Microsoft YaHei"/>
              </a:rPr>
              <a:t>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9312" y="5330952"/>
            <a:ext cx="14264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43D93"/>
                </a:solidFill>
                <a:latin typeface="Microsoft YaHei"/>
                <a:ea typeface="Microsoft YaHei"/>
              </a:rPr>
              <a:t>持续反馈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4" y="534009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6F7C8E"/>
                </a:solidFill>
                <a:latin typeface="Microsoft YaHei"/>
                <a:ea typeface="Microsoft YaHei"/>
              </a:rPr>
              <a:t>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3016" y="5330952"/>
            <a:ext cx="16276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CA469"/>
                </a:solidFill>
                <a:latin typeface="Microsoft YaHei"/>
                <a:ea typeface="Microsoft YaHei"/>
              </a:rPr>
              <a:t>Agent 加速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48472" y="5202936"/>
            <a:ext cx="2788920" cy="594360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48472" y="5376672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CA469"/>
                </a:solidFill>
                <a:latin typeface="Microsoft YaHei"/>
                <a:ea typeface="Microsoft YaHei"/>
              </a:rPr>
              <a:t>形成可靠交付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21031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全生命周期  /  Agent 参与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85216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46520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28816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S03  / 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41248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E1825"/>
                </a:solidFill>
                <a:latin typeface="Microsoft YaHei"/>
                <a:ea typeface="Microsoft YaHei"/>
              </a:rPr>
              <a:t>Agent 进入的不只是编码环节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408176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6F7C8E"/>
                </a:solidFill>
                <a:latin typeface="Microsoft YaHei"/>
                <a:ea typeface="Microsoft YaHei"/>
              </a:rPr>
              <a:t>执行加速贯穿全流程，关键判断仍由人把关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066543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43D93"/>
                </a:solidFill>
                <a:latin typeface="Microsoft YaHei"/>
                <a:ea typeface="Microsoft YaHei"/>
              </a:rPr>
              <a:t>人的门禁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3931920"/>
            <a:ext cx="9418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CA469"/>
                </a:solidFill>
                <a:latin typeface="Microsoft YaHei"/>
                <a:ea typeface="Microsoft YaHei"/>
              </a:rPr>
              <a:t>Agent 参与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92224" y="2221992"/>
            <a:ext cx="9436608" cy="0"/>
          </a:xfrm>
          <a:prstGeom prst="line">
            <a:avLst/>
          </a:prstGeom>
          <a:ln w="20320">
            <a:solidFill>
              <a:srgbClr val="075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792224" y="4096512"/>
            <a:ext cx="9436608" cy="0"/>
          </a:xfrm>
          <a:prstGeom prst="line">
            <a:avLst/>
          </a:prstGeom>
          <a:ln w="20320">
            <a:solidFill>
              <a:srgbClr val="0CA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920240" y="2103120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20240" y="3977639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A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039112" y="2350008"/>
            <a:ext cx="0" cy="1618488"/>
          </a:xfrm>
          <a:prstGeom prst="line">
            <a:avLst/>
          </a:prstGeom>
          <a:ln w="1143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700784" y="3008376"/>
            <a:ext cx="6766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E1825"/>
                </a:solidFill>
                <a:latin typeface="Microsoft YaHei"/>
                <a:ea typeface="Microsoft YaHei"/>
              </a:rPr>
              <a:t>需求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1709928"/>
            <a:ext cx="1033271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43D93"/>
                </a:solidFill>
                <a:latin typeface="Microsoft YaHei"/>
                <a:ea typeface="Microsoft YaHei"/>
              </a:rPr>
              <a:t>目标确认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7904" y="4370832"/>
            <a:ext cx="1033271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整理分歧</a:t>
            </a:r>
          </a:p>
        </p:txBody>
      </p:sp>
      <p:sp>
        <p:nvSpPr>
          <p:cNvPr id="19" name="Oval 18"/>
          <p:cNvSpPr/>
          <p:nvPr/>
        </p:nvSpPr>
        <p:spPr>
          <a:xfrm>
            <a:off x="3264408" y="2103120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64408" y="3977639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A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383280" y="2350008"/>
            <a:ext cx="0" cy="1618488"/>
          </a:xfrm>
          <a:prstGeom prst="line">
            <a:avLst/>
          </a:prstGeom>
          <a:ln w="1143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44952" y="3008376"/>
            <a:ext cx="6766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E1825"/>
                </a:solidFill>
                <a:latin typeface="Microsoft YaHei"/>
                <a:ea typeface="Microsoft YaHei"/>
              </a:rPr>
              <a:t>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62072" y="1709928"/>
            <a:ext cx="1033271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43D93"/>
                </a:solidFill>
                <a:latin typeface="Microsoft YaHei"/>
                <a:ea typeface="Microsoft YaHei"/>
              </a:rPr>
              <a:t>架构批准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62072" y="4370832"/>
            <a:ext cx="1033271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比较方案</a:t>
            </a:r>
          </a:p>
        </p:txBody>
      </p:sp>
      <p:sp>
        <p:nvSpPr>
          <p:cNvPr id="25" name="Oval 24"/>
          <p:cNvSpPr/>
          <p:nvPr/>
        </p:nvSpPr>
        <p:spPr>
          <a:xfrm>
            <a:off x="4608576" y="2103120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08576" y="3977639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A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727448" y="2350008"/>
            <a:ext cx="0" cy="1618488"/>
          </a:xfrm>
          <a:prstGeom prst="line">
            <a:avLst/>
          </a:prstGeom>
          <a:ln w="1143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389120" y="3008376"/>
            <a:ext cx="6766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E1825"/>
                </a:solidFill>
                <a:latin typeface="Microsoft YaHei"/>
                <a:ea typeface="Microsoft YaHei"/>
              </a:rPr>
              <a:t>编码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1709928"/>
            <a:ext cx="1033271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43D93"/>
                </a:solidFill>
                <a:latin typeface="Microsoft YaHei"/>
                <a:ea typeface="Microsoft YaHei"/>
              </a:rPr>
              <a:t>范围审查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370832"/>
            <a:ext cx="1033271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执行修改</a:t>
            </a:r>
          </a:p>
        </p:txBody>
      </p:sp>
      <p:sp>
        <p:nvSpPr>
          <p:cNvPr id="31" name="Oval 30"/>
          <p:cNvSpPr/>
          <p:nvPr/>
        </p:nvSpPr>
        <p:spPr>
          <a:xfrm>
            <a:off x="5952744" y="2103120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52744" y="3977639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A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071616" y="2350008"/>
            <a:ext cx="0" cy="1618488"/>
          </a:xfrm>
          <a:prstGeom prst="line">
            <a:avLst/>
          </a:prstGeom>
          <a:ln w="1143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733288" y="3008376"/>
            <a:ext cx="6766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E1825"/>
                </a:solidFill>
                <a:latin typeface="Microsoft YaHei"/>
                <a:ea typeface="Microsoft YaHei"/>
              </a:rPr>
              <a:t>测试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50407" y="1709928"/>
            <a:ext cx="1033271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43D93"/>
                </a:solidFill>
                <a:latin typeface="Microsoft YaHei"/>
                <a:ea typeface="Microsoft YaHei"/>
              </a:rPr>
              <a:t>通过判定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50407" y="4370832"/>
            <a:ext cx="1033271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运行验证</a:t>
            </a:r>
          </a:p>
        </p:txBody>
      </p:sp>
      <p:sp>
        <p:nvSpPr>
          <p:cNvPr id="37" name="Oval 36"/>
          <p:cNvSpPr/>
          <p:nvPr/>
        </p:nvSpPr>
        <p:spPr>
          <a:xfrm>
            <a:off x="7296912" y="2103120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296912" y="3977639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A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7415784" y="2350008"/>
            <a:ext cx="0" cy="1618488"/>
          </a:xfrm>
          <a:prstGeom prst="line">
            <a:avLst/>
          </a:prstGeom>
          <a:ln w="1143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077456" y="3008376"/>
            <a:ext cx="6766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E1825"/>
                </a:solidFill>
                <a:latin typeface="Microsoft YaHei"/>
                <a:ea typeface="Microsoft YaHei"/>
              </a:rPr>
              <a:t>发布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94576" y="1709928"/>
            <a:ext cx="1033271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43D93"/>
                </a:solidFill>
                <a:latin typeface="Microsoft YaHei"/>
                <a:ea typeface="Microsoft YaHei"/>
              </a:rPr>
              <a:t>上线批准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94576" y="4370832"/>
            <a:ext cx="1033271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核对清单</a:t>
            </a:r>
          </a:p>
        </p:txBody>
      </p:sp>
      <p:sp>
        <p:nvSpPr>
          <p:cNvPr id="43" name="Oval 42"/>
          <p:cNvSpPr/>
          <p:nvPr/>
        </p:nvSpPr>
        <p:spPr>
          <a:xfrm>
            <a:off x="8641080" y="2103120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3977639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A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8759952" y="2350008"/>
            <a:ext cx="0" cy="1618488"/>
          </a:xfrm>
          <a:prstGeom prst="line">
            <a:avLst/>
          </a:prstGeom>
          <a:ln w="1143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21624" y="3008376"/>
            <a:ext cx="6766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E1825"/>
                </a:solidFill>
                <a:latin typeface="Microsoft YaHei"/>
                <a:ea typeface="Microsoft YaHei"/>
              </a:rPr>
              <a:t>运维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38744" y="1709928"/>
            <a:ext cx="1033271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43D93"/>
                </a:solidFill>
                <a:latin typeface="Microsoft YaHei"/>
                <a:ea typeface="Microsoft YaHei"/>
              </a:rPr>
              <a:t>处置决策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38744" y="4370832"/>
            <a:ext cx="1033271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归纳日志</a:t>
            </a:r>
          </a:p>
        </p:txBody>
      </p:sp>
      <p:sp>
        <p:nvSpPr>
          <p:cNvPr id="49" name="Oval 48"/>
          <p:cNvSpPr/>
          <p:nvPr/>
        </p:nvSpPr>
        <p:spPr>
          <a:xfrm>
            <a:off x="9985248" y="2103120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85248" y="3977639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A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0104120" y="2350008"/>
            <a:ext cx="0" cy="1618488"/>
          </a:xfrm>
          <a:prstGeom prst="line">
            <a:avLst/>
          </a:prstGeom>
          <a:ln w="1143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765792" y="3008376"/>
            <a:ext cx="6766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E1825"/>
                </a:solidFill>
                <a:latin typeface="Microsoft YaHei"/>
                <a:ea typeface="Microsoft YaHei"/>
              </a:rPr>
              <a:t>反馈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82912" y="1709928"/>
            <a:ext cx="1033271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43D93"/>
                </a:solidFill>
                <a:latin typeface="Microsoft YaHei"/>
                <a:ea typeface="Microsoft YaHei"/>
              </a:rPr>
              <a:t>优先决策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82912" y="4370832"/>
            <a:ext cx="1033271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汇总建议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" y="5303520"/>
            <a:ext cx="658368" cy="45720"/>
          </a:xfrm>
          <a:prstGeom prst="rect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2648" y="5522976"/>
            <a:ext cx="50474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043D93"/>
                </a:solidFill>
                <a:latin typeface="Microsoft YaHei"/>
                <a:ea typeface="Microsoft YaHei"/>
              </a:rPr>
              <a:t>加速执行，不等于让渡决策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02752" y="5522976"/>
            <a:ext cx="2852928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02752" y="5582412"/>
            <a:ext cx="2852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目标 · 权限 · 验证 · 责任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21031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治理结论  /  五项原则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85216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46520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28816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S04  / 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96112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0E1825"/>
                </a:solidFill>
                <a:latin typeface="Microsoft YaHei"/>
                <a:ea typeface="Microsoft YaHei"/>
              </a:rPr>
              <a:t>速度提高之后，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0756C7"/>
                </a:solidFill>
                <a:latin typeface="Microsoft YaHei"/>
                <a:ea typeface="Microsoft YaHei"/>
              </a:rPr>
              <a:t>控制原则更重要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194560"/>
            <a:ext cx="71323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>
                <a:solidFill>
                  <a:srgbClr val="344052"/>
                </a:solidFill>
                <a:latin typeface="Microsoft YaHei"/>
                <a:ea typeface="Microsoft YaHei"/>
              </a:rPr>
              <a:t>Agent 能加速正确工作，也能加速错误落地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95528" y="3703320"/>
            <a:ext cx="10213848" cy="0"/>
          </a:xfrm>
          <a:prstGeom prst="line">
            <a:avLst/>
          </a:prstGeom>
          <a:ln w="1905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22960" y="3547872"/>
            <a:ext cx="320040" cy="320040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48456"/>
            <a:ext cx="3200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14800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756C7"/>
                </a:solidFill>
                <a:latin typeface="Microsoft YaHei"/>
                <a:ea typeface="Microsoft YaHei"/>
              </a:rPr>
              <a:t>目标明确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17136"/>
            <a:ext cx="16642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F7C8E"/>
                </a:solidFill>
                <a:latin typeface="Microsoft YaHei"/>
                <a:ea typeface="Microsoft YaHei"/>
              </a:rPr>
              <a:t>明确成功标准</a:t>
            </a:r>
          </a:p>
        </p:txBody>
      </p:sp>
      <p:sp>
        <p:nvSpPr>
          <p:cNvPr id="15" name="Oval 14"/>
          <p:cNvSpPr/>
          <p:nvPr/>
        </p:nvSpPr>
        <p:spPr>
          <a:xfrm>
            <a:off x="2944368" y="3547872"/>
            <a:ext cx="320040" cy="320040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4368" y="3648456"/>
            <a:ext cx="3200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4114800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756C7"/>
                </a:solidFill>
                <a:latin typeface="Microsoft YaHei"/>
                <a:ea typeface="Microsoft YaHei"/>
              </a:rPr>
              <a:t>上下文充分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4517136"/>
            <a:ext cx="16642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F7C8E"/>
                </a:solidFill>
                <a:latin typeface="Microsoft YaHei"/>
                <a:ea typeface="Microsoft YaHei"/>
              </a:rPr>
              <a:t>提供真实约束</a:t>
            </a:r>
          </a:p>
        </p:txBody>
      </p:sp>
      <p:sp>
        <p:nvSpPr>
          <p:cNvPr id="19" name="Oval 18"/>
          <p:cNvSpPr/>
          <p:nvPr/>
        </p:nvSpPr>
        <p:spPr>
          <a:xfrm>
            <a:off x="5065776" y="3547872"/>
            <a:ext cx="320040" cy="320040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65776" y="3648456"/>
            <a:ext cx="3200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6" y="4114800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F38321"/>
                </a:solidFill>
                <a:latin typeface="Microsoft YaHei"/>
                <a:ea typeface="Microsoft YaHei"/>
              </a:rPr>
              <a:t>授权有界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5776" y="4517136"/>
            <a:ext cx="16642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F7C8E"/>
                </a:solidFill>
                <a:latin typeface="Microsoft YaHei"/>
                <a:ea typeface="Microsoft YaHei"/>
              </a:rPr>
              <a:t>控制操作范围</a:t>
            </a:r>
          </a:p>
        </p:txBody>
      </p:sp>
      <p:sp>
        <p:nvSpPr>
          <p:cNvPr id="23" name="Oval 22"/>
          <p:cNvSpPr/>
          <p:nvPr/>
        </p:nvSpPr>
        <p:spPr>
          <a:xfrm>
            <a:off x="7187183" y="3547872"/>
            <a:ext cx="320040" cy="320040"/>
          </a:xfrm>
          <a:prstGeom prst="ellipse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7183" y="3648456"/>
            <a:ext cx="3200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7183" y="4114800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CA469"/>
                </a:solidFill>
                <a:latin typeface="Microsoft YaHei"/>
                <a:ea typeface="Microsoft YaHei"/>
              </a:rPr>
              <a:t>验证有据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7183" y="4517136"/>
            <a:ext cx="16642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F7C8E"/>
                </a:solidFill>
                <a:latin typeface="Microsoft YaHei"/>
                <a:ea typeface="Microsoft YaHei"/>
              </a:rPr>
              <a:t>保留测试证据</a:t>
            </a:r>
          </a:p>
        </p:txBody>
      </p:sp>
      <p:sp>
        <p:nvSpPr>
          <p:cNvPr id="27" name="Oval 26"/>
          <p:cNvSpPr/>
          <p:nvPr/>
        </p:nvSpPr>
        <p:spPr>
          <a:xfrm>
            <a:off x="9308592" y="3547872"/>
            <a:ext cx="320040" cy="320040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2" y="3648456"/>
            <a:ext cx="3200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4114800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756C7"/>
                </a:solidFill>
                <a:latin typeface="Microsoft YaHei"/>
                <a:ea typeface="Microsoft YaHei"/>
              </a:rPr>
              <a:t>责任有人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4517136"/>
            <a:ext cx="16642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F7C8E"/>
                </a:solidFill>
                <a:latin typeface="Microsoft YaHei"/>
                <a:ea typeface="Microsoft YaHei"/>
              </a:rPr>
              <a:t>批准最终结果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5504688"/>
            <a:ext cx="10991088" cy="548640"/>
          </a:xfrm>
          <a:prstGeom prst="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641848"/>
            <a:ext cx="109910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</a:rPr>
              <a:t>可控协作，才是可靠加速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新版视觉样稿：传统软件开发模式与 AI Agent 时代的软件开发模式</dc:title>
  <dc:subject/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