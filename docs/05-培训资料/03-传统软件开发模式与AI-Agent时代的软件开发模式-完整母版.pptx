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bra/superpowers" TargetMode="External"/><Relationship Id="rId3" Type="http://schemas.openxmlformats.org/officeDocument/2006/relationships/hyperlink" Target="https://github.com/github/spec-kit" TargetMode="External"/><Relationship Id="rId4" Type="http://schemas.openxmlformats.org/officeDocument/2006/relationships/hyperlink" Target="https://github.com/Fission-AI/OpenSpec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01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536192"/>
            <a:ext cx="4937760" cy="42976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软件协作方式正在变化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84831"/>
            <a:ext cx="502920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面向产品、项目与研发管理人员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206240"/>
            <a:ext cx="1417320" cy="3657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4242816"/>
            <a:ext cx="130759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单位名称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2848" y="4206240"/>
            <a:ext cx="1417320" cy="3657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4242816"/>
            <a:ext cx="130759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讲师姓名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3048" y="4206240"/>
            <a:ext cx="1143000" cy="3657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1" y="4242816"/>
            <a:ext cx="1033271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日期</a:t>
            </a:r>
          </a:p>
        </p:txBody>
      </p:sp>
      <p:sp>
        <p:nvSpPr>
          <p:cNvPr id="17" name="Oval 16"/>
          <p:cNvSpPr/>
          <p:nvPr/>
        </p:nvSpPr>
        <p:spPr>
          <a:xfrm>
            <a:off x="6784848" y="194767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2864" y="2066543"/>
            <a:ext cx="182880" cy="228600"/>
          </a:xfrm>
          <a:prstGeom prst="rect">
            <a:avLst/>
          </a:prstGeom>
          <a:noFill/>
          <a:ln w="1524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2112264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2185415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31736" y="2112264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31736" y="2185415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19088" y="2606040"/>
            <a:ext cx="1243584" cy="786384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834640"/>
            <a:ext cx="109728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阶段管理</a:t>
            </a:r>
          </a:p>
        </p:txBody>
      </p:sp>
      <p:sp>
        <p:nvSpPr>
          <p:cNvPr id="25" name="Chevron 24"/>
          <p:cNvSpPr/>
          <p:nvPr/>
        </p:nvSpPr>
        <p:spPr>
          <a:xfrm>
            <a:off x="7799831" y="2880360"/>
            <a:ext cx="182880" cy="182880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58200" y="194767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8586216" y="2075688"/>
            <a:ext cx="82296" cy="13716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68512" y="2075688"/>
            <a:ext cx="82296" cy="13716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86216" y="2212848"/>
            <a:ext cx="164592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636508" y="2043684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54212" y="2180844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18804" y="2180844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92440" y="2606040"/>
            <a:ext cx="1243584" cy="786384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2834640"/>
            <a:ext cx="109728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持续反馈</a:t>
            </a:r>
          </a:p>
        </p:txBody>
      </p:sp>
      <p:sp>
        <p:nvSpPr>
          <p:cNvPr id="35" name="Chevron 34"/>
          <p:cNvSpPr/>
          <p:nvPr/>
        </p:nvSpPr>
        <p:spPr>
          <a:xfrm>
            <a:off x="9473184" y="2880360"/>
            <a:ext cx="182880" cy="182880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1552" y="194767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96144" y="2112264"/>
            <a:ext cx="109728" cy="10972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10232136" y="2039112"/>
            <a:ext cx="118872" cy="128016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209276" y="2016252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10351008" y="2066543"/>
            <a:ext cx="91440" cy="100585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0419588" y="2043684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>
            <a:off x="10250424" y="2167128"/>
            <a:ext cx="100584" cy="9144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0227564" y="2235708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351008" y="2167128"/>
            <a:ext cx="91440" cy="82296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419588" y="2226564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65792" y="2606040"/>
            <a:ext cx="1243584" cy="786384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38944" y="2834640"/>
            <a:ext cx="109728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Agent 协作</a:t>
            </a:r>
          </a:p>
        </p:txBody>
      </p:sp>
      <p:sp>
        <p:nvSpPr>
          <p:cNvPr id="48" name="Oval 47"/>
          <p:cNvSpPr/>
          <p:nvPr/>
        </p:nvSpPr>
        <p:spPr>
          <a:xfrm>
            <a:off x="10698480" y="505663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26496" y="5175504"/>
            <a:ext cx="182880" cy="228600"/>
          </a:xfrm>
          <a:prstGeom prst="rect">
            <a:avLst/>
          </a:prstGeom>
          <a:noFill/>
          <a:ln w="1524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63072" y="5221224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63072" y="5294376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45367" y="5221224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945367" y="5294376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为什么今天要谈开发模式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22529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" y="1344168"/>
            <a:ext cx="182880" cy="228600"/>
          </a:xfrm>
          <a:prstGeom prst="rect">
            <a:avLst/>
          </a:prstGeom>
          <a:noFill/>
          <a:ln w="1524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1" y="1389888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1" y="1463040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" y="1389888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" y="1463040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1298448"/>
            <a:ext cx="274320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过去常问</a:t>
            </a:r>
          </a:p>
        </p:txBody>
      </p:sp>
      <p:sp>
        <p:nvSpPr>
          <p:cNvPr id="16" name="Oval 15"/>
          <p:cNvSpPr/>
          <p:nvPr/>
        </p:nvSpPr>
        <p:spPr>
          <a:xfrm>
            <a:off x="6455664" y="122529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5" y="1389888"/>
            <a:ext cx="109728" cy="10972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6556248" y="1316736"/>
            <a:ext cx="118872" cy="128016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533388" y="1293876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6675120" y="1344168"/>
            <a:ext cx="91439" cy="100584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43699" y="1321308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6574536" y="1444752"/>
            <a:ext cx="100584" cy="9144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51675" y="1513332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675120" y="1444752"/>
            <a:ext cx="91439" cy="82296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743699" y="1504188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1298448"/>
            <a:ext cx="292608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现在更应关注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1938528"/>
            <a:ext cx="4279392" cy="54864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2057400"/>
            <a:ext cx="370332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能否更快写代码</a:t>
            </a:r>
          </a:p>
        </p:txBody>
      </p:sp>
      <p:sp>
        <p:nvSpPr>
          <p:cNvPr id="29" name="Chevron 28"/>
          <p:cNvSpPr/>
          <p:nvPr/>
        </p:nvSpPr>
        <p:spPr>
          <a:xfrm>
            <a:off x="5522976" y="2121408"/>
            <a:ext cx="274320" cy="182880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1938528"/>
            <a:ext cx="4937760" cy="54864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057400"/>
            <a:ext cx="4370832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如何形成正确结果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2743200"/>
            <a:ext cx="4279392" cy="54864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2862072"/>
            <a:ext cx="370332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谁负责完成任务</a:t>
            </a:r>
          </a:p>
        </p:txBody>
      </p:sp>
      <p:sp>
        <p:nvSpPr>
          <p:cNvPr id="34" name="Chevron 33"/>
          <p:cNvSpPr/>
          <p:nvPr/>
        </p:nvSpPr>
        <p:spPr>
          <a:xfrm>
            <a:off x="5522976" y="2926080"/>
            <a:ext cx="274320" cy="182880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46520" y="2743200"/>
            <a:ext cx="4937760" cy="54864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862072"/>
            <a:ext cx="4370832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谁约束并审查结果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547872"/>
            <a:ext cx="4279392" cy="54864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3666744"/>
            <a:ext cx="370332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何时交付功能</a:t>
            </a:r>
          </a:p>
        </p:txBody>
      </p:sp>
      <p:sp>
        <p:nvSpPr>
          <p:cNvPr id="39" name="Chevron 38"/>
          <p:cNvSpPr/>
          <p:nvPr/>
        </p:nvSpPr>
        <p:spPr>
          <a:xfrm>
            <a:off x="5522976" y="3730752"/>
            <a:ext cx="274320" cy="182880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46520" y="3547872"/>
            <a:ext cx="4937760" cy="54864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666744"/>
            <a:ext cx="4370832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如何持续验证价值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901184"/>
            <a:ext cx="10744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5093208"/>
            <a:ext cx="1024128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Agent 改变的不只是编码速度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本课程回答什么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5138928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98448"/>
            <a:ext cx="54864" cy="418795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1453895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1563624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1618487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0412" y="1650492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1453895"/>
            <a:ext cx="4279392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聚焦内容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2048255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1956815"/>
            <a:ext cx="45720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开发模式如何变化</a:t>
            </a:r>
          </a:p>
        </p:txBody>
      </p:sp>
      <p:sp>
        <p:nvSpPr>
          <p:cNvPr id="18" name="Oval 17"/>
          <p:cNvSpPr/>
          <p:nvPr/>
        </p:nvSpPr>
        <p:spPr>
          <a:xfrm>
            <a:off x="859536" y="2441448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3" y="2350008"/>
            <a:ext cx="45720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生命周期如何重组</a:t>
            </a:r>
          </a:p>
        </p:txBody>
      </p:sp>
      <p:sp>
        <p:nvSpPr>
          <p:cNvPr id="20" name="Oval 19"/>
          <p:cNvSpPr/>
          <p:nvPr/>
        </p:nvSpPr>
        <p:spPr>
          <a:xfrm>
            <a:off x="859536" y="2834639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3" y="2743199"/>
            <a:ext cx="45720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管理责任如何变化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" y="3227832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3136391"/>
            <a:ext cx="45720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价值风险如何平衡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1298448"/>
            <a:ext cx="5138928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1298448"/>
            <a:ext cx="54864" cy="41879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83096" y="1453895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6601968" y="1563624"/>
            <a:ext cx="210312" cy="228600"/>
          </a:xfrm>
          <a:prstGeom prst="hexagon">
            <a:avLst/>
          </a:prstGeom>
          <a:noFill/>
          <a:ln w="1651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1591055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1453895"/>
            <a:ext cx="4279392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本次不展开</a:t>
            </a:r>
          </a:p>
        </p:txBody>
      </p:sp>
      <p:sp>
        <p:nvSpPr>
          <p:cNvPr id="30" name="Oval 29"/>
          <p:cNvSpPr/>
          <p:nvPr/>
        </p:nvSpPr>
        <p:spPr>
          <a:xfrm>
            <a:off x="6528816" y="2048255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4264" y="1956815"/>
            <a:ext cx="45720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工具安装与命令</a:t>
            </a:r>
          </a:p>
        </p:txBody>
      </p:sp>
      <p:sp>
        <p:nvSpPr>
          <p:cNvPr id="32" name="Oval 31"/>
          <p:cNvSpPr/>
          <p:nvPr/>
        </p:nvSpPr>
        <p:spPr>
          <a:xfrm>
            <a:off x="6528816" y="2441448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4264" y="2350008"/>
            <a:ext cx="45720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团队导入方案</a:t>
            </a:r>
          </a:p>
        </p:txBody>
      </p:sp>
      <p:sp>
        <p:nvSpPr>
          <p:cNvPr id="34" name="Oval 33"/>
          <p:cNvSpPr/>
          <p:nvPr/>
        </p:nvSpPr>
        <p:spPr>
          <a:xfrm>
            <a:off x="6528816" y="2834639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84264" y="2743199"/>
            <a:ext cx="45720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产品选型比较</a:t>
            </a:r>
          </a:p>
        </p:txBody>
      </p:sp>
      <p:sp>
        <p:nvSpPr>
          <p:cNvPr id="36" name="Oval 35"/>
          <p:cNvSpPr/>
          <p:nvPr/>
        </p:nvSpPr>
        <p:spPr>
          <a:xfrm>
            <a:off x="6528816" y="3227832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84264" y="3136391"/>
            <a:ext cx="45720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现场实操训练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瀑布/V 模型：用阶段控制复杂度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模式演进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9" name="Oval 8"/>
          <p:cNvSpPr/>
          <p:nvPr/>
        </p:nvSpPr>
        <p:spPr>
          <a:xfrm>
            <a:off x="1161288" y="148132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98448" y="1572768"/>
            <a:ext cx="173736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325880" y="1645920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25880" y="1700784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25880" y="1755648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" y="2084831"/>
            <a:ext cx="1097280" cy="53035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03704"/>
            <a:ext cx="95097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需求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56816" y="2350008"/>
            <a:ext cx="822960" cy="0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evron 16"/>
          <p:cNvSpPr/>
          <p:nvPr/>
        </p:nvSpPr>
        <p:spPr>
          <a:xfrm>
            <a:off x="2578608" y="2240280"/>
            <a:ext cx="182880" cy="210312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82696" y="148132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92424" y="1591056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47288" y="164592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79291" y="1677924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62656" y="2084831"/>
            <a:ext cx="1097280" cy="53035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8" y="2203704"/>
            <a:ext cx="95097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设计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78224" y="2350008"/>
            <a:ext cx="822959" cy="0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evron 24"/>
          <p:cNvSpPr/>
          <p:nvPr/>
        </p:nvSpPr>
        <p:spPr>
          <a:xfrm>
            <a:off x="4700016" y="2240280"/>
            <a:ext cx="182880" cy="210312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04103" y="148132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68695" y="1645920"/>
            <a:ext cx="109728" cy="10972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5504688" y="1572768"/>
            <a:ext cx="118871" cy="128016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481827" y="1549908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5623559" y="1600200"/>
            <a:ext cx="91440" cy="100584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692139" y="1577340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>
            <a:off x="5522975" y="1700784"/>
            <a:ext cx="100584" cy="9144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500115" y="1769364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623559" y="1700784"/>
            <a:ext cx="91440" cy="82296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692139" y="1760220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84064" y="2084831"/>
            <a:ext cx="1097280" cy="53035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57216" y="2203704"/>
            <a:ext cx="95097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开发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99631" y="2350008"/>
            <a:ext cx="822961" cy="0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evron 38"/>
          <p:cNvSpPr/>
          <p:nvPr/>
        </p:nvSpPr>
        <p:spPr>
          <a:xfrm>
            <a:off x="6821423" y="2240280"/>
            <a:ext cx="182880" cy="210312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25511" y="148132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35239" y="1591056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7690103" y="1700784"/>
            <a:ext cx="36576" cy="45720"/>
          </a:xfrm>
          <a:prstGeom prst="line">
            <a:avLst/>
          </a:prstGeom>
          <a:ln w="2032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726679" y="1645920"/>
            <a:ext cx="82296" cy="100584"/>
          </a:xfrm>
          <a:prstGeom prst="line">
            <a:avLst/>
          </a:prstGeom>
          <a:ln w="2032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205471" y="2084831"/>
            <a:ext cx="1097280" cy="53035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78623" y="2203704"/>
            <a:ext cx="95097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测试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321040" y="2350008"/>
            <a:ext cx="822960" cy="0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hevron 46"/>
          <p:cNvSpPr/>
          <p:nvPr/>
        </p:nvSpPr>
        <p:spPr>
          <a:xfrm>
            <a:off x="8942832" y="2240280"/>
            <a:ext cx="182880" cy="210312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46919" y="148132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74936" y="1600200"/>
            <a:ext cx="182880" cy="228600"/>
          </a:xfrm>
          <a:prstGeom prst="rect">
            <a:avLst/>
          </a:prstGeom>
          <a:noFill/>
          <a:ln w="1524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11511" y="1645920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11511" y="1719072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893807" y="1645920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93807" y="1719072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326880" y="2084831"/>
            <a:ext cx="1097280" cy="53035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00032" y="2203704"/>
            <a:ext cx="95097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交付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89888" y="3035808"/>
            <a:ext cx="4187952" cy="1078992"/>
          </a:xfrm>
          <a:prstGeom prst="line">
            <a:avLst/>
          </a:prstGeom>
          <a:ln w="12700">
            <a:solidFill>
              <a:srgbClr val="68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77840" y="3035808"/>
            <a:ext cx="4297680" cy="1078992"/>
          </a:xfrm>
          <a:prstGeom prst="line">
            <a:avLst/>
          </a:prstGeom>
          <a:ln w="12700">
            <a:solidFill>
              <a:srgbClr val="68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22960" y="4553712"/>
            <a:ext cx="2148840" cy="3657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7824" y="4590288"/>
            <a:ext cx="203911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需求对应验收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21040" y="4553712"/>
            <a:ext cx="2148840" cy="3657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75904" y="4590288"/>
            <a:ext cx="203911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设计对应测试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2960" y="5504688"/>
            <a:ext cx="480974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" y="5504688"/>
            <a:ext cx="54864" cy="896112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7552" y="5650992"/>
            <a:ext cx="4535424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87280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" y="5952744"/>
            <a:ext cx="4535424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范围清晰 · 责任可追踪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89904" y="5504688"/>
            <a:ext cx="480974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89904" y="5504688"/>
            <a:ext cx="54864" cy="89611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54496" y="5650992"/>
            <a:ext cx="4535424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87280"/>
                </a:solidFill>
                <a:latin typeface="Microsoft YaHei"/>
                <a:ea typeface="Microsoft YaHei"/>
              </a:rPr>
              <a:t>限制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54496" y="5952744"/>
            <a:ext cx="4535424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反馈较晚 · 变更成本高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敏捷与 DevOps：用反馈缩短周期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模式演进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9" name="Oval 8"/>
          <p:cNvSpPr/>
          <p:nvPr/>
        </p:nvSpPr>
        <p:spPr>
          <a:xfrm>
            <a:off x="5504688" y="1316736"/>
            <a:ext cx="694944" cy="694944"/>
          </a:xfrm>
          <a:prstGeom prst="ellipse">
            <a:avLst/>
          </a:prstGeom>
          <a:solidFill>
            <a:srgbClr val="EEF5FB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41264" y="1517904"/>
            <a:ext cx="62179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1" name="Oval 10"/>
          <p:cNvSpPr/>
          <p:nvPr/>
        </p:nvSpPr>
        <p:spPr>
          <a:xfrm>
            <a:off x="7543800" y="2221992"/>
            <a:ext cx="694944" cy="694944"/>
          </a:xfrm>
          <a:prstGeom prst="ellipse">
            <a:avLst/>
          </a:prstGeom>
          <a:solidFill>
            <a:srgbClr val="EEF5FB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0375" y="2423160"/>
            <a:ext cx="62179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构建</a:t>
            </a:r>
          </a:p>
        </p:txBody>
      </p:sp>
      <p:sp>
        <p:nvSpPr>
          <p:cNvPr id="13" name="Oval 12"/>
          <p:cNvSpPr/>
          <p:nvPr/>
        </p:nvSpPr>
        <p:spPr>
          <a:xfrm>
            <a:off x="6931152" y="4315968"/>
            <a:ext cx="694944" cy="694944"/>
          </a:xfrm>
          <a:prstGeom prst="ellipse">
            <a:avLst/>
          </a:prstGeom>
          <a:solidFill>
            <a:srgbClr val="EEF5FB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4517136"/>
            <a:ext cx="62179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15" name="Oval 14"/>
          <p:cNvSpPr/>
          <p:nvPr/>
        </p:nvSpPr>
        <p:spPr>
          <a:xfrm>
            <a:off x="3968496" y="4315968"/>
            <a:ext cx="694944" cy="694944"/>
          </a:xfrm>
          <a:prstGeom prst="ellipse">
            <a:avLst/>
          </a:prstGeom>
          <a:solidFill>
            <a:srgbClr val="EEF5FB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4517136"/>
            <a:ext cx="62179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发布</a:t>
            </a:r>
          </a:p>
        </p:txBody>
      </p:sp>
      <p:sp>
        <p:nvSpPr>
          <p:cNvPr id="17" name="Oval 16"/>
          <p:cNvSpPr/>
          <p:nvPr/>
        </p:nvSpPr>
        <p:spPr>
          <a:xfrm>
            <a:off x="3364992" y="2221992"/>
            <a:ext cx="694944" cy="694944"/>
          </a:xfrm>
          <a:prstGeom prst="ellipse">
            <a:avLst/>
          </a:prstGeom>
          <a:solidFill>
            <a:srgbClr val="E9F7F0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423160"/>
            <a:ext cx="62179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反馈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99632" y="1664208"/>
            <a:ext cx="1335024" cy="667512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278624" y="2907792"/>
            <a:ext cx="448055" cy="1307592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681728" y="4663440"/>
            <a:ext cx="2221992" cy="0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602736" y="2907792"/>
            <a:ext cx="356616" cy="1316736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968496" y="1673352"/>
            <a:ext cx="1499616" cy="548640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1426464"/>
            <a:ext cx="221284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1426464"/>
            <a:ext cx="54864" cy="321868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3816" y="158191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941832" y="1709928"/>
            <a:ext cx="82296" cy="13716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4128" y="1709928"/>
            <a:ext cx="82296" cy="13716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1832" y="1847088"/>
            <a:ext cx="164592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92124" y="1677924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9828" y="1815084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4420" y="1815084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3312" y="1581912"/>
            <a:ext cx="1353312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核心变化</a:t>
            </a:r>
          </a:p>
        </p:txBody>
      </p:sp>
      <p:sp>
        <p:nvSpPr>
          <p:cNvPr id="34" name="Oval 33"/>
          <p:cNvSpPr/>
          <p:nvPr/>
        </p:nvSpPr>
        <p:spPr>
          <a:xfrm>
            <a:off x="859536" y="2176272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3" y="2084832"/>
            <a:ext cx="1645919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小批次交付</a:t>
            </a:r>
          </a:p>
        </p:txBody>
      </p:sp>
      <p:sp>
        <p:nvSpPr>
          <p:cNvPr id="36" name="Oval 35"/>
          <p:cNvSpPr/>
          <p:nvPr/>
        </p:nvSpPr>
        <p:spPr>
          <a:xfrm>
            <a:off x="859536" y="2569464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3" y="2478024"/>
            <a:ext cx="1645919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持续测试验证</a:t>
            </a:r>
          </a:p>
        </p:txBody>
      </p:sp>
      <p:sp>
        <p:nvSpPr>
          <p:cNvPr id="38" name="Oval 37"/>
          <p:cNvSpPr/>
          <p:nvPr/>
        </p:nvSpPr>
        <p:spPr>
          <a:xfrm>
            <a:off x="859536" y="2962656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3" y="2871216"/>
            <a:ext cx="1645919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运行反馈回流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1627632"/>
            <a:ext cx="2487168" cy="118872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8" y="1837943"/>
            <a:ext cx="199339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A36A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8" y="2212848"/>
            <a:ext cx="1993392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更快验证价值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3273552"/>
            <a:ext cx="2487168" cy="1188720"/>
          </a:xfrm>
          <a:prstGeom prst="roundRect">
            <a:avLst/>
          </a:prstGeom>
          <a:solidFill>
            <a:srgbClr val="FEF3E8"/>
          </a:solidFill>
          <a:ln w="12700">
            <a:solidFill>
              <a:srgbClr val="FE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79408" y="3483864"/>
            <a:ext cx="199339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  <a:ea typeface="Microsoft YaHei"/>
              </a:rPr>
              <a:t>挑战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79408" y="3858768"/>
            <a:ext cx="201168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持续保持质量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Agent 时代继承什么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模式演进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21608" y="4224528"/>
            <a:ext cx="4736592" cy="65836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21608" y="4224528"/>
            <a:ext cx="73152" cy="65836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4407408"/>
            <a:ext cx="427939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瀑布 / V：基线、审查与责任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2112" y="3401568"/>
            <a:ext cx="5815584" cy="658368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3401568"/>
            <a:ext cx="73152" cy="65836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3584448"/>
            <a:ext cx="5358384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敏捷 / DevOps：迭代与持续验证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33472" y="2578608"/>
            <a:ext cx="6912864" cy="658368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33472" y="2578608"/>
            <a:ext cx="73152" cy="65836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9504" y="2761488"/>
            <a:ext cx="6455664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AI Agent：任务委派与密集反馈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" y="436168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1288" y="4453127"/>
            <a:ext cx="173736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188720" y="4526279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8720" y="4581144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88720" y="4636007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24128" y="353872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1152144" y="3666744"/>
            <a:ext cx="82296" cy="13716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34440" y="3666744"/>
            <a:ext cx="82296" cy="13716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2144" y="3803904"/>
            <a:ext cx="164592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202436" y="3634739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0140" y="3771900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84732" y="3771900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" y="271576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88720" y="2880360"/>
            <a:ext cx="109728" cy="10972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1124712" y="2807208"/>
            <a:ext cx="118872" cy="128016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101852" y="2784348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1243584" y="2834640"/>
            <a:ext cx="91440" cy="100584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312164" y="2811780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1143000" y="2935224"/>
            <a:ext cx="100584" cy="9144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120140" y="3003804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243584" y="2935224"/>
            <a:ext cx="91440" cy="82296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312164" y="2994660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82896" y="5367528"/>
            <a:ext cx="2377440" cy="3657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59" y="5404104"/>
            <a:ext cx="226771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可靠交付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93392" y="1417320"/>
            <a:ext cx="8183879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76272" y="1563624"/>
            <a:ext cx="7827264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不是替代，而是重组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什么是本课程所说的 AI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Agent 定义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4160520"/>
            <a:ext cx="2167128" cy="107899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" y="4160520"/>
            <a:ext cx="64008" cy="107899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343400"/>
            <a:ext cx="1828800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问答辅助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745736"/>
            <a:ext cx="18288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回答问题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35224" y="4133087"/>
            <a:ext cx="530352" cy="594361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11296" y="3584448"/>
            <a:ext cx="2167128" cy="107899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1296" y="3584448"/>
            <a:ext cx="64008" cy="107899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3767328"/>
            <a:ext cx="1828800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内容生成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169663"/>
            <a:ext cx="18288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生成片段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687568" y="3557016"/>
            <a:ext cx="530352" cy="59436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63640" y="3008376"/>
            <a:ext cx="2167128" cy="107899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008376"/>
            <a:ext cx="64008" cy="107899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191256"/>
            <a:ext cx="1828800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工具执行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93592"/>
            <a:ext cx="18288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读取与检查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439912" y="2980944"/>
            <a:ext cx="530351" cy="59436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15984" y="2432303"/>
            <a:ext cx="2167128" cy="1078992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15984" y="2432303"/>
            <a:ext cx="64008" cy="1078992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3" y="2615184"/>
            <a:ext cx="1828800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Agent 协作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3" y="3017520"/>
            <a:ext cx="18288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修改并验证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98448" y="5586984"/>
            <a:ext cx="9582912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99616" y="5751576"/>
            <a:ext cx="9180576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上下文  +  授权  +  执行  +  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人与 Agent 的职责边界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Agent 定义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80160"/>
            <a:ext cx="5065776" cy="431596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80160"/>
            <a:ext cx="54864" cy="431596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1435607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" y="1600199"/>
            <a:ext cx="109728" cy="10972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914400" y="1527048"/>
            <a:ext cx="118871" cy="128015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1540" y="1504188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033271" y="1554479"/>
            <a:ext cx="91441" cy="100584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101852" y="1531619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932688" y="1655063"/>
            <a:ext cx="100583" cy="91441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09828" y="1723644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033271" y="1655063"/>
            <a:ext cx="91441" cy="82297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101852" y="1714500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1435607"/>
            <a:ext cx="4206240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Agent 可辅助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" y="2029968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1938528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资料整理</a:t>
            </a:r>
          </a:p>
        </p:txBody>
      </p:sp>
      <p:sp>
        <p:nvSpPr>
          <p:cNvPr id="24" name="Oval 23"/>
          <p:cNvSpPr/>
          <p:nvPr/>
        </p:nvSpPr>
        <p:spPr>
          <a:xfrm>
            <a:off x="859536" y="2423160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3" y="2331720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方案比较</a:t>
            </a:r>
          </a:p>
        </p:txBody>
      </p:sp>
      <p:sp>
        <p:nvSpPr>
          <p:cNvPr id="26" name="Oval 25"/>
          <p:cNvSpPr/>
          <p:nvPr/>
        </p:nvSpPr>
        <p:spPr>
          <a:xfrm>
            <a:off x="859536" y="2816352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" y="2724912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任务执行</a:t>
            </a:r>
          </a:p>
        </p:txBody>
      </p:sp>
      <p:sp>
        <p:nvSpPr>
          <p:cNvPr id="28" name="Oval 27"/>
          <p:cNvSpPr/>
          <p:nvPr/>
        </p:nvSpPr>
        <p:spPr>
          <a:xfrm>
            <a:off x="859536" y="3209544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3" y="3118104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测试运行</a:t>
            </a:r>
          </a:p>
        </p:txBody>
      </p:sp>
      <p:sp>
        <p:nvSpPr>
          <p:cNvPr id="30" name="Oval 29"/>
          <p:cNvSpPr/>
          <p:nvPr/>
        </p:nvSpPr>
        <p:spPr>
          <a:xfrm>
            <a:off x="859536" y="3602736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3" y="3511296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结果汇报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1280160"/>
            <a:ext cx="5065776" cy="4315968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1280160"/>
            <a:ext cx="54864" cy="431596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01968" y="1435607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9983" y="1554479"/>
            <a:ext cx="182880" cy="228600"/>
          </a:xfrm>
          <a:prstGeom prst="rect">
            <a:avLst/>
          </a:prstGeom>
          <a:noFill/>
          <a:ln w="1524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59" y="1600199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59" y="1673351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48856" y="1600199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48856" y="1673351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41464" y="1435607"/>
            <a:ext cx="4206240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人必须负责</a:t>
            </a:r>
          </a:p>
        </p:txBody>
      </p:sp>
      <p:sp>
        <p:nvSpPr>
          <p:cNvPr id="41" name="Oval 40"/>
          <p:cNvSpPr/>
          <p:nvPr/>
        </p:nvSpPr>
        <p:spPr>
          <a:xfrm>
            <a:off x="6647688" y="2029968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03136" y="1938528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业务目标</a:t>
            </a:r>
          </a:p>
        </p:txBody>
      </p:sp>
      <p:sp>
        <p:nvSpPr>
          <p:cNvPr id="43" name="Oval 42"/>
          <p:cNvSpPr/>
          <p:nvPr/>
        </p:nvSpPr>
        <p:spPr>
          <a:xfrm>
            <a:off x="6647688" y="2423160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03136" y="2331720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范围取舍</a:t>
            </a:r>
          </a:p>
        </p:txBody>
      </p:sp>
      <p:sp>
        <p:nvSpPr>
          <p:cNvPr id="45" name="Oval 44"/>
          <p:cNvSpPr/>
          <p:nvPr/>
        </p:nvSpPr>
        <p:spPr>
          <a:xfrm>
            <a:off x="6647688" y="2816352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03136" y="2724912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关键批准</a:t>
            </a:r>
          </a:p>
        </p:txBody>
      </p:sp>
      <p:sp>
        <p:nvSpPr>
          <p:cNvPr id="47" name="Oval 46"/>
          <p:cNvSpPr/>
          <p:nvPr/>
        </p:nvSpPr>
        <p:spPr>
          <a:xfrm>
            <a:off x="6647688" y="3209544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03136" y="3118104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证据审查</a:t>
            </a:r>
          </a:p>
        </p:txBody>
      </p:sp>
      <p:sp>
        <p:nvSpPr>
          <p:cNvPr id="49" name="Oval 48"/>
          <p:cNvSpPr/>
          <p:nvPr/>
        </p:nvSpPr>
        <p:spPr>
          <a:xfrm>
            <a:off x="6647688" y="3602736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03136" y="3511296"/>
            <a:ext cx="44988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最终责任</a:t>
            </a:r>
          </a:p>
        </p:txBody>
      </p:sp>
      <p:sp>
        <p:nvSpPr>
          <p:cNvPr id="51" name="Chevron 50"/>
          <p:cNvSpPr/>
          <p:nvPr/>
        </p:nvSpPr>
        <p:spPr>
          <a:xfrm>
            <a:off x="5925312" y="3282696"/>
            <a:ext cx="320040" cy="274320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9663" y="5870448"/>
            <a:ext cx="3931920" cy="3200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责任不能空缺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已经出现的实践框架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Agent 定义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3310128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64208"/>
            <a:ext cx="2871216" cy="3017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Superpowers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231136"/>
            <a:ext cx="1024128" cy="3657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267712"/>
            <a:ext cx="9144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澄清</a:t>
            </a:r>
          </a:p>
        </p:txBody>
      </p:sp>
      <p:sp>
        <p:nvSpPr>
          <p:cNvPr id="13" name="Chevron 12"/>
          <p:cNvSpPr/>
          <p:nvPr/>
        </p:nvSpPr>
        <p:spPr>
          <a:xfrm>
            <a:off x="2103120" y="2322576"/>
            <a:ext cx="155448" cy="164592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4" y="2276856"/>
            <a:ext cx="1170432" cy="2286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291840"/>
            <a:ext cx="2688336" cy="3017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测试  -&gt;  审查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968496"/>
            <a:ext cx="2834640" cy="2743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70248"/>
            <a:ext cx="2834640" cy="3749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用流程约束执行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408176"/>
            <a:ext cx="3310128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664208"/>
            <a:ext cx="2871216" cy="3017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Spec Kit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2231136"/>
            <a:ext cx="1024128" cy="36576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3" y="2267712"/>
            <a:ext cx="9144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A36A"/>
                </a:solidFill>
                <a:latin typeface="Microsoft YaHei"/>
                <a:ea typeface="Microsoft YaHei"/>
              </a:rPr>
              <a:t>规格</a:t>
            </a:r>
          </a:p>
        </p:txBody>
      </p:sp>
      <p:sp>
        <p:nvSpPr>
          <p:cNvPr id="22" name="Chevron 21"/>
          <p:cNvSpPr/>
          <p:nvPr/>
        </p:nvSpPr>
        <p:spPr>
          <a:xfrm>
            <a:off x="5788152" y="2322576"/>
            <a:ext cx="155448" cy="164592"/>
          </a:xfrm>
          <a:prstGeom prst="chevron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7336" y="2276856"/>
            <a:ext cx="1170432" cy="2286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3291840"/>
            <a:ext cx="2688336" cy="3017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任务  -&gt;  实现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968496"/>
            <a:ext cx="2834640" cy="27432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1144" y="4270248"/>
            <a:ext cx="2834640" cy="3749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规格驱动实现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1408176"/>
            <a:ext cx="3310128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2" y="1664208"/>
            <a:ext cx="2871216" cy="3017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OpenSpec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2752" y="2231136"/>
            <a:ext cx="1024128" cy="3657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2267712"/>
            <a:ext cx="91440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提案</a:t>
            </a:r>
          </a:p>
        </p:txBody>
      </p:sp>
      <p:sp>
        <p:nvSpPr>
          <p:cNvPr id="31" name="Chevron 30"/>
          <p:cNvSpPr/>
          <p:nvPr/>
        </p:nvSpPr>
        <p:spPr>
          <a:xfrm>
            <a:off x="9473184" y="2322576"/>
            <a:ext cx="155448" cy="164592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8" y="2276856"/>
            <a:ext cx="1170432" cy="2286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规格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91840"/>
            <a:ext cx="2688336" cy="3017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设计  -&gt;  任务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2" y="3968496"/>
            <a:ext cx="2834640" cy="2743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6176" y="4270248"/>
            <a:ext cx="2834640" cy="3749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变更保持可追踪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75104" y="5623560"/>
            <a:ext cx="8229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21408" y="5733288"/>
            <a:ext cx="7936992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从即时生成，走向工程协作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6199632"/>
            <a:ext cx="7680960" cy="1828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公开仓库：obra/superpowers · github/spec-kit · Fission-AI/OpenSpec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全生命周期：变化发生在哪里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生命周期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20574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216712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39" y="2221992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7844" y="2253996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构思需求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950976" cy="36576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374136"/>
            <a:ext cx="8412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A36A"/>
                </a:solidFill>
                <a:latin typeface="Microsoft YaHei"/>
                <a:ea typeface="Microsoft YaHei"/>
              </a:rPr>
              <a:t>+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73352" y="2331720"/>
            <a:ext cx="365760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evron 16"/>
          <p:cNvSpPr/>
          <p:nvPr/>
        </p:nvSpPr>
        <p:spPr>
          <a:xfrm>
            <a:off x="1920240" y="2240280"/>
            <a:ext cx="128016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68879" y="20574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39" y="2148840"/>
            <a:ext cx="173736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633472" y="2221992"/>
            <a:ext cx="109727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33472" y="2276856"/>
            <a:ext cx="109727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33472" y="2331720"/>
            <a:ext cx="109727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76272" y="2651760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规划设计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67712" y="3337560"/>
            <a:ext cx="950976" cy="36576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3374136"/>
            <a:ext cx="8412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A36A"/>
                </a:solidFill>
                <a:latin typeface="Microsoft YaHei"/>
                <a:ea typeface="Microsoft YaHei"/>
              </a:rPr>
              <a:t>+ Agent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00984" y="2331720"/>
            <a:ext cx="365760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3547872" y="2240280"/>
            <a:ext cx="128016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96511" y="20574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61103" y="2221992"/>
            <a:ext cx="109728" cy="10972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4197096" y="2148840"/>
            <a:ext cx="118872" cy="128016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174235" y="2125980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4315968" y="2176272"/>
            <a:ext cx="91439" cy="100584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384547" y="2153412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4215383" y="2276856"/>
            <a:ext cx="100585" cy="9144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192523" y="2345436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315968" y="2276856"/>
            <a:ext cx="91439" cy="82296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384547" y="2336292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03903" y="2651760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编码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95344" y="3337560"/>
            <a:ext cx="950976" cy="36576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0207" y="3374136"/>
            <a:ext cx="8412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A36A"/>
                </a:solidFill>
                <a:latin typeface="Microsoft YaHei"/>
                <a:ea typeface="Microsoft YaHei"/>
              </a:rPr>
              <a:t>+ Agent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928616" y="2331720"/>
            <a:ext cx="365759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evron 41"/>
          <p:cNvSpPr/>
          <p:nvPr/>
        </p:nvSpPr>
        <p:spPr>
          <a:xfrm>
            <a:off x="5175504" y="2240280"/>
            <a:ext cx="128016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24144" y="20574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33872" y="216712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888736" y="2276856"/>
            <a:ext cx="36576" cy="45720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925312" y="2221992"/>
            <a:ext cx="82295" cy="100584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31536" y="2651760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22976" y="3337560"/>
            <a:ext cx="950976" cy="36576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0" y="3374136"/>
            <a:ext cx="8412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A36A"/>
                </a:solidFill>
                <a:latin typeface="Microsoft YaHei"/>
                <a:ea typeface="Microsoft YaHei"/>
              </a:rPr>
              <a:t>+ Agent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56248" y="2331720"/>
            <a:ext cx="365760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hevron 50"/>
          <p:cNvSpPr/>
          <p:nvPr/>
        </p:nvSpPr>
        <p:spPr>
          <a:xfrm>
            <a:off x="6803136" y="2240280"/>
            <a:ext cx="128016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351776" y="20574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79792" y="2176272"/>
            <a:ext cx="182880" cy="228600"/>
          </a:xfrm>
          <a:prstGeom prst="rect">
            <a:avLst/>
          </a:prstGeom>
          <a:noFill/>
          <a:ln w="1524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16368" y="2221992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16368" y="2295144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98664" y="2221992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98664" y="2295144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9168" y="2651760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发布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50608" y="3337560"/>
            <a:ext cx="950976" cy="36576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05472" y="3374136"/>
            <a:ext cx="8412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A36A"/>
                </a:solidFill>
                <a:latin typeface="Microsoft YaHei"/>
                <a:ea typeface="Microsoft YaHei"/>
              </a:rPr>
              <a:t>+ Agent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183879" y="2331720"/>
            <a:ext cx="365761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hevron 61"/>
          <p:cNvSpPr/>
          <p:nvPr/>
        </p:nvSpPr>
        <p:spPr>
          <a:xfrm>
            <a:off x="8430768" y="2240280"/>
            <a:ext cx="128016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979408" y="20574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Hexagon 63"/>
          <p:cNvSpPr/>
          <p:nvPr/>
        </p:nvSpPr>
        <p:spPr>
          <a:xfrm>
            <a:off x="9098280" y="2167128"/>
            <a:ext cx="210312" cy="228600"/>
          </a:xfrm>
          <a:prstGeom prst="hexagon">
            <a:avLst/>
          </a:prstGeom>
          <a:noFill/>
          <a:ln w="1651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53144" y="2194560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64A5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2651760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运维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78240" y="3337560"/>
            <a:ext cx="950976" cy="36576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33104" y="3374136"/>
            <a:ext cx="8412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A36A"/>
                </a:solidFill>
                <a:latin typeface="Microsoft YaHei"/>
                <a:ea typeface="Microsoft YaHei"/>
              </a:rPr>
              <a:t>+ Agent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811512" y="2331720"/>
            <a:ext cx="365760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hevron 69"/>
          <p:cNvSpPr/>
          <p:nvPr/>
        </p:nvSpPr>
        <p:spPr>
          <a:xfrm>
            <a:off x="10058400" y="2240280"/>
            <a:ext cx="128016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607040" y="20574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H="1">
            <a:off x="10735056" y="2185416"/>
            <a:ext cx="82296" cy="13716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817352" y="2185416"/>
            <a:ext cx="82296" cy="13716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735056" y="2322576"/>
            <a:ext cx="164592" cy="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0785348" y="2153412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703052" y="2290572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67644" y="2290572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14432" y="2651760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405872" y="3337560"/>
            <a:ext cx="950976" cy="365760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460736" y="3374136"/>
            <a:ext cx="84124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A36A"/>
                </a:solidFill>
                <a:latin typeface="Microsoft YaHei"/>
                <a:ea typeface="Microsoft YaHei"/>
              </a:rPr>
              <a:t>+ Agent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901952" y="4818888"/>
            <a:ext cx="8412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0" y="5038344"/>
            <a:ext cx="8010144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Agent 参与的不只是编码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构思与需求：从记录到辅助澄清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生命周期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426464"/>
            <a:ext cx="325526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426464"/>
            <a:ext cx="54864" cy="35661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8191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1673352"/>
            <a:ext cx="173736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87552" y="1746504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7552" y="1801368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7552" y="1856231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62456" y="1581912"/>
            <a:ext cx="2395728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传统方式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2176272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2084832"/>
            <a:ext cx="26883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会议访谈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2569464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2478024"/>
            <a:ext cx="26883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人工归纳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2962656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2871216"/>
            <a:ext cx="26883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文档评审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1426464"/>
            <a:ext cx="325526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2544" y="1426464"/>
            <a:ext cx="54864" cy="35661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07992" y="158191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72583" y="1746504"/>
            <a:ext cx="109728" cy="10972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4608576" y="1673352"/>
            <a:ext cx="118872" cy="128016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585716" y="1650492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4727448" y="1700784"/>
            <a:ext cx="91440" cy="100584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796027" y="1677924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4626864" y="1801368"/>
            <a:ext cx="100584" cy="91439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604003" y="1869948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727448" y="1801368"/>
            <a:ext cx="91440" cy="82296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796027" y="1860804"/>
            <a:ext cx="45720" cy="45720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7488" y="1581912"/>
            <a:ext cx="2395728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Agent 可辅助</a:t>
            </a:r>
          </a:p>
        </p:txBody>
      </p:sp>
      <p:sp>
        <p:nvSpPr>
          <p:cNvPr id="36" name="Oval 35"/>
          <p:cNvSpPr/>
          <p:nvPr/>
        </p:nvSpPr>
        <p:spPr>
          <a:xfrm>
            <a:off x="4553712" y="2176272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59" y="2084832"/>
            <a:ext cx="26883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连续追问</a:t>
            </a:r>
          </a:p>
        </p:txBody>
      </p:sp>
      <p:sp>
        <p:nvSpPr>
          <p:cNvPr id="38" name="Oval 37"/>
          <p:cNvSpPr/>
          <p:nvPr/>
        </p:nvSpPr>
        <p:spPr>
          <a:xfrm>
            <a:off x="4553712" y="2569464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59" y="2478024"/>
            <a:ext cx="26883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汇总分歧</a:t>
            </a:r>
          </a:p>
        </p:txBody>
      </p:sp>
      <p:sp>
        <p:nvSpPr>
          <p:cNvPr id="40" name="Oval 39"/>
          <p:cNvSpPr/>
          <p:nvPr/>
        </p:nvSpPr>
        <p:spPr>
          <a:xfrm>
            <a:off x="4553712" y="2962656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59" y="2871216"/>
            <a:ext cx="26883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检查遗漏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37576" y="1426464"/>
            <a:ext cx="325526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37576" y="1426464"/>
            <a:ext cx="54864" cy="35661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93024" y="158191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exagon 44"/>
          <p:cNvSpPr/>
          <p:nvPr/>
        </p:nvSpPr>
        <p:spPr>
          <a:xfrm>
            <a:off x="8311896" y="1691640"/>
            <a:ext cx="210312" cy="228600"/>
          </a:xfrm>
          <a:prstGeom prst="hexagon">
            <a:avLst/>
          </a:prstGeom>
          <a:noFill/>
          <a:ln w="1651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1719072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1581912"/>
            <a:ext cx="2395728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管理关注</a:t>
            </a:r>
          </a:p>
        </p:txBody>
      </p:sp>
      <p:sp>
        <p:nvSpPr>
          <p:cNvPr id="48" name="Oval 47"/>
          <p:cNvSpPr/>
          <p:nvPr/>
        </p:nvSpPr>
        <p:spPr>
          <a:xfrm>
            <a:off x="8238744" y="2176272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4192" y="2084832"/>
            <a:ext cx="26883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目标确认</a:t>
            </a:r>
          </a:p>
        </p:txBody>
      </p:sp>
      <p:sp>
        <p:nvSpPr>
          <p:cNvPr id="50" name="Oval 49"/>
          <p:cNvSpPr/>
          <p:nvPr/>
        </p:nvSpPr>
        <p:spPr>
          <a:xfrm>
            <a:off x="8238744" y="2569464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94192" y="2478024"/>
            <a:ext cx="26883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范围取舍</a:t>
            </a:r>
          </a:p>
        </p:txBody>
      </p:sp>
      <p:sp>
        <p:nvSpPr>
          <p:cNvPr id="52" name="Oval 51"/>
          <p:cNvSpPr/>
          <p:nvPr/>
        </p:nvSpPr>
        <p:spPr>
          <a:xfrm>
            <a:off x="8238744" y="2962656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94192" y="2871216"/>
            <a:ext cx="26883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假设标识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65376" y="5431536"/>
            <a:ext cx="84764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48256" y="5596128"/>
            <a:ext cx="8101583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澄清可加速，取舍仍在人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规划与设计：从交接到上下文协作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生命周期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47088"/>
            <a:ext cx="2249424" cy="12070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84831"/>
            <a:ext cx="195681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42032"/>
            <a:ext cx="1956816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分层交接</a:t>
            </a:r>
          </a:p>
        </p:txBody>
      </p:sp>
      <p:sp>
        <p:nvSpPr>
          <p:cNvPr id="12" name="Chevron 11"/>
          <p:cNvSpPr/>
          <p:nvPr/>
        </p:nvSpPr>
        <p:spPr>
          <a:xfrm>
            <a:off x="3127248" y="2331720"/>
            <a:ext cx="228600" cy="21945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39" y="1847088"/>
            <a:ext cx="2249424" cy="12070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2084831"/>
            <a:ext cx="195681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542032"/>
            <a:ext cx="1956816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检索约束</a:t>
            </a:r>
          </a:p>
        </p:txBody>
      </p:sp>
      <p:sp>
        <p:nvSpPr>
          <p:cNvPr id="16" name="Chevron 15"/>
          <p:cNvSpPr/>
          <p:nvPr/>
        </p:nvSpPr>
        <p:spPr>
          <a:xfrm>
            <a:off x="5916168" y="2331720"/>
            <a:ext cx="228600" cy="21945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59" y="1847088"/>
            <a:ext cx="2249424" cy="12070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084831"/>
            <a:ext cx="195681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542032"/>
            <a:ext cx="1956816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核对一致</a:t>
            </a:r>
          </a:p>
        </p:txBody>
      </p:sp>
      <p:sp>
        <p:nvSpPr>
          <p:cNvPr id="20" name="Chevron 19"/>
          <p:cNvSpPr/>
          <p:nvPr/>
        </p:nvSpPr>
        <p:spPr>
          <a:xfrm>
            <a:off x="8705088" y="2331720"/>
            <a:ext cx="228600" cy="21945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847088"/>
            <a:ext cx="2249424" cy="1207008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2084831"/>
            <a:ext cx="195681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评审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542032"/>
            <a:ext cx="1956816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批准承诺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05072"/>
            <a:ext cx="325526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005072"/>
            <a:ext cx="54864" cy="896112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151376"/>
            <a:ext cx="2980944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87280"/>
                </a:solidFill>
                <a:latin typeface="Microsoft YaHei"/>
                <a:ea typeface="Microsoft YaHei"/>
              </a:rPr>
              <a:t>架构承诺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453128"/>
            <a:ext cx="2980944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由人批准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4005072"/>
            <a:ext cx="325526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53128" y="4005072"/>
            <a:ext cx="54864" cy="89611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151376"/>
            <a:ext cx="2980944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87280"/>
                </a:solidFill>
                <a:latin typeface="Microsoft YaHei"/>
                <a:ea typeface="Microsoft YaHei"/>
              </a:rPr>
              <a:t>成本影响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453128"/>
            <a:ext cx="2980944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由人判断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4005072"/>
            <a:ext cx="325526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4005072"/>
            <a:ext cx="54864" cy="89611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4151376"/>
            <a:ext cx="2980944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87280"/>
                </a:solidFill>
                <a:latin typeface="Microsoft YaHei"/>
                <a:ea typeface="Microsoft YaHei"/>
              </a:rPr>
              <a:t>安全边界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4453128"/>
            <a:ext cx="2980944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由人负责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38144" y="5669280"/>
            <a:ext cx="5303520" cy="3200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方案可推演，承诺需审批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编码与测试：从执行到受控委派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生命周期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1508760"/>
            <a:ext cx="713232" cy="71323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9824" y="1709928"/>
            <a:ext cx="603504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读取</a:t>
            </a:r>
          </a:p>
        </p:txBody>
      </p:sp>
      <p:sp>
        <p:nvSpPr>
          <p:cNvPr id="11" name="Oval 10"/>
          <p:cNvSpPr/>
          <p:nvPr/>
        </p:nvSpPr>
        <p:spPr>
          <a:xfrm>
            <a:off x="7562088" y="2377440"/>
            <a:ext cx="713232" cy="71323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2578608"/>
            <a:ext cx="603504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修改</a:t>
            </a:r>
          </a:p>
        </p:txBody>
      </p:sp>
      <p:sp>
        <p:nvSpPr>
          <p:cNvPr id="13" name="Oval 12"/>
          <p:cNvSpPr/>
          <p:nvPr/>
        </p:nvSpPr>
        <p:spPr>
          <a:xfrm>
            <a:off x="6812280" y="4160520"/>
            <a:ext cx="713232" cy="713232"/>
          </a:xfrm>
          <a:prstGeom prst="ellipse">
            <a:avLst/>
          </a:prstGeom>
          <a:solidFill>
            <a:srgbClr val="E9F7F0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4361688"/>
            <a:ext cx="603504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15" name="Oval 14"/>
          <p:cNvSpPr/>
          <p:nvPr/>
        </p:nvSpPr>
        <p:spPr>
          <a:xfrm>
            <a:off x="3977639" y="4160520"/>
            <a:ext cx="713232" cy="713232"/>
          </a:xfrm>
          <a:prstGeom prst="ellipse">
            <a:avLst/>
          </a:prstGeom>
          <a:solidFill>
            <a:srgbClr val="E9F7F0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2503" y="4361688"/>
            <a:ext cx="603504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报告</a:t>
            </a:r>
          </a:p>
        </p:txBody>
      </p:sp>
      <p:sp>
        <p:nvSpPr>
          <p:cNvPr id="17" name="Oval 16"/>
          <p:cNvSpPr/>
          <p:nvPr/>
        </p:nvSpPr>
        <p:spPr>
          <a:xfrm>
            <a:off x="3319272" y="2377440"/>
            <a:ext cx="713232" cy="71323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2578608"/>
            <a:ext cx="603504" cy="28346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审查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08192" y="1828800"/>
            <a:ext cx="1389887" cy="658368"/>
          </a:xfrm>
          <a:prstGeom prst="line">
            <a:avLst/>
          </a:prstGeom>
          <a:ln w="2032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178040" y="3081528"/>
            <a:ext cx="557784" cy="1014984"/>
          </a:xfrm>
          <a:prstGeom prst="line">
            <a:avLst/>
          </a:prstGeom>
          <a:ln w="2032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709160" y="4535424"/>
            <a:ext cx="2084832" cy="0"/>
          </a:xfrm>
          <a:prstGeom prst="line">
            <a:avLst/>
          </a:prstGeom>
          <a:ln w="2032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575304" y="3054096"/>
            <a:ext cx="356616" cy="1060704"/>
          </a:xfrm>
          <a:prstGeom prst="line">
            <a:avLst/>
          </a:prstGeom>
          <a:ln w="2032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986784" y="1847088"/>
            <a:ext cx="1380744" cy="548640"/>
          </a:xfrm>
          <a:prstGeom prst="line">
            <a:avLst/>
          </a:prstGeom>
          <a:ln w="2032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3504" y="1536192"/>
            <a:ext cx="223113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" y="1536192"/>
            <a:ext cx="54864" cy="3474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8952" y="1691639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877824" y="1801367"/>
            <a:ext cx="210312" cy="228600"/>
          </a:xfrm>
          <a:prstGeom prst="hexagon">
            <a:avLst/>
          </a:prstGeom>
          <a:noFill/>
          <a:ln w="1651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1828799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1691639"/>
            <a:ext cx="1371600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管理关注</a:t>
            </a:r>
          </a:p>
        </p:txBody>
      </p:sp>
      <p:sp>
        <p:nvSpPr>
          <p:cNvPr id="30" name="Oval 29"/>
          <p:cNvSpPr/>
          <p:nvPr/>
        </p:nvSpPr>
        <p:spPr>
          <a:xfrm>
            <a:off x="804672" y="2286000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2194560"/>
            <a:ext cx="1664207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不扩大范围</a:t>
            </a:r>
          </a:p>
        </p:txBody>
      </p:sp>
      <p:sp>
        <p:nvSpPr>
          <p:cNvPr id="32" name="Oval 31"/>
          <p:cNvSpPr/>
          <p:nvPr/>
        </p:nvSpPr>
        <p:spPr>
          <a:xfrm>
            <a:off x="804672" y="2679192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2587752"/>
            <a:ext cx="1664207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测试真执行</a:t>
            </a:r>
          </a:p>
        </p:txBody>
      </p:sp>
      <p:sp>
        <p:nvSpPr>
          <p:cNvPr id="34" name="Oval 33"/>
          <p:cNvSpPr/>
          <p:nvPr/>
        </p:nvSpPr>
        <p:spPr>
          <a:xfrm>
            <a:off x="804672" y="3072384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2980944"/>
            <a:ext cx="1664207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高风险复核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9408" y="1938528"/>
            <a:ext cx="2103120" cy="2139696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93224" y="221284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02952" y="2322576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957816" y="2432304"/>
            <a:ext cx="36576" cy="45720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994392" y="2377440"/>
            <a:ext cx="82296" cy="100584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62288" y="2926080"/>
            <a:ext cx="173736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执行更密集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383280"/>
            <a:ext cx="173736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证据更重要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发布与运维：从执行到辅助诊断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生命周期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1536192"/>
            <a:ext cx="1499616" cy="603504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09928"/>
            <a:ext cx="1243584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准备</a:t>
            </a:r>
          </a:p>
        </p:txBody>
      </p:sp>
      <p:sp>
        <p:nvSpPr>
          <p:cNvPr id="11" name="Chevron 10"/>
          <p:cNvSpPr/>
          <p:nvPr/>
        </p:nvSpPr>
        <p:spPr>
          <a:xfrm>
            <a:off x="2542032" y="1737360"/>
            <a:ext cx="192024" cy="192024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08376" y="1536192"/>
            <a:ext cx="1499616" cy="603504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1709928"/>
            <a:ext cx="1243584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审批</a:t>
            </a:r>
          </a:p>
        </p:txBody>
      </p:sp>
      <p:sp>
        <p:nvSpPr>
          <p:cNvPr id="14" name="Chevron 13"/>
          <p:cNvSpPr/>
          <p:nvPr/>
        </p:nvSpPr>
        <p:spPr>
          <a:xfrm>
            <a:off x="4690872" y="1737360"/>
            <a:ext cx="192024" cy="192024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57216" y="1536192"/>
            <a:ext cx="1499616" cy="603504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1709928"/>
            <a:ext cx="1243584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上线</a:t>
            </a:r>
          </a:p>
        </p:txBody>
      </p:sp>
      <p:sp>
        <p:nvSpPr>
          <p:cNvPr id="17" name="Chevron 16"/>
          <p:cNvSpPr/>
          <p:nvPr/>
        </p:nvSpPr>
        <p:spPr>
          <a:xfrm>
            <a:off x="6839712" y="1737360"/>
            <a:ext cx="192024" cy="192024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06056" y="1536192"/>
            <a:ext cx="1499616" cy="603504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1709928"/>
            <a:ext cx="1243584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监控</a:t>
            </a:r>
          </a:p>
        </p:txBody>
      </p:sp>
      <p:sp>
        <p:nvSpPr>
          <p:cNvPr id="20" name="Chevron 19"/>
          <p:cNvSpPr/>
          <p:nvPr/>
        </p:nvSpPr>
        <p:spPr>
          <a:xfrm>
            <a:off x="8988552" y="1737360"/>
            <a:ext cx="192024" cy="192024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54896" y="1536192"/>
            <a:ext cx="1499616" cy="603504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2912" y="1709928"/>
            <a:ext cx="1243584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诊断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" y="2761488"/>
            <a:ext cx="4800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" y="2761488"/>
            <a:ext cx="54864" cy="214884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4983" y="291693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4712" y="3026664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179575" y="3136391"/>
            <a:ext cx="36576" cy="45721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16151" y="3081528"/>
            <a:ext cx="82297" cy="100584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54480" y="2916936"/>
            <a:ext cx="3941064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Agent 可辅助</a:t>
            </a:r>
          </a:p>
        </p:txBody>
      </p:sp>
      <p:sp>
        <p:nvSpPr>
          <p:cNvPr id="30" name="Oval 29"/>
          <p:cNvSpPr/>
          <p:nvPr/>
        </p:nvSpPr>
        <p:spPr>
          <a:xfrm>
            <a:off x="1060704" y="3511296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3419856"/>
            <a:ext cx="423367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整理发布内容</a:t>
            </a:r>
          </a:p>
        </p:txBody>
      </p:sp>
      <p:sp>
        <p:nvSpPr>
          <p:cNvPr id="32" name="Oval 31"/>
          <p:cNvSpPr/>
          <p:nvPr/>
        </p:nvSpPr>
        <p:spPr>
          <a:xfrm>
            <a:off x="1060704" y="3904487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152" y="3813048"/>
            <a:ext cx="423367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归纳日志信息</a:t>
            </a:r>
          </a:p>
        </p:txBody>
      </p:sp>
      <p:sp>
        <p:nvSpPr>
          <p:cNvPr id="34" name="Oval 33"/>
          <p:cNvSpPr/>
          <p:nvPr/>
        </p:nvSpPr>
        <p:spPr>
          <a:xfrm>
            <a:off x="1060704" y="4297680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6152" y="4206240"/>
            <a:ext cx="423367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提出定位方向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83096" y="2761488"/>
            <a:ext cx="4800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83096" y="2761488"/>
            <a:ext cx="54864" cy="21488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38544" y="291693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6757416" y="3026664"/>
            <a:ext cx="210312" cy="228600"/>
          </a:xfrm>
          <a:prstGeom prst="hexagon">
            <a:avLst/>
          </a:prstGeom>
          <a:noFill/>
          <a:ln w="1651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3054096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2916936"/>
            <a:ext cx="3941064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不可失控委派</a:t>
            </a:r>
          </a:p>
        </p:txBody>
      </p:sp>
      <p:sp>
        <p:nvSpPr>
          <p:cNvPr id="42" name="Oval 41"/>
          <p:cNvSpPr/>
          <p:nvPr/>
        </p:nvSpPr>
        <p:spPr>
          <a:xfrm>
            <a:off x="6684264" y="3511296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3419856"/>
            <a:ext cx="423367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上线批准</a:t>
            </a:r>
          </a:p>
        </p:txBody>
      </p:sp>
      <p:sp>
        <p:nvSpPr>
          <p:cNvPr id="44" name="Oval 43"/>
          <p:cNvSpPr/>
          <p:nvPr/>
        </p:nvSpPr>
        <p:spPr>
          <a:xfrm>
            <a:off x="6684264" y="3904487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9712" y="3813048"/>
            <a:ext cx="423367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敏感权限</a:t>
            </a:r>
          </a:p>
        </p:txBody>
      </p:sp>
      <p:sp>
        <p:nvSpPr>
          <p:cNvPr id="46" name="Oval 45"/>
          <p:cNvSpPr/>
          <p:nvPr/>
        </p:nvSpPr>
        <p:spPr>
          <a:xfrm>
            <a:off x="6684264" y="4297680"/>
            <a:ext cx="64008" cy="640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39712" y="4206240"/>
            <a:ext cx="423367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事故决策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6704" y="5504688"/>
            <a:ext cx="5513832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诊断可加速，权限需守住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迭代反馈：从复盘到快速归纳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生命周期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572768"/>
            <a:ext cx="4443984" cy="3054096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" y="1572768"/>
            <a:ext cx="54864" cy="305409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3544" y="172821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51560" y="1856231"/>
            <a:ext cx="82296" cy="13716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33856" y="1856231"/>
            <a:ext cx="82296" cy="13716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1560" y="1993391"/>
            <a:ext cx="164592" cy="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01852" y="1824228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9556" y="1961387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4148" y="1961387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1728216"/>
            <a:ext cx="3584448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可加速工作</a:t>
            </a:r>
          </a:p>
        </p:txBody>
      </p:sp>
      <p:sp>
        <p:nvSpPr>
          <p:cNvPr id="19" name="Oval 18"/>
          <p:cNvSpPr/>
          <p:nvPr/>
        </p:nvSpPr>
        <p:spPr>
          <a:xfrm>
            <a:off x="969264" y="2322576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2231136"/>
            <a:ext cx="387705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汇总用户反馈</a:t>
            </a:r>
          </a:p>
        </p:txBody>
      </p:sp>
      <p:sp>
        <p:nvSpPr>
          <p:cNvPr id="21" name="Oval 20"/>
          <p:cNvSpPr/>
          <p:nvPr/>
        </p:nvSpPr>
        <p:spPr>
          <a:xfrm>
            <a:off x="969264" y="2715768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2624328"/>
            <a:ext cx="387705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整理缺陷模式</a:t>
            </a:r>
          </a:p>
        </p:txBody>
      </p:sp>
      <p:sp>
        <p:nvSpPr>
          <p:cNvPr id="23" name="Oval 22"/>
          <p:cNvSpPr/>
          <p:nvPr/>
        </p:nvSpPr>
        <p:spPr>
          <a:xfrm>
            <a:off x="969264" y="3108960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017520"/>
            <a:ext cx="387705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同步变更记录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76872" y="1572768"/>
            <a:ext cx="4443984" cy="3054096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76872" y="1572768"/>
            <a:ext cx="54864" cy="305409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32320" y="172821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0336" y="1847088"/>
            <a:ext cx="182880" cy="228600"/>
          </a:xfrm>
          <a:prstGeom prst="rect">
            <a:avLst/>
          </a:prstGeom>
          <a:noFill/>
          <a:ln w="1524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892807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912" y="1965960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79208" y="1892807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79208" y="1965960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71816" y="1728216"/>
            <a:ext cx="3584448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人的判断</a:t>
            </a:r>
          </a:p>
        </p:txBody>
      </p:sp>
      <p:sp>
        <p:nvSpPr>
          <p:cNvPr id="34" name="Oval 33"/>
          <p:cNvSpPr/>
          <p:nvPr/>
        </p:nvSpPr>
        <p:spPr>
          <a:xfrm>
            <a:off x="7178040" y="2322576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2231136"/>
            <a:ext cx="387705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识别真实价值</a:t>
            </a:r>
          </a:p>
        </p:txBody>
      </p:sp>
      <p:sp>
        <p:nvSpPr>
          <p:cNvPr id="36" name="Oval 35"/>
          <p:cNvSpPr/>
          <p:nvPr/>
        </p:nvSpPr>
        <p:spPr>
          <a:xfrm>
            <a:off x="7178040" y="2715768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33488" y="2624328"/>
            <a:ext cx="387705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决定优先顺序</a:t>
            </a:r>
          </a:p>
        </p:txBody>
      </p:sp>
      <p:sp>
        <p:nvSpPr>
          <p:cNvPr id="38" name="Oval 37"/>
          <p:cNvSpPr/>
          <p:nvPr/>
        </p:nvSpPr>
        <p:spPr>
          <a:xfrm>
            <a:off x="7178040" y="3108960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3488" y="3017520"/>
            <a:ext cx="387705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确认下轮范围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48656" y="3090672"/>
            <a:ext cx="1517904" cy="0"/>
          </a:xfrm>
          <a:prstGeom prst="line">
            <a:avLst/>
          </a:prstGeom>
          <a:ln w="254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evron 40"/>
          <p:cNvSpPr/>
          <p:nvPr/>
        </p:nvSpPr>
        <p:spPr>
          <a:xfrm>
            <a:off x="6565392" y="2980944"/>
            <a:ext cx="173736" cy="201168"/>
          </a:xfrm>
          <a:prstGeom prst="chevron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>
            <a:off x="1280160" y="5138928"/>
            <a:ext cx="5705856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evron 42"/>
          <p:cNvSpPr/>
          <p:nvPr/>
        </p:nvSpPr>
        <p:spPr>
          <a:xfrm>
            <a:off x="1143000" y="5029200"/>
            <a:ext cx="164592" cy="201168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98848" y="4919472"/>
            <a:ext cx="2907792" cy="3657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3712" y="4956048"/>
            <a:ext cx="2798064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回流下一轮需求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806440"/>
            <a:ext cx="5870448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信息可归纳，优先级在人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Agent 带来的三类价值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价值与风险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554480"/>
            <a:ext cx="3291840" cy="3163824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48840" y="190195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993392"/>
            <a:ext cx="173736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313432" y="2066544"/>
            <a:ext cx="109728" cy="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13432" y="2121408"/>
            <a:ext cx="109728" cy="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13432" y="2176272"/>
            <a:ext cx="109728" cy="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5256" y="2624328"/>
            <a:ext cx="2926080" cy="3017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信息处理更快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10128"/>
            <a:ext cx="292608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快速阅读与归纳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32504" y="3099816"/>
            <a:ext cx="384048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9704" y="1554480"/>
            <a:ext cx="3291840" cy="3163824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16168" y="190195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6044184" y="2029968"/>
            <a:ext cx="82296" cy="13716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26480" y="2029968"/>
            <a:ext cx="82296" cy="13716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44184" y="2167128"/>
            <a:ext cx="164592" cy="0"/>
          </a:xfrm>
          <a:prstGeom prst="line">
            <a:avLst/>
          </a:prstGeom>
          <a:ln w="127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094476" y="1997964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12180" y="2135124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76772" y="2135124"/>
            <a:ext cx="64008" cy="64008"/>
          </a:xfrm>
          <a:prstGeom prst="ellipse">
            <a:avLst/>
          </a:prstGeom>
          <a:solidFill>
            <a:srgbClr val="20A36A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2624328"/>
            <a:ext cx="2926080" cy="3017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环节衔接更顺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2584" y="3310128"/>
            <a:ext cx="292608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同步需求与产物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99832" y="3099816"/>
            <a:ext cx="384047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57032" y="1554480"/>
            <a:ext cx="3291840" cy="3163824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E9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83496" y="190195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93224" y="201168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9848088" y="2121408"/>
            <a:ext cx="36576" cy="45720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884664" y="2066544"/>
            <a:ext cx="82296" cy="100584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39912" y="2624328"/>
            <a:ext cx="2926080" cy="30175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验证反馈更密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3310128"/>
            <a:ext cx="2926080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修改后立即检查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83664" y="5330952"/>
            <a:ext cx="8430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03120" y="5513832"/>
            <a:ext cx="799185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价值来自更短的反馈距离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速度不会自动变成质量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价值与风险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64208"/>
            <a:ext cx="2450592" cy="2816352"/>
          </a:xfrm>
          <a:prstGeom prst="roundRect">
            <a:avLst/>
          </a:prstGeom>
          <a:solidFill>
            <a:srgbClr val="FEF3E8"/>
          </a:solidFill>
          <a:ln w="12700">
            <a:solidFill>
              <a:srgbClr val="FE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27632" y="195681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746504" y="2066544"/>
            <a:ext cx="210312" cy="228600"/>
          </a:xfrm>
          <a:prstGeom prst="hexagon">
            <a:avLst/>
          </a:prstGeom>
          <a:noFill/>
          <a:ln w="1651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1368" y="2093976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24912"/>
            <a:ext cx="219456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</a:rPr>
              <a:t>错误落实更快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83280"/>
            <a:ext cx="219456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假设进入实现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664208"/>
            <a:ext cx="2450592" cy="2816352"/>
          </a:xfrm>
          <a:prstGeom prst="roundRect">
            <a:avLst/>
          </a:prstGeom>
          <a:solidFill>
            <a:srgbClr val="FEF3E8"/>
          </a:solidFill>
          <a:ln w="12700">
            <a:solidFill>
              <a:srgbClr val="FE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8" y="195681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4617720" y="2066544"/>
            <a:ext cx="210312" cy="228600"/>
          </a:xfrm>
          <a:prstGeom prst="hexagon">
            <a:avLst/>
          </a:prstGeom>
          <a:noFill/>
          <a:ln w="1651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2093976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724912"/>
            <a:ext cx="219456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</a:rPr>
              <a:t>完成错觉更强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3383280"/>
            <a:ext cx="219456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生成不等于通过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1664208"/>
            <a:ext cx="2450592" cy="2816352"/>
          </a:xfrm>
          <a:prstGeom prst="roundRect">
            <a:avLst/>
          </a:prstGeom>
          <a:solidFill>
            <a:srgbClr val="FEF3E8"/>
          </a:solidFill>
          <a:ln w="12700">
            <a:solidFill>
              <a:srgbClr val="FE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70064" y="195681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7488936" y="2066544"/>
            <a:ext cx="210312" cy="228600"/>
          </a:xfrm>
          <a:prstGeom prst="hexagon">
            <a:avLst/>
          </a:prstGeom>
          <a:noFill/>
          <a:ln w="1651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093976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724912"/>
            <a:ext cx="219456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</a:rPr>
              <a:t>权限影响更大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83280"/>
            <a:ext cx="219456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越界修改数据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664208"/>
            <a:ext cx="2450592" cy="2816352"/>
          </a:xfrm>
          <a:prstGeom prst="roundRect">
            <a:avLst/>
          </a:prstGeom>
          <a:solidFill>
            <a:srgbClr val="FEF3E8"/>
          </a:solidFill>
          <a:ln w="12700">
            <a:solidFill>
              <a:srgbClr val="FE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1280" y="195681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60152" y="2066544"/>
            <a:ext cx="210312" cy="228600"/>
          </a:xfrm>
          <a:prstGeom prst="hexagon">
            <a:avLst/>
          </a:prstGeom>
          <a:noFill/>
          <a:ln w="1651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15015" y="2093976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3456" y="2724912"/>
            <a:ext cx="219456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</a:rPr>
              <a:t>责任容易模糊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6" y="3383280"/>
            <a:ext cx="2194560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输出无人负责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4965192"/>
            <a:ext cx="9637776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10826496" y="4882896"/>
            <a:ext cx="256032" cy="201168"/>
          </a:xfrm>
          <a:prstGeom prst="chevron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87952" y="5330952"/>
            <a:ext cx="3986784" cy="34747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</a:rPr>
              <a:t>加速也会放大错误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新模式仍需要的控制原则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价值与风险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9" name="Oval 8"/>
          <p:cNvSpPr/>
          <p:nvPr/>
        </p:nvSpPr>
        <p:spPr>
          <a:xfrm>
            <a:off x="1380744" y="1865376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011680"/>
            <a:ext cx="457200" cy="2103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670048"/>
            <a:ext cx="1874519" cy="65836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71216"/>
            <a:ext cx="169164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目标明确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87752" y="2999232"/>
            <a:ext cx="310896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2798064" y="2898648"/>
            <a:ext cx="109728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1865376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2011680"/>
            <a:ext cx="457200" cy="2103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80944" y="2670048"/>
            <a:ext cx="1874519" cy="65836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2384" y="2871216"/>
            <a:ext cx="169164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上下文充分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64608" y="2999232"/>
            <a:ext cx="310896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5074920" y="2898648"/>
            <a:ext cx="109728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34456" y="1865376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2011680"/>
            <a:ext cx="457200" cy="2103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8C2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2670048"/>
            <a:ext cx="1874519" cy="658368"/>
          </a:xfrm>
          <a:prstGeom prst="roundRect">
            <a:avLst/>
          </a:prstGeom>
          <a:solidFill>
            <a:srgbClr val="FEF3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2871216"/>
            <a:ext cx="169164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</a:rPr>
              <a:t>授权有界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41464" y="2999232"/>
            <a:ext cx="310896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7351775" y="2898648"/>
            <a:ext cx="109728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11312" y="1865376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2011680"/>
            <a:ext cx="457200" cy="2103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A36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34656" y="2670048"/>
            <a:ext cx="1874519" cy="658368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6096" y="2871216"/>
            <a:ext cx="169164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验证有据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2999232"/>
            <a:ext cx="310896" cy="0"/>
          </a:xfrm>
          <a:prstGeom prst="line">
            <a:avLst/>
          </a:prstGeom>
          <a:ln w="1905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hevron 31"/>
          <p:cNvSpPr/>
          <p:nvPr/>
        </p:nvSpPr>
        <p:spPr>
          <a:xfrm>
            <a:off x="9628632" y="2898648"/>
            <a:ext cx="109728" cy="173736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88168" y="1865376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24744" y="2011680"/>
            <a:ext cx="457200" cy="2103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4A5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11512" y="2670048"/>
            <a:ext cx="1874519" cy="65836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02952" y="2871216"/>
            <a:ext cx="169164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责任有人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39696" y="4718304"/>
            <a:ext cx="79278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40864" y="4983480"/>
            <a:ext cx="7534656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可控协作，才是可靠加速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三种模式不是三选一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1517904"/>
            <a:ext cx="3767328" cy="75895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1746504"/>
            <a:ext cx="33832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瀑布 / V 模型</a:t>
            </a:r>
          </a:p>
        </p:txBody>
      </p:sp>
      <p:sp>
        <p:nvSpPr>
          <p:cNvPr id="11" name="Chevron 10"/>
          <p:cNvSpPr/>
          <p:nvPr/>
        </p:nvSpPr>
        <p:spPr>
          <a:xfrm>
            <a:off x="5248656" y="1783080"/>
            <a:ext cx="274320" cy="201168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25312" y="1517904"/>
            <a:ext cx="43525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746504"/>
            <a:ext cx="395020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基线与验证责任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2596896"/>
            <a:ext cx="3767328" cy="758952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2825496"/>
            <a:ext cx="33832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敏捷 / DevOps</a:t>
            </a:r>
          </a:p>
        </p:txBody>
      </p:sp>
      <p:sp>
        <p:nvSpPr>
          <p:cNvPr id="16" name="Chevron 15"/>
          <p:cNvSpPr/>
          <p:nvPr/>
        </p:nvSpPr>
        <p:spPr>
          <a:xfrm>
            <a:off x="5248656" y="2862072"/>
            <a:ext cx="274320" cy="201168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25312" y="2596896"/>
            <a:ext cx="43525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825496"/>
            <a:ext cx="395020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迭代与持续反馈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3675887"/>
            <a:ext cx="3767328" cy="75895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5296" y="3904487"/>
            <a:ext cx="338328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AI Agent</a:t>
            </a:r>
          </a:p>
        </p:txBody>
      </p:sp>
      <p:sp>
        <p:nvSpPr>
          <p:cNvPr id="21" name="Chevron 20"/>
          <p:cNvSpPr/>
          <p:nvPr/>
        </p:nvSpPr>
        <p:spPr>
          <a:xfrm>
            <a:off x="5248656" y="3941063"/>
            <a:ext cx="274320" cy="201168"/>
          </a:xfrm>
          <a:prstGeom prst="chevron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25312" y="3675887"/>
            <a:ext cx="43525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904487"/>
            <a:ext cx="395020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Microsoft YaHei"/>
                <a:ea typeface="Microsoft YaHei"/>
              </a:rPr>
              <a:t>细粒度受控执行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87168" y="5138928"/>
            <a:ext cx="7205472" cy="713232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62656" y="5276088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90672" y="5394959"/>
            <a:ext cx="182880" cy="228600"/>
          </a:xfrm>
          <a:prstGeom prst="rect">
            <a:avLst/>
          </a:prstGeom>
          <a:noFill/>
          <a:ln w="1524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7248" y="5440679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27248" y="5513831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9544" y="5440679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9544" y="5513831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6744" y="5340096"/>
            <a:ext cx="5468112" cy="3200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组合能力，形成可靠交付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管理者需要回答的五个问题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481328"/>
            <a:ext cx="3255264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45920"/>
            <a:ext cx="36576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162763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52728" y="173736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07592" y="179222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" y="1824228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901952"/>
            <a:ext cx="2176272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目标是否明确？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481328"/>
            <a:ext cx="3255264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645920"/>
            <a:ext cx="36576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4873752" y="162763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0912" y="1719072"/>
            <a:ext cx="173736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8344" y="1792224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38344" y="1847088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1901952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58383" y="1901952"/>
            <a:ext cx="2176272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上下文是否充分？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481328"/>
            <a:ext cx="3255264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1645920"/>
            <a:ext cx="36576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6" name="Oval 25"/>
          <p:cNvSpPr/>
          <p:nvPr/>
        </p:nvSpPr>
        <p:spPr>
          <a:xfrm>
            <a:off x="8604504" y="162763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8723376" y="1737360"/>
            <a:ext cx="210312" cy="228600"/>
          </a:xfrm>
          <a:prstGeom prst="hexagon">
            <a:avLst/>
          </a:prstGeom>
          <a:noFill/>
          <a:ln w="1651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764792"/>
            <a:ext cx="100584" cy="14630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1901952"/>
            <a:ext cx="2176272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授权是否适当？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3154680"/>
            <a:ext cx="3255264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5184" y="3319272"/>
            <a:ext cx="36576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2" name="Oval 31"/>
          <p:cNvSpPr/>
          <p:nvPr/>
        </p:nvSpPr>
        <p:spPr>
          <a:xfrm>
            <a:off x="3008376" y="3300984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118104" y="341071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172968" y="3520440"/>
            <a:ext cx="36576" cy="45720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209544" y="3465576"/>
            <a:ext cx="82296" cy="100584"/>
          </a:xfrm>
          <a:prstGeom prst="line">
            <a:avLst/>
          </a:prstGeom>
          <a:ln w="2032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493008" y="3575304"/>
            <a:ext cx="2176272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结果是否验证？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154680"/>
            <a:ext cx="3255264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3319272"/>
            <a:ext cx="365760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9" name="Oval 38"/>
          <p:cNvSpPr/>
          <p:nvPr/>
        </p:nvSpPr>
        <p:spPr>
          <a:xfrm>
            <a:off x="6739128" y="3300984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67144" y="3419856"/>
            <a:ext cx="182880" cy="228600"/>
          </a:xfrm>
          <a:prstGeom prst="rect">
            <a:avLst/>
          </a:prstGeom>
          <a:noFill/>
          <a:ln w="1524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03720" y="3465576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03720" y="3538728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86016" y="3465576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6016" y="3538728"/>
            <a:ext cx="32004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3575304"/>
            <a:ext cx="2176272" cy="29260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责任是否清晰？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95728" y="5001768"/>
            <a:ext cx="7415783" cy="5943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8608" y="5175504"/>
            <a:ext cx="7059168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评估 Agent 协作成熟度的共同语言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结语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9" name="Oval 8"/>
          <p:cNvSpPr/>
          <p:nvPr/>
        </p:nvSpPr>
        <p:spPr>
          <a:xfrm>
            <a:off x="10296144" y="13716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0736" y="1536192"/>
            <a:ext cx="109728" cy="10972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0396728" y="1463040"/>
            <a:ext cx="118872" cy="128016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373867" y="1440180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0515600" y="1490472"/>
            <a:ext cx="91440" cy="100584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584180" y="1467612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10415016" y="1591056"/>
            <a:ext cx="100584" cy="9144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392156" y="1659636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15600" y="1591056"/>
            <a:ext cx="91440" cy="82296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584180" y="1650492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08208" y="13716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36224" y="1490472"/>
            <a:ext cx="182880" cy="228600"/>
          </a:xfrm>
          <a:prstGeom prst="rect">
            <a:avLst/>
          </a:prstGeom>
          <a:noFill/>
          <a:ln w="1524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0" y="1536192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1609344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55096" y="1536192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55096" y="1609344"/>
            <a:ext cx="32004" cy="32004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1426464"/>
            <a:ext cx="8924544" cy="192024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1828800"/>
            <a:ext cx="8266175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Agent 加速软件工作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441448"/>
            <a:ext cx="8266175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人定义方向并对结果负责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370832"/>
            <a:ext cx="2907792" cy="694944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25295" y="4590288"/>
            <a:ext cx="265176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</a:rPr>
              <a:t>保留工程纪律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53712" y="4370832"/>
            <a:ext cx="2907792" cy="694944"/>
          </a:xfrm>
          <a:prstGeom prst="roundRect">
            <a:avLst/>
          </a:prstGeom>
          <a:solidFill>
            <a:srgbClr val="E9F7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7" y="4590288"/>
            <a:ext cx="265176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A36A"/>
                </a:solidFill>
                <a:latin typeface="Microsoft YaHei"/>
                <a:ea typeface="Microsoft YaHei"/>
              </a:rPr>
              <a:t>提升反馈密度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4370832"/>
            <a:ext cx="2907792" cy="694944"/>
          </a:xfrm>
          <a:prstGeom prst="roundRect">
            <a:avLst/>
          </a:prstGeom>
          <a:solidFill>
            <a:srgbClr val="FEF3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4590288"/>
            <a:ext cx="2651760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</a:rPr>
              <a:t>守住责任边界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875520" cy="47548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Microsoft YaHei"/>
                <a:ea typeface="Microsoft YaHei"/>
              </a:rPr>
              <a:t>参考资料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850392"/>
            <a:ext cx="914400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5872" y="347472"/>
            <a:ext cx="1143000" cy="29260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2448" y="356616"/>
            <a:ext cx="1069848" cy="25603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4F87"/>
                </a:solidFill>
                <a:latin typeface="Microsoft YaHei"/>
                <a:ea typeface="Microsoft YaHei"/>
              </a:rPr>
              <a:t>参考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65392"/>
            <a:ext cx="292608" cy="3200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6437376"/>
            <a:ext cx="420624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传统软件开发模式与 AI Agent 协作开发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43737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280"/>
                </a:solidFill>
                <a:latin typeface="Microsoft YaHei"/>
                <a:ea typeface="Microsoft YaHei"/>
              </a:rPr>
              <a:t>22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426464"/>
            <a:ext cx="1049731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673352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837944"/>
            <a:ext cx="109728" cy="10972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179576" y="1764792"/>
            <a:ext cx="118872" cy="128016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56716" y="1741932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298448" y="1792224"/>
            <a:ext cx="91440" cy="100584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367028" y="1769364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1197864" y="1892808"/>
            <a:ext cx="100584" cy="9144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75004" y="1961388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298448" y="1892808"/>
            <a:ext cx="91440" cy="82296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367028" y="1952244"/>
            <a:ext cx="45720" cy="45720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46504" y="1591056"/>
            <a:ext cx="2331720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Superpowers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1591056"/>
            <a:ext cx="3255264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软件开发方法与技能框架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591056"/>
            <a:ext cx="203911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  <a:hlinkClick r:id="rId2"/>
              </a:rPr>
              <a:t>查看公开仓库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96528" y="1956816"/>
            <a:ext cx="1911095" cy="228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2761488"/>
            <a:ext cx="1049731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3008376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6151" y="3099816"/>
            <a:ext cx="173736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243584" y="3172968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3584" y="3227832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43584" y="3282696"/>
            <a:ext cx="109728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46504" y="2926080"/>
            <a:ext cx="2331720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Spec Kit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2926080"/>
            <a:ext cx="3255264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规格驱动开发工具包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2926080"/>
            <a:ext cx="203911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  <a:hlinkClick r:id="rId3"/>
              </a:rPr>
              <a:t>查看公开仓库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6528" y="3291840"/>
            <a:ext cx="1911095" cy="228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4096512"/>
            <a:ext cx="1049731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8992" y="4343400"/>
            <a:ext cx="438912" cy="438912"/>
          </a:xfrm>
          <a:prstGeom prst="ellipse">
            <a:avLst/>
          </a:prstGeom>
          <a:solidFill>
            <a:srgbClr val="EEF5FB"/>
          </a:solidFill>
          <a:ln w="19050">
            <a:solidFill>
              <a:srgbClr val="EE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1207007" y="4471416"/>
            <a:ext cx="82297" cy="13716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289304" y="4471416"/>
            <a:ext cx="82296" cy="13716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07007" y="4608576"/>
            <a:ext cx="164593" cy="0"/>
          </a:xfrm>
          <a:prstGeom prst="line">
            <a:avLst/>
          </a:prstGeom>
          <a:ln w="127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257300" y="4439412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75004" y="4576572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39596" y="4576572"/>
            <a:ext cx="64008" cy="64008"/>
          </a:xfrm>
          <a:prstGeom prst="ellipse">
            <a:avLst/>
          </a:prstGeom>
          <a:solidFill>
            <a:srgbClr val="1464A5"/>
          </a:solidFill>
          <a:ln w="1905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46504" y="4261104"/>
            <a:ext cx="2331720" cy="26517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4F87"/>
                </a:solidFill>
                <a:latin typeface="Microsoft YaHei"/>
                <a:ea typeface="Microsoft YaHei"/>
              </a:rPr>
              <a:t>OpenSpec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4261104"/>
            <a:ext cx="3255264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轻量规格与变更组织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4261104"/>
            <a:ext cx="2039112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4A5"/>
                </a:solidFill>
                <a:latin typeface="Microsoft YaHei"/>
                <a:ea typeface="Microsoft YaHei"/>
                <a:hlinkClick r:id="rId4"/>
              </a:rPr>
              <a:t>查看公开仓库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96528" y="4626864"/>
            <a:ext cx="1911095" cy="228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5687568"/>
            <a:ext cx="10460736" cy="2743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87280"/>
                </a:solidFill>
                <a:latin typeface="Microsoft YaHei"/>
                <a:ea typeface="Microsoft YaHei"/>
              </a:rPr>
              <a:t>仅作为工程化实践示例，不构成选型建议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传统软件开发模式与 AI Agent 时代的软件开发模式</dc:title>
  <dc:subject>完整培训母版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