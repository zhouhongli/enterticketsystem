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技术管理培训  /  新版完整母版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01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6263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800" b="1">
                <a:solidFill>
                  <a:srgbClr val="0E1825"/>
                </a:solidFill>
                <a:latin typeface="Microsoft YaHei"/>
                <a:ea typeface="Microsoft YaHei"/>
              </a:rPr>
              <a:t>传统软件开发模式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64208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800" b="1">
                <a:solidFill>
                  <a:srgbClr val="0E1825"/>
                </a:solidFill>
                <a:latin typeface="Microsoft YaHei"/>
                <a:ea typeface="Microsoft YaHei"/>
              </a:rPr>
              <a:t>与 AI Agent 时代的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67712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800" b="1">
                <a:solidFill>
                  <a:srgbClr val="0756C7"/>
                </a:solidFill>
                <a:latin typeface="Microsoft YaHei"/>
                <a:ea typeface="Microsoft YaHei"/>
              </a:rPr>
              <a:t>软件开发模式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09067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0">
                <a:solidFill>
                  <a:srgbClr val="6F7C8E"/>
                </a:solidFill>
                <a:latin typeface="Microsoft YaHei"/>
                <a:ea typeface="Microsoft YaHei"/>
              </a:rPr>
              <a:t>面向产品、项目与研发管理人员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3216" y="1115568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6F7C8E"/>
                </a:solidFill>
                <a:latin typeface="Microsoft YaHei"/>
                <a:ea typeface="Microsoft YaHei"/>
              </a:rPr>
              <a:t>PROCESS  /  FEEDBACK  /  CONTROLLED EXECUTION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79792" y="1709928"/>
            <a:ext cx="3739896" cy="0"/>
          </a:xfrm>
          <a:prstGeom prst="line">
            <a:avLst/>
          </a:prstGeom>
          <a:ln w="25400">
            <a:solidFill>
              <a:srgbClr val="075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479792" y="2066543"/>
            <a:ext cx="320040" cy="3200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139696"/>
            <a:ext cx="3200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2039112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0E1825"/>
                </a:solidFill>
                <a:latin typeface="Microsoft YaHei"/>
                <a:ea typeface="Microsoft YaHei"/>
              </a:rPr>
              <a:t>阶段控制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386584"/>
            <a:ext cx="24688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6F7C8E"/>
                </a:solidFill>
                <a:latin typeface="Microsoft YaHei"/>
                <a:ea typeface="Microsoft YaHei"/>
              </a:rPr>
              <a:t>瀑布 / V</a:t>
            </a:r>
          </a:p>
        </p:txBody>
      </p:sp>
      <p:sp>
        <p:nvSpPr>
          <p:cNvPr id="17" name="Oval 16"/>
          <p:cNvSpPr/>
          <p:nvPr/>
        </p:nvSpPr>
        <p:spPr>
          <a:xfrm>
            <a:off x="7479792" y="3090672"/>
            <a:ext cx="320040" cy="3200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3163824"/>
            <a:ext cx="3200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3063240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0E1825"/>
                </a:solidFill>
                <a:latin typeface="Microsoft YaHei"/>
                <a:ea typeface="Microsoft YaHei"/>
              </a:rPr>
              <a:t>持续反馈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10712"/>
            <a:ext cx="24688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6F7C8E"/>
                </a:solidFill>
                <a:latin typeface="Microsoft YaHei"/>
                <a:ea typeface="Microsoft YaHei"/>
              </a:rPr>
              <a:t>敏捷 / DevOps</a:t>
            </a:r>
          </a:p>
        </p:txBody>
      </p:sp>
      <p:sp>
        <p:nvSpPr>
          <p:cNvPr id="21" name="Oval 20"/>
          <p:cNvSpPr/>
          <p:nvPr/>
        </p:nvSpPr>
        <p:spPr>
          <a:xfrm>
            <a:off x="7479792" y="4114800"/>
            <a:ext cx="320040" cy="3200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CA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4187952"/>
            <a:ext cx="3200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CA469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4087368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0E1825"/>
                </a:solidFill>
                <a:latin typeface="Microsoft YaHei"/>
                <a:ea typeface="Microsoft YaHei"/>
              </a:rPr>
              <a:t>受控协作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434840"/>
            <a:ext cx="24688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6F7C8E"/>
                </a:solidFill>
                <a:latin typeface="Microsoft YaHei"/>
                <a:ea typeface="Microsoft YaHei"/>
              </a:rPr>
              <a:t>AI Agent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" y="5010912"/>
            <a:ext cx="594360" cy="41148"/>
          </a:xfrm>
          <a:prstGeom prst="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5175504"/>
            <a:ext cx="6537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000" b="1">
                <a:solidFill>
                  <a:srgbClr val="043D93"/>
                </a:solidFill>
                <a:latin typeface="Microsoft YaHei"/>
                <a:ea typeface="Microsoft YaHei"/>
              </a:rPr>
              <a:t>工程纪律被保留，协作颗粒度被重塑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" y="5824728"/>
            <a:ext cx="2395728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5884164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单位 / 讲师 / 日期待补充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开场  /  课程结论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02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400" b="1">
                <a:solidFill>
                  <a:srgbClr val="0E1825"/>
                </a:solidFill>
                <a:latin typeface="Microsoft YaHei"/>
                <a:ea typeface="Microsoft YaHei"/>
              </a:rPr>
              <a:t>Agent 加快工作，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426464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本课程的基本立场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6492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800" b="1">
                <a:solidFill>
                  <a:srgbClr val="0756C7"/>
                </a:solidFill>
                <a:latin typeface="Microsoft YaHei"/>
                <a:ea typeface="Microsoft YaHei"/>
              </a:rPr>
              <a:t>人仍对结果负责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816352"/>
            <a:ext cx="548640" cy="45720"/>
          </a:xfrm>
          <a:prstGeom prst="rect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081528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>
                <a:solidFill>
                  <a:srgbClr val="0756C7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52958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0">
                <a:solidFill>
                  <a:srgbClr val="344052"/>
                </a:solidFill>
                <a:latin typeface="Microsoft YaHei"/>
                <a:ea typeface="Microsoft YaHei"/>
              </a:rPr>
              <a:t>仍需人定义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78224" y="2816352"/>
            <a:ext cx="548640" cy="45720"/>
          </a:xfrm>
          <a:prstGeom prst="rect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78224" y="3081528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>
                <a:solidFill>
                  <a:srgbClr val="F38321"/>
                </a:solidFill>
                <a:latin typeface="Microsoft YaHei"/>
                <a:ea typeface="Microsoft YaHei"/>
              </a:rPr>
              <a:t>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224" y="352958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0">
                <a:solidFill>
                  <a:srgbClr val="344052"/>
                </a:solidFill>
                <a:latin typeface="Microsoft YaHei"/>
                <a:ea typeface="Microsoft YaHei"/>
              </a:rPr>
              <a:t>仍需人批准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34656" y="2816352"/>
            <a:ext cx="548640" cy="45720"/>
          </a:xfrm>
          <a:prstGeom prst="rect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34656" y="3081528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>
                <a:solidFill>
                  <a:srgbClr val="0CA469"/>
                </a:solidFill>
                <a:latin typeface="Microsoft YaHei"/>
                <a:ea typeface="Microsoft YaHei"/>
              </a:rPr>
              <a:t>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4656" y="352958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0">
                <a:solidFill>
                  <a:srgbClr val="344052"/>
                </a:solidFill>
                <a:latin typeface="Microsoft YaHei"/>
                <a:ea typeface="Microsoft YaHei"/>
              </a:rPr>
              <a:t>仍需有证据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681728"/>
            <a:ext cx="10451592" cy="0"/>
          </a:xfrm>
          <a:prstGeom prst="line">
            <a:avLst/>
          </a:prstGeom>
          <a:ln w="1270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50976" y="5138928"/>
            <a:ext cx="2066543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5198364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执行可委派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9272" y="5193792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6F7C8E"/>
                </a:solidFill>
                <a:latin typeface="Microsoft YaHei"/>
                <a:ea typeface="Microsoft YaHei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58768" y="5138928"/>
            <a:ext cx="2066543" cy="310896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6200" y="5198364"/>
            <a:ext cx="201167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验证有依据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193792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6F7C8E"/>
                </a:solidFill>
                <a:latin typeface="Microsoft YaHei"/>
                <a:ea typeface="Microsoft YaHei"/>
              </a:rPr>
              <a:t>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75704" y="5138928"/>
            <a:ext cx="2304288" cy="310896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03136" y="5198364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38321"/>
                </a:solidFill>
                <a:latin typeface="Microsoft YaHei"/>
                <a:ea typeface="Microsoft YaHei"/>
              </a:rPr>
              <a:t>批准有人负责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开场  /  课程边界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03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建立模式判断框架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讨论工作组织与责任，不做工具推介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847088"/>
            <a:ext cx="5303520" cy="3346704"/>
          </a:xfrm>
          <a:prstGeom prst="roundRect">
            <a:avLst/>
          </a:prstGeom>
          <a:solidFill>
            <a:srgbClr val="F1F6FC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" y="2011680"/>
            <a:ext cx="438912" cy="41148"/>
          </a:xfrm>
          <a:prstGeom prst="rect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176272"/>
            <a:ext cx="497433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0E1825"/>
                </a:solidFill>
                <a:latin typeface="Microsoft YaHei"/>
                <a:ea typeface="Microsoft YaHei"/>
              </a:rPr>
              <a:t>本课程聚焦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2734056"/>
            <a:ext cx="68580" cy="68580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633472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三种模式完整流程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3090672"/>
            <a:ext cx="68580" cy="68580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2990088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角色、产物与质量责任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" y="3447288"/>
            <a:ext cx="68580" cy="68580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346704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Agent 的事实边界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" y="3803904"/>
            <a:ext cx="68580" cy="68580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703320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管理者判断清单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1847088"/>
            <a:ext cx="5303520" cy="3346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011680"/>
            <a:ext cx="438912" cy="41148"/>
          </a:xfrm>
          <a:prstGeom prst="rect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176272"/>
            <a:ext cx="497433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0E1825"/>
                </a:solidFill>
                <a:latin typeface="Microsoft YaHei"/>
                <a:ea typeface="Microsoft YaHei"/>
              </a:rPr>
              <a:t>本次不展开</a:t>
            </a:r>
          </a:p>
        </p:txBody>
      </p:sp>
      <p:sp>
        <p:nvSpPr>
          <p:cNvPr id="23" name="Oval 22"/>
          <p:cNvSpPr/>
          <p:nvPr/>
        </p:nvSpPr>
        <p:spPr>
          <a:xfrm>
            <a:off x="6419088" y="2734056"/>
            <a:ext cx="68580" cy="68580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633472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工具安装与命令</a:t>
            </a:r>
          </a:p>
        </p:txBody>
      </p:sp>
      <p:sp>
        <p:nvSpPr>
          <p:cNvPr id="25" name="Oval 24"/>
          <p:cNvSpPr/>
          <p:nvPr/>
        </p:nvSpPr>
        <p:spPr>
          <a:xfrm>
            <a:off x="6419088" y="3090672"/>
            <a:ext cx="68580" cy="68580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990088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产品优劣排名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3447288"/>
            <a:ext cx="68580" cy="68580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346704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团队实施方案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3803904"/>
            <a:ext cx="68580" cy="68580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703320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自主组织预测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开场  /  教学案例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04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同一业务目标，不同开发方式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贯穿案例：为业务系统新增客户反馈功能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65376"/>
            <a:ext cx="4736592" cy="14264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" y="2084831"/>
            <a:ext cx="713232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426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用户端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551176"/>
            <a:ext cx="334670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400" b="1">
                <a:solidFill>
                  <a:srgbClr val="0E1825"/>
                </a:solidFill>
                <a:latin typeface="Microsoft YaHei"/>
                <a:ea typeface="Microsoft YaHei"/>
              </a:rPr>
              <a:t>提交反馈内容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971800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6F7C8E"/>
                </a:solidFill>
                <a:latin typeface="Microsoft YaHei"/>
                <a:ea typeface="Microsoft YaHei"/>
              </a:rPr>
              <a:t>表达使用意见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5584" y="1865376"/>
            <a:ext cx="5047488" cy="14264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25896" y="2084831"/>
            <a:ext cx="932688" cy="310896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144268"/>
            <a:ext cx="8778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管理员端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5896" y="2551176"/>
            <a:ext cx="34747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400" b="1">
                <a:solidFill>
                  <a:srgbClr val="0E1825"/>
                </a:solidFill>
                <a:latin typeface="Microsoft YaHei"/>
                <a:ea typeface="Microsoft YaHei"/>
              </a:rPr>
              <a:t>查看反馈列表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5896" y="297180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6F7C8E"/>
                </a:solidFill>
                <a:latin typeface="Microsoft YaHei"/>
                <a:ea typeface="Microsoft YaHei"/>
              </a:rPr>
              <a:t>了解已提交意见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4005072"/>
            <a:ext cx="111556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F38321"/>
                </a:solidFill>
                <a:latin typeface="Microsoft YaHei"/>
                <a:ea typeface="Microsoft YaHei"/>
              </a:rPr>
              <a:t>明确排除范围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4443984"/>
            <a:ext cx="2103120" cy="310896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4503420"/>
            <a:ext cx="204825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38321"/>
                </a:solidFill>
                <a:latin typeface="Microsoft YaHei"/>
                <a:ea typeface="Microsoft YaHei"/>
              </a:rPr>
              <a:t>不含处理状态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73552" y="4443984"/>
            <a:ext cx="2103120" cy="310896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00984" y="4503420"/>
            <a:ext cx="204825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38321"/>
                </a:solidFill>
                <a:latin typeface="Microsoft YaHei"/>
                <a:ea typeface="Microsoft YaHei"/>
              </a:rPr>
              <a:t>不含通知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59" y="4443984"/>
            <a:ext cx="2103120" cy="310896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79592" y="4503420"/>
            <a:ext cx="204825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38321"/>
                </a:solidFill>
                <a:latin typeface="Microsoft YaHei"/>
                <a:ea typeface="Microsoft YaHei"/>
              </a:rPr>
              <a:t>不含统计报表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30767" y="4443984"/>
            <a:ext cx="2103120" cy="310896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199" y="4503420"/>
            <a:ext cx="204825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38321"/>
                </a:solidFill>
                <a:latin typeface="Microsoft YaHei"/>
                <a:ea typeface="Microsoft YaHei"/>
              </a:rPr>
              <a:t>不含复杂权限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" y="5239512"/>
            <a:ext cx="594360" cy="41148"/>
          </a:xfrm>
          <a:prstGeom prst="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404104"/>
            <a:ext cx="5303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1">
                <a:solidFill>
                  <a:srgbClr val="043D93"/>
                </a:solidFill>
                <a:latin typeface="Microsoft YaHei"/>
                <a:ea typeface="Microsoft YaHei"/>
              </a:rPr>
              <a:t>范围固定，比较的才是开发方式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开场  /  比较坐标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05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我们如何比较三种模式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七个问题贯穿完整课程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" y="3063240"/>
            <a:ext cx="10259568" cy="0"/>
          </a:xfrm>
          <a:prstGeom prst="line">
            <a:avLst/>
          </a:prstGeom>
          <a:ln w="25400">
            <a:solidFill>
              <a:srgbClr val="075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41248" y="2852928"/>
            <a:ext cx="420624" cy="42062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990088"/>
            <a:ext cx="42062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2075688"/>
            <a:ext cx="10789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E1825"/>
                </a:solidFill>
                <a:latin typeface="Microsoft YaHei"/>
                <a:ea typeface="Microsoft YaHei"/>
              </a:rPr>
              <a:t>需求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E1825"/>
                </a:solidFill>
                <a:latin typeface="Microsoft YaHei"/>
                <a:ea typeface="Microsoft YaHei"/>
              </a:rPr>
              <a:t>表达</a:t>
            </a:r>
          </a:p>
        </p:txBody>
      </p:sp>
      <p:sp>
        <p:nvSpPr>
          <p:cNvPr id="13" name="Oval 12"/>
          <p:cNvSpPr/>
          <p:nvPr/>
        </p:nvSpPr>
        <p:spPr>
          <a:xfrm>
            <a:off x="2459736" y="2852928"/>
            <a:ext cx="420624" cy="42062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9736" y="2990088"/>
            <a:ext cx="42062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0552" y="2075688"/>
            <a:ext cx="10789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E1825"/>
                </a:solidFill>
                <a:latin typeface="Microsoft YaHei"/>
                <a:ea typeface="Microsoft YaHei"/>
              </a:rPr>
              <a:t>工作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E1825"/>
                </a:solidFill>
                <a:latin typeface="Microsoft YaHei"/>
                <a:ea typeface="Microsoft YaHei"/>
              </a:rPr>
              <a:t>组织</a:t>
            </a:r>
          </a:p>
        </p:txBody>
      </p:sp>
      <p:sp>
        <p:nvSpPr>
          <p:cNvPr id="16" name="Oval 15"/>
          <p:cNvSpPr/>
          <p:nvPr/>
        </p:nvSpPr>
        <p:spPr>
          <a:xfrm>
            <a:off x="4078224" y="2852928"/>
            <a:ext cx="420624" cy="42062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8224" y="2990088"/>
            <a:ext cx="42062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075688"/>
            <a:ext cx="10789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E1825"/>
                </a:solidFill>
                <a:latin typeface="Microsoft YaHei"/>
                <a:ea typeface="Microsoft YaHei"/>
              </a:rPr>
              <a:t>参与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E1825"/>
                </a:solidFill>
                <a:latin typeface="Microsoft YaHei"/>
                <a:ea typeface="Microsoft YaHei"/>
              </a:rPr>
              <a:t>角色</a:t>
            </a:r>
          </a:p>
        </p:txBody>
      </p:sp>
      <p:sp>
        <p:nvSpPr>
          <p:cNvPr id="19" name="Oval 18"/>
          <p:cNvSpPr/>
          <p:nvPr/>
        </p:nvSpPr>
        <p:spPr>
          <a:xfrm>
            <a:off x="5696712" y="2852928"/>
            <a:ext cx="420624" cy="42062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2990088"/>
            <a:ext cx="42062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7528" y="2075688"/>
            <a:ext cx="10789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E1825"/>
                </a:solidFill>
                <a:latin typeface="Microsoft YaHei"/>
                <a:ea typeface="Microsoft YaHei"/>
              </a:rPr>
              <a:t>交付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E1825"/>
                </a:solidFill>
                <a:latin typeface="Microsoft YaHei"/>
                <a:ea typeface="Microsoft YaHei"/>
              </a:rPr>
              <a:t>产物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0" y="2852928"/>
            <a:ext cx="420624" cy="42062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CA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2990088"/>
            <a:ext cx="42062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CA469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075688"/>
            <a:ext cx="10789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E1825"/>
                </a:solidFill>
                <a:latin typeface="Microsoft YaHei"/>
                <a:ea typeface="Microsoft YaHei"/>
              </a:rPr>
              <a:t>质量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E1825"/>
                </a:solidFill>
                <a:latin typeface="Microsoft YaHei"/>
                <a:ea typeface="Microsoft YaHei"/>
              </a:rPr>
              <a:t>验证</a:t>
            </a:r>
          </a:p>
        </p:txBody>
      </p:sp>
      <p:sp>
        <p:nvSpPr>
          <p:cNvPr id="25" name="Oval 24"/>
          <p:cNvSpPr/>
          <p:nvPr/>
        </p:nvSpPr>
        <p:spPr>
          <a:xfrm>
            <a:off x="8933688" y="2852928"/>
            <a:ext cx="420624" cy="42062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383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33688" y="2990088"/>
            <a:ext cx="42062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F38321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04504" y="2075688"/>
            <a:ext cx="10789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E1825"/>
                </a:solidFill>
                <a:latin typeface="Microsoft YaHei"/>
                <a:ea typeface="Microsoft YaHei"/>
              </a:rPr>
              <a:t>发布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E1825"/>
                </a:solidFill>
                <a:latin typeface="Microsoft YaHei"/>
                <a:ea typeface="Microsoft YaHei"/>
              </a:rPr>
              <a:t>责任</a:t>
            </a:r>
          </a:p>
        </p:txBody>
      </p:sp>
      <p:sp>
        <p:nvSpPr>
          <p:cNvPr id="28" name="Oval 27"/>
          <p:cNvSpPr/>
          <p:nvPr/>
        </p:nvSpPr>
        <p:spPr>
          <a:xfrm>
            <a:off x="10552176" y="2852928"/>
            <a:ext cx="420624" cy="42062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52176" y="2990088"/>
            <a:ext cx="42062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22992" y="2075688"/>
            <a:ext cx="10789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E1825"/>
                </a:solidFill>
                <a:latin typeface="Microsoft YaHei"/>
                <a:ea typeface="Microsoft YaHei"/>
              </a:rPr>
              <a:t>反馈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E1825"/>
                </a:solidFill>
                <a:latin typeface="Microsoft YaHei"/>
                <a:ea typeface="Microsoft YaHei"/>
              </a:rPr>
              <a:t>回流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" y="4919472"/>
            <a:ext cx="594360" cy="41148"/>
          </a:xfrm>
          <a:prstGeom prst="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084064"/>
            <a:ext cx="8778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>
                <a:solidFill>
                  <a:srgbClr val="043D93"/>
                </a:solidFill>
                <a:latin typeface="Microsoft YaHei"/>
                <a:ea typeface="Microsoft YaHei"/>
              </a:rPr>
              <a:t>不只问是否更快，还要问如何证明正确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模式一  /  瀑布与 V 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06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用阶段控制复杂度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先建立基线，再逐阶段交付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2084831"/>
            <a:ext cx="201168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203703"/>
            <a:ext cx="19568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0756C7"/>
                </a:solidFill>
                <a:latin typeface="Microsoft YaHei"/>
                <a:ea typeface="Microsoft YaHei"/>
              </a:rPr>
              <a:t>需求确认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6624" y="223113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6" y="2084831"/>
            <a:ext cx="201168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2203703"/>
            <a:ext cx="19568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0756C7"/>
                </a:solidFill>
                <a:latin typeface="Microsoft YaHei"/>
                <a:ea typeface="Microsoft YaHei"/>
              </a:rPr>
              <a:t>设计批准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896" y="223113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488" y="2084831"/>
            <a:ext cx="201168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2203703"/>
            <a:ext cx="19568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0756C7"/>
                </a:solidFill>
                <a:latin typeface="Microsoft YaHei"/>
                <a:ea typeface="Microsoft YaHei"/>
              </a:rPr>
              <a:t>开发实现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23113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084831"/>
            <a:ext cx="201168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51192" y="2203703"/>
            <a:ext cx="19568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0756C7"/>
                </a:solidFill>
                <a:latin typeface="Microsoft YaHei"/>
                <a:ea typeface="Microsoft YaHei"/>
              </a:rPr>
              <a:t>测试验收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23113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00032" y="2084831"/>
            <a:ext cx="201168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27464" y="2203703"/>
            <a:ext cx="19568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0756C7"/>
                </a:solidFill>
                <a:latin typeface="Microsoft YaHei"/>
                <a:ea typeface="Microsoft YaHei"/>
              </a:rPr>
              <a:t>发布交付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090672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V 型验证对应关系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51560" y="3739896"/>
            <a:ext cx="1874520" cy="877824"/>
          </a:xfrm>
          <a:prstGeom prst="line">
            <a:avLst/>
          </a:prstGeom>
          <a:ln w="19050">
            <a:solidFill>
              <a:srgbClr val="075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926080" y="3739896"/>
            <a:ext cx="1810512" cy="877824"/>
          </a:xfrm>
          <a:prstGeom prst="line">
            <a:avLst/>
          </a:prstGeom>
          <a:ln w="19050">
            <a:solidFill>
              <a:srgbClr val="075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95528" y="3419856"/>
            <a:ext cx="6766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43D93"/>
                </a:solidFill>
                <a:latin typeface="Microsoft YaHei"/>
                <a:ea typeface="Microsoft YaHei"/>
              </a:rPr>
              <a:t>需求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3744" y="4736592"/>
            <a:ext cx="80467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43D93"/>
                </a:solidFill>
                <a:latin typeface="Microsoft YaHei"/>
                <a:ea typeface="Microsoft YaHei"/>
              </a:rPr>
              <a:t>实现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3419856"/>
            <a:ext cx="6766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CA469"/>
                </a:solidFill>
                <a:latin typeface="Microsoft YaHei"/>
                <a:ea typeface="Microsoft YaHei"/>
              </a:rPr>
              <a:t>验收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3200400"/>
            <a:ext cx="24688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072" y="3364992"/>
            <a:ext cx="438912" cy="41148"/>
          </a:xfrm>
          <a:prstGeom prst="rect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3529584"/>
            <a:ext cx="21396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0E1825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32" name="Oval 31"/>
          <p:cNvSpPr/>
          <p:nvPr/>
        </p:nvSpPr>
        <p:spPr>
          <a:xfrm>
            <a:off x="6309360" y="4087368"/>
            <a:ext cx="68580" cy="68580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3986784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44052"/>
                </a:solidFill>
                <a:latin typeface="Microsoft YaHei"/>
                <a:ea typeface="Microsoft YaHei"/>
              </a:rPr>
              <a:t>范围可追踪</a:t>
            </a:r>
          </a:p>
        </p:txBody>
      </p:sp>
      <p:sp>
        <p:nvSpPr>
          <p:cNvPr id="34" name="Oval 33"/>
          <p:cNvSpPr/>
          <p:nvPr/>
        </p:nvSpPr>
        <p:spPr>
          <a:xfrm>
            <a:off x="6309360" y="4443984"/>
            <a:ext cx="68580" cy="68580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4343400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44052"/>
                </a:solidFill>
                <a:latin typeface="Microsoft YaHei"/>
                <a:ea typeface="Microsoft YaHei"/>
              </a:rPr>
              <a:t>责任易确认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42248" y="3200400"/>
            <a:ext cx="24688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06840" y="3364992"/>
            <a:ext cx="438912" cy="41148"/>
          </a:xfrm>
          <a:prstGeom prst="rect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6840" y="3529584"/>
            <a:ext cx="21396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0E1825"/>
                </a:solidFill>
                <a:latin typeface="Microsoft YaHei"/>
                <a:ea typeface="Microsoft YaHei"/>
              </a:rPr>
              <a:t>限制</a:t>
            </a:r>
          </a:p>
        </p:txBody>
      </p:sp>
      <p:sp>
        <p:nvSpPr>
          <p:cNvPr id="39" name="Oval 38"/>
          <p:cNvSpPr/>
          <p:nvPr/>
        </p:nvSpPr>
        <p:spPr>
          <a:xfrm>
            <a:off x="9025128" y="4087368"/>
            <a:ext cx="68580" cy="68580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19" y="3986784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44052"/>
                </a:solidFill>
                <a:latin typeface="Microsoft YaHei"/>
                <a:ea typeface="Microsoft YaHei"/>
              </a:rPr>
              <a:t>反馈相对晚</a:t>
            </a:r>
          </a:p>
        </p:txBody>
      </p:sp>
      <p:sp>
        <p:nvSpPr>
          <p:cNvPr id="41" name="Oval 40"/>
          <p:cNvSpPr/>
          <p:nvPr/>
        </p:nvSpPr>
        <p:spPr>
          <a:xfrm>
            <a:off x="9025128" y="4443984"/>
            <a:ext cx="68580" cy="68580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19" y="4343400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44052"/>
                </a:solidFill>
                <a:latin typeface="Microsoft YaHei"/>
                <a:ea typeface="Microsoft YaHei"/>
              </a:rPr>
              <a:t>变更成本高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模式一  /  流程全景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07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阶段式交付全景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案例：客户反馈功能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37943"/>
            <a:ext cx="8412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参与角色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953512"/>
            <a:ext cx="8412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工作流程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178808"/>
            <a:ext cx="8412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形成产物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18488" y="1773936"/>
            <a:ext cx="0" cy="3072384"/>
          </a:xfrm>
          <a:prstGeom prst="line">
            <a:avLst/>
          </a:prstGeom>
          <a:ln w="1270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10512" y="1682496"/>
            <a:ext cx="1779422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7943" y="1801368"/>
            <a:ext cx="17245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业务负责人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934" y="1828800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54526" y="1682496"/>
            <a:ext cx="1779422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1958" y="1801368"/>
            <a:ext cx="17245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需求分析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3948" y="1828800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98540" y="1682496"/>
            <a:ext cx="1779422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25972" y="1801368"/>
            <a:ext cx="17245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设计开发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7963" y="1828800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42555" y="1682496"/>
            <a:ext cx="1779422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9987" y="1801368"/>
            <a:ext cx="17245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1977" y="1828800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86569" y="1682496"/>
            <a:ext cx="1779422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14001" y="1801368"/>
            <a:ext cx="17245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发布负责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10512" y="2788920"/>
            <a:ext cx="145542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37943" y="2907791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范围确认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65931" y="293522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30524" y="2788920"/>
            <a:ext cx="145542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7955" y="2907791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需求基线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5944" y="293522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50536" y="2788920"/>
            <a:ext cx="145542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7968" y="2907791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设计评审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5956" y="293522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0548" y="2788920"/>
            <a:ext cx="145542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7980" y="2907791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编码实现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5968" y="293522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90560" y="2788920"/>
            <a:ext cx="145542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17991" y="2907791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测试验收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45980" y="293522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10572" y="2788920"/>
            <a:ext cx="145542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38003" y="2907791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发布批准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10512" y="4005072"/>
            <a:ext cx="1779422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37943" y="4123944"/>
            <a:ext cx="17245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需求规格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89934" y="415137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54526" y="4005072"/>
            <a:ext cx="1779422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81958" y="4123944"/>
            <a:ext cx="17245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设计说明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33948" y="415137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98540" y="4005072"/>
            <a:ext cx="1779422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25972" y="4123944"/>
            <a:ext cx="17245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测试用例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77963" y="415137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42555" y="4005072"/>
            <a:ext cx="1779422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69987" y="4123944"/>
            <a:ext cx="17245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验收记录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21977" y="415137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86569" y="4005072"/>
            <a:ext cx="1779422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14001" y="4123944"/>
            <a:ext cx="17245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批准记录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10512" y="5120640"/>
            <a:ext cx="5074920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37943" y="5180076"/>
            <a:ext cx="502005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只实现：提交反馈 + 查看列表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模式一  /  拟真产物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08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产物样例：需求条目与设计说明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基线先稳定，实施再展开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65376"/>
            <a:ext cx="5138928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65376"/>
            <a:ext cx="5138928" cy="365760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956816"/>
            <a:ext cx="48828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需求规格说明  /  v1.0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" y="2414016"/>
            <a:ext cx="667512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73452"/>
            <a:ext cx="612647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RQ-FB-01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2423160"/>
            <a:ext cx="39684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用户可提交反馈内容。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5528" y="2798064"/>
            <a:ext cx="4864608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5528" y="2907792"/>
            <a:ext cx="667512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67228"/>
            <a:ext cx="612647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RQ-FB-02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2916936"/>
            <a:ext cx="39684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管理员可查看反馈列表。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5528" y="3291840"/>
            <a:ext cx="4864608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95528" y="3401568"/>
            <a:ext cx="530352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61004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OUT-01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9072" y="3410712"/>
            <a:ext cx="39684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不含通知与状态处理。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5528" y="3785616"/>
            <a:ext cx="4864608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81344" y="1865376"/>
            <a:ext cx="5138928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81344" y="1865376"/>
            <a:ext cx="5138928" cy="365760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1956816"/>
            <a:ext cx="48828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设计说明节选  /  v1.0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18504" y="2414016"/>
            <a:ext cx="256032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473452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2048" y="2423160"/>
            <a:ext cx="39684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反馈提交页、反馈列表页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18504" y="2798064"/>
            <a:ext cx="4864607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318504" y="2907792"/>
            <a:ext cx="393192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5936" y="2967228"/>
            <a:ext cx="3383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2916936"/>
            <a:ext cx="39684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反馈内容、提交时间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18504" y="3291840"/>
            <a:ext cx="4864607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318504" y="3401568"/>
            <a:ext cx="393192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5936" y="3461004"/>
            <a:ext cx="3383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RULE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42048" y="3410712"/>
            <a:ext cx="39684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列表仅显示已提交记录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318504" y="3785616"/>
            <a:ext cx="4864607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58368" y="5641848"/>
            <a:ext cx="1993392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701284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可评审的范围基线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模式一  /  拟真产物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09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产物样例：需求如何被验证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V 模型强调测试与前序承诺对应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1965960"/>
            <a:ext cx="9272015" cy="566928"/>
          </a:xfrm>
          <a:prstGeom prst="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075688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需求/边界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" y="2075688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验证编号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5" y="2075688"/>
            <a:ext cx="407822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检查结果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075688"/>
            <a:ext cx="98755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2532888"/>
            <a:ext cx="9272015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624328"/>
            <a:ext cx="17373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344052"/>
                </a:solidFill>
                <a:latin typeface="Microsoft YaHei"/>
                <a:ea typeface="Microsoft YaHei"/>
              </a:rPr>
              <a:t>RQ-FB-01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336" y="2624328"/>
            <a:ext cx="17373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44052"/>
                </a:solidFill>
                <a:latin typeface="Microsoft YaHei"/>
                <a:ea typeface="Microsoft YaHei"/>
              </a:rPr>
              <a:t>TC-FB-01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5" y="2624328"/>
            <a:ext cx="407822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44052"/>
                </a:solidFill>
                <a:latin typeface="Microsoft YaHei"/>
                <a:ea typeface="Microsoft YaHei"/>
              </a:rPr>
              <a:t>提交后生成反馈记录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624328"/>
            <a:ext cx="98755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0CA469"/>
                </a:solidFill>
                <a:latin typeface="Microsoft YaHei"/>
                <a:ea typeface="Microsoft YaHei"/>
              </a:rPr>
              <a:t>通过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" y="3099815"/>
            <a:ext cx="9272015" cy="566928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191256"/>
            <a:ext cx="17373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344052"/>
                </a:solidFill>
                <a:latin typeface="Microsoft YaHei"/>
                <a:ea typeface="Microsoft YaHei"/>
              </a:rPr>
              <a:t>RQ-FB-02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8336" y="3191256"/>
            <a:ext cx="17373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44052"/>
                </a:solidFill>
                <a:latin typeface="Microsoft YaHei"/>
                <a:ea typeface="Microsoft YaHei"/>
              </a:rPr>
              <a:t>TC-FB-02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5" y="3191256"/>
            <a:ext cx="407822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44052"/>
                </a:solidFill>
                <a:latin typeface="Microsoft YaHei"/>
                <a:ea typeface="Microsoft YaHei"/>
              </a:rPr>
              <a:t>列表可看到已提交记录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191256"/>
            <a:ext cx="98755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0CA469"/>
                </a:solidFill>
                <a:latin typeface="Microsoft YaHei"/>
                <a:ea typeface="Microsoft YaHei"/>
              </a:rPr>
              <a:t>通过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" y="3666744"/>
            <a:ext cx="9272015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758183"/>
            <a:ext cx="17373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344052"/>
                </a:solidFill>
                <a:latin typeface="Microsoft YaHei"/>
                <a:ea typeface="Microsoft YaHei"/>
              </a:rPr>
              <a:t>OUT-01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88336" y="3758183"/>
            <a:ext cx="17373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44052"/>
                </a:solidFill>
                <a:latin typeface="Microsoft YaHei"/>
                <a:ea typeface="Microsoft YaHei"/>
              </a:rPr>
              <a:t>RV-FB-01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5" y="3758183"/>
            <a:ext cx="407822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44052"/>
                </a:solidFill>
                <a:latin typeface="Microsoft YaHei"/>
                <a:ea typeface="Microsoft YaHei"/>
              </a:rPr>
              <a:t>未出现通知或状态项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758183"/>
            <a:ext cx="98755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0CA469"/>
                </a:solidFill>
                <a:latin typeface="Microsoft YaHei"/>
                <a:ea typeface="Microsoft YaHei"/>
              </a:rPr>
              <a:t>通过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" y="1965960"/>
            <a:ext cx="9272015" cy="2267712"/>
          </a:xfrm>
          <a:prstGeom prst="rect">
            <a:avLst/>
          </a:prstGeom>
          <a:noFill/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148072"/>
            <a:ext cx="594360" cy="41148"/>
          </a:xfrm>
          <a:prstGeom prst="rect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312664"/>
            <a:ext cx="8046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>
                <a:solidFill>
                  <a:srgbClr val="0CA469"/>
                </a:solidFill>
                <a:latin typeface="Microsoft YaHei"/>
                <a:ea typeface="Microsoft YaHei"/>
              </a:rPr>
              <a:t>每项范围承诺，都能对应验证证据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模式一  /  质量责任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10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阶段门禁由谁把关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质量不只是测试部门的工作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2971800"/>
            <a:ext cx="10186416" cy="0"/>
          </a:xfrm>
          <a:prstGeom prst="line">
            <a:avLst/>
          </a:prstGeom>
          <a:ln w="1905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96695" y="2770632"/>
            <a:ext cx="402336" cy="402336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289864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57984"/>
            <a:ext cx="2564891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756C7"/>
                </a:solidFill>
                <a:latin typeface="Microsoft YaHei"/>
                <a:ea typeface="Microsoft YaHei"/>
              </a:rPr>
              <a:t>需求评审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5" y="3456432"/>
            <a:ext cx="26746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业务负责人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确认范围</a:t>
            </a:r>
          </a:p>
        </p:txBody>
      </p:sp>
      <p:sp>
        <p:nvSpPr>
          <p:cNvPr id="14" name="Oval 13"/>
          <p:cNvSpPr/>
          <p:nvPr/>
        </p:nvSpPr>
        <p:spPr>
          <a:xfrm>
            <a:off x="3671315" y="2770632"/>
            <a:ext cx="402336" cy="402336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1315" y="289864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4427" y="2157984"/>
            <a:ext cx="2564891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756C7"/>
                </a:solidFill>
                <a:latin typeface="Microsoft YaHei"/>
                <a:ea typeface="Microsoft YaHei"/>
              </a:rPr>
              <a:t>设计评审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6996" y="3456432"/>
            <a:ext cx="26746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技术负责人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批准方案</a:t>
            </a:r>
          </a:p>
        </p:txBody>
      </p:sp>
      <p:sp>
        <p:nvSpPr>
          <p:cNvPr id="18" name="Oval 17"/>
          <p:cNvSpPr/>
          <p:nvPr/>
        </p:nvSpPr>
        <p:spPr>
          <a:xfrm>
            <a:off x="6345936" y="2770632"/>
            <a:ext cx="402336" cy="402336"/>
          </a:xfrm>
          <a:prstGeom prst="ellipse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89864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8" y="2157984"/>
            <a:ext cx="2564891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CA469"/>
                </a:solidFill>
                <a:latin typeface="Microsoft YaHei"/>
                <a:ea typeface="Microsoft YaHei"/>
              </a:rPr>
              <a:t>测试验收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3456432"/>
            <a:ext cx="26746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测试负责人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提供证据</a:t>
            </a:r>
          </a:p>
        </p:txBody>
      </p:sp>
      <p:sp>
        <p:nvSpPr>
          <p:cNvPr id="22" name="Oval 21"/>
          <p:cNvSpPr/>
          <p:nvPr/>
        </p:nvSpPr>
        <p:spPr>
          <a:xfrm>
            <a:off x="9020555" y="2770632"/>
            <a:ext cx="402336" cy="402336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20555" y="289864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3667" y="2157984"/>
            <a:ext cx="2564891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F38321"/>
                </a:solidFill>
                <a:latin typeface="Microsoft YaHei"/>
                <a:ea typeface="Microsoft YaHei"/>
              </a:rPr>
              <a:t>发布决定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46236" y="3456432"/>
            <a:ext cx="26746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发布责任人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批准上线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28032"/>
            <a:ext cx="10643616" cy="603504"/>
          </a:xfrm>
          <a:prstGeom prst="round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4992624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质量来自基线、评审与对应验证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模式一  /  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11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稳定范围下的强控制方式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它解决的是责任可追踪与结果可验收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057400"/>
            <a:ext cx="4974336" cy="2468880"/>
          </a:xfrm>
          <a:prstGeom prst="roundRect">
            <a:avLst/>
          </a:prstGeom>
          <a:solidFill>
            <a:srgbClr val="F1F6FC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7" y="2221992"/>
            <a:ext cx="438912" cy="41148"/>
          </a:xfrm>
          <a:prstGeom prst="rect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386584"/>
            <a:ext cx="46451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0E1825"/>
                </a:solidFill>
                <a:latin typeface="Microsoft YaHei"/>
                <a:ea typeface="Microsoft YaHei"/>
              </a:rPr>
              <a:t>适合发挥价值时</a:t>
            </a:r>
          </a:p>
        </p:txBody>
      </p:sp>
      <p:sp>
        <p:nvSpPr>
          <p:cNvPr id="12" name="Oval 11"/>
          <p:cNvSpPr/>
          <p:nvPr/>
        </p:nvSpPr>
        <p:spPr>
          <a:xfrm>
            <a:off x="859536" y="2944368"/>
            <a:ext cx="68580" cy="68580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2843784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范围相对稳定</a:t>
            </a:r>
          </a:p>
        </p:txBody>
      </p:sp>
      <p:sp>
        <p:nvSpPr>
          <p:cNvPr id="14" name="Oval 13"/>
          <p:cNvSpPr/>
          <p:nvPr/>
        </p:nvSpPr>
        <p:spPr>
          <a:xfrm>
            <a:off x="859536" y="3300984"/>
            <a:ext cx="68580" cy="68580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7" y="3200400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审查要求明确</a:t>
            </a:r>
          </a:p>
        </p:txBody>
      </p:sp>
      <p:sp>
        <p:nvSpPr>
          <p:cNvPr id="16" name="Oval 15"/>
          <p:cNvSpPr/>
          <p:nvPr/>
        </p:nvSpPr>
        <p:spPr>
          <a:xfrm>
            <a:off x="859536" y="3657599"/>
            <a:ext cx="68580" cy="68580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7" y="3557015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交付需要追踪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057400"/>
            <a:ext cx="4974336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1072" y="2221992"/>
            <a:ext cx="438912" cy="41148"/>
          </a:xfrm>
          <a:prstGeom prst="rect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2386584"/>
            <a:ext cx="46451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0E1825"/>
                </a:solidFill>
                <a:latin typeface="Microsoft YaHei"/>
                <a:ea typeface="Microsoft YaHei"/>
              </a:rPr>
              <a:t>可能遇到压力时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2944368"/>
            <a:ext cx="68580" cy="68580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843784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用户反馈频繁</a:t>
            </a:r>
          </a:p>
        </p:txBody>
      </p:sp>
      <p:sp>
        <p:nvSpPr>
          <p:cNvPr id="23" name="Oval 22"/>
          <p:cNvSpPr/>
          <p:nvPr/>
        </p:nvSpPr>
        <p:spPr>
          <a:xfrm>
            <a:off x="6309360" y="3300984"/>
            <a:ext cx="68580" cy="68580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200400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变更不断进入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3657599"/>
            <a:ext cx="68580" cy="68580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557015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重新确认耗时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" y="5120640"/>
            <a:ext cx="594360" cy="41148"/>
          </a:xfrm>
          <a:prstGeom prst="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5285231"/>
            <a:ext cx="9875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100" b="1">
                <a:solidFill>
                  <a:srgbClr val="043D93"/>
                </a:solidFill>
                <a:latin typeface="Microsoft YaHei"/>
                <a:ea typeface="Microsoft YaHei"/>
              </a:rPr>
              <a:t>后续模式不是丢弃基线，而是让反馈更早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模式二  /  敏捷与 DevOps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12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让反馈更早到达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以可工作的增量验证价值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2798064"/>
            <a:ext cx="566928" cy="566928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90088"/>
            <a:ext cx="56692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900" b="1">
                <a:solidFill>
                  <a:srgbClr val="0E1825"/>
                </a:solidFill>
                <a:latin typeface="Microsoft YaHei"/>
                <a:ea typeface="Microsoft YaHei"/>
              </a:rPr>
              <a:t>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584448"/>
            <a:ext cx="11338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故事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35608" y="3090672"/>
            <a:ext cx="1380744" cy="0"/>
          </a:xfrm>
          <a:prstGeom prst="line">
            <a:avLst/>
          </a:prstGeom>
          <a:ln w="19050">
            <a:solidFill>
              <a:srgbClr val="075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926079" y="2798064"/>
            <a:ext cx="566928" cy="566928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2990088"/>
            <a:ext cx="56692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1" y="2148840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900" b="1">
                <a:solidFill>
                  <a:srgbClr val="0E1825"/>
                </a:solidFill>
                <a:latin typeface="Microsoft YaHei"/>
                <a:ea typeface="Microsoft YaHei"/>
              </a:rPr>
              <a:t>构建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584448"/>
            <a:ext cx="11338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增量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20439" y="3090672"/>
            <a:ext cx="1380744" cy="0"/>
          </a:xfrm>
          <a:prstGeom prst="line">
            <a:avLst/>
          </a:prstGeom>
          <a:ln w="19050">
            <a:solidFill>
              <a:srgbClr val="075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010912" y="2798064"/>
            <a:ext cx="566928" cy="566928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10912" y="2990088"/>
            <a:ext cx="56692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9744" y="2148840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900" b="1">
                <a:solidFill>
                  <a:srgbClr val="0E1825"/>
                </a:solidFill>
                <a:latin typeface="Microsoft YaHei"/>
                <a:ea typeface="Microsoft YaHei"/>
              </a:rPr>
              <a:t>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3584448"/>
            <a:ext cx="11338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证据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05272" y="3090672"/>
            <a:ext cx="1380744" cy="0"/>
          </a:xfrm>
          <a:prstGeom prst="line">
            <a:avLst/>
          </a:prstGeom>
          <a:ln w="19050">
            <a:solidFill>
              <a:srgbClr val="075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095744" y="2798064"/>
            <a:ext cx="566928" cy="566928"/>
          </a:xfrm>
          <a:prstGeom prst="ellipse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95744" y="2990088"/>
            <a:ext cx="56692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2148840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900" b="1">
                <a:solidFill>
                  <a:srgbClr val="0E1825"/>
                </a:solidFill>
                <a:latin typeface="Microsoft YaHei"/>
                <a:ea typeface="Microsoft YaHei"/>
              </a:rPr>
              <a:t>发布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3584448"/>
            <a:ext cx="11338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门禁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90104" y="3090672"/>
            <a:ext cx="1380744" cy="0"/>
          </a:xfrm>
          <a:prstGeom prst="line">
            <a:avLst/>
          </a:prstGeom>
          <a:ln w="19050">
            <a:solidFill>
              <a:srgbClr val="075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180576" y="2798064"/>
            <a:ext cx="566928" cy="566928"/>
          </a:xfrm>
          <a:prstGeom prst="ellipse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0576" y="2990088"/>
            <a:ext cx="56692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9407" y="2148840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900" b="1">
                <a:solidFill>
                  <a:srgbClr val="0E1825"/>
                </a:solidFill>
                <a:latin typeface="Microsoft YaHei"/>
                <a:ea typeface="Microsoft YaHei"/>
              </a:rPr>
              <a:t>反馈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06255" y="3584448"/>
            <a:ext cx="11338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回流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1115568" y="4206240"/>
            <a:ext cx="8302752" cy="0"/>
          </a:xfrm>
          <a:prstGeom prst="line">
            <a:avLst/>
          </a:prstGeom>
          <a:ln w="15240">
            <a:solidFill>
              <a:srgbClr val="0CA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785615" y="4370832"/>
            <a:ext cx="43708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CA469"/>
                </a:solidFill>
                <a:latin typeface="Microsoft YaHei"/>
                <a:ea typeface="Microsoft YaHei"/>
              </a:rPr>
              <a:t>运行反馈回到下一轮计划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120640"/>
            <a:ext cx="594360" cy="41148"/>
          </a:xfrm>
          <a:prstGeom prst="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285231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100" b="1">
                <a:solidFill>
                  <a:srgbClr val="043D93"/>
                </a:solidFill>
                <a:latin typeface="Microsoft YaHei"/>
                <a:ea typeface="Microsoft YaHei"/>
              </a:rPr>
              <a:t>不是少做质量，而是更频繁验证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模式二  /  流程全景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13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迭代式交付全景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案例：客户反馈功能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37943"/>
            <a:ext cx="8412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参与角色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953512"/>
            <a:ext cx="8412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工作流程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178808"/>
            <a:ext cx="8412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形成产物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18488" y="1773936"/>
            <a:ext cx="0" cy="3072384"/>
          </a:xfrm>
          <a:prstGeom prst="line">
            <a:avLst/>
          </a:prstGeom>
          <a:ln w="1270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10512" y="1682496"/>
            <a:ext cx="1779422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7943" y="1801368"/>
            <a:ext cx="17245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产品负责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934" y="1828800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54526" y="1682496"/>
            <a:ext cx="1779422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1958" y="1801368"/>
            <a:ext cx="17245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开发团队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3948" y="1828800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98540" y="1682496"/>
            <a:ext cx="1779422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25972" y="1801368"/>
            <a:ext cx="17245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测试协作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7963" y="1828800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42555" y="1682496"/>
            <a:ext cx="1779422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9987" y="1801368"/>
            <a:ext cx="17245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运维发布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1977" y="1828800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86569" y="1682496"/>
            <a:ext cx="1779422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14001" y="1801368"/>
            <a:ext cx="17245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业务评审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10512" y="2788920"/>
            <a:ext cx="145542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37943" y="2907791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故事入列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65931" y="293522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30524" y="2788920"/>
            <a:ext cx="145542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7955" y="2907791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验收澄清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5944" y="293522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50536" y="2788920"/>
            <a:ext cx="145542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7968" y="2907791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开发测试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5956" y="293522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0548" y="2788920"/>
            <a:ext cx="145542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7980" y="2907791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流水线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5968" y="293522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90560" y="2788920"/>
            <a:ext cx="145542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17991" y="2907791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演示反馈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45980" y="293522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10572" y="2788920"/>
            <a:ext cx="145542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38003" y="2907791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发布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10512" y="4005072"/>
            <a:ext cx="1779422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37943" y="4123944"/>
            <a:ext cx="17245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用户故事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89934" y="415137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54526" y="4005072"/>
            <a:ext cx="1779422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81958" y="4123944"/>
            <a:ext cx="17245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验收标准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33948" y="415137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98540" y="4005072"/>
            <a:ext cx="1779422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25972" y="4123944"/>
            <a:ext cx="17245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任务状态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77963" y="415137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42555" y="4005072"/>
            <a:ext cx="1779422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69987" y="4123944"/>
            <a:ext cx="17245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验证记录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21977" y="415137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86569" y="4005072"/>
            <a:ext cx="1779422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14001" y="4123944"/>
            <a:ext cx="172455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反馈待办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10512" y="5120640"/>
            <a:ext cx="5074920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37943" y="5180076"/>
            <a:ext cx="502005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本轮增量：提交反馈 + 查看列表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881360" y="4526280"/>
            <a:ext cx="0" cy="704088"/>
          </a:xfrm>
          <a:prstGeom prst="line">
            <a:avLst/>
          </a:prstGeom>
          <a:ln w="12700">
            <a:solidFill>
              <a:srgbClr val="0CA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3950208" y="5230368"/>
            <a:ext cx="6931152" cy="0"/>
          </a:xfrm>
          <a:prstGeom prst="line">
            <a:avLst/>
          </a:prstGeom>
          <a:ln w="12700">
            <a:solidFill>
              <a:srgbClr val="0CA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模式二  /  拟真产物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14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产物样例：故事、验收标准与任务板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价值表达被拆成短周期可检查工作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47088"/>
            <a:ext cx="4956048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4956048" cy="365760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938528"/>
            <a:ext cx="470001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用户故事与验收标准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" y="2395728"/>
            <a:ext cx="461772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55164"/>
            <a:ext cx="4069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ST-01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2404872"/>
            <a:ext cx="37856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用户提交反馈，表达意见。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5528" y="2779776"/>
            <a:ext cx="4681727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5528" y="2889504"/>
            <a:ext cx="461772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48940"/>
            <a:ext cx="4069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AC-01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2898648"/>
            <a:ext cx="37856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提交后系统保存反馈。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5528" y="3273552"/>
            <a:ext cx="4681727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95528" y="3383280"/>
            <a:ext cx="461772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42716"/>
            <a:ext cx="4069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AC-02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9072" y="3392424"/>
            <a:ext cx="37856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管理员列表可见记录。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5528" y="3767328"/>
            <a:ext cx="4681727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035040" y="1847088"/>
            <a:ext cx="5285232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2048256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0756C7"/>
                </a:solidFill>
                <a:latin typeface="Microsoft YaHei"/>
                <a:ea typeface="Microsoft YaHei"/>
              </a:rPr>
              <a:t>迭代任务板  /  当前增量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4496" y="2532888"/>
            <a:ext cx="841248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1928" y="2592324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TODO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24344" y="2578608"/>
            <a:ext cx="3383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44052"/>
                </a:solidFill>
                <a:latin typeface="Microsoft YaHei"/>
                <a:ea typeface="Microsoft YaHei"/>
              </a:rPr>
              <a:t>提交页体验检查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3227832"/>
            <a:ext cx="841248" cy="310896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3287268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38321"/>
                </a:solidFill>
                <a:latin typeface="Microsoft YaHei"/>
                <a:ea typeface="Microsoft YaHei"/>
              </a:rPr>
              <a:t>DOING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24344" y="3273552"/>
            <a:ext cx="3383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44052"/>
                </a:solidFill>
                <a:latin typeface="Microsoft YaHei"/>
                <a:ea typeface="Microsoft YaHei"/>
              </a:rPr>
              <a:t>列表接口实现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4496" y="3922776"/>
            <a:ext cx="841248" cy="310896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39822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DONE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24344" y="3968496"/>
            <a:ext cx="3383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44052"/>
                </a:solidFill>
                <a:latin typeface="Microsoft YaHei"/>
                <a:ea typeface="Microsoft YaHei"/>
              </a:rPr>
              <a:t>验收测试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" y="5404104"/>
            <a:ext cx="594360" cy="41148"/>
          </a:xfrm>
          <a:prstGeom prst="rect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5568696"/>
            <a:ext cx="7187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000" b="1">
                <a:solidFill>
                  <a:srgbClr val="0CA469"/>
                </a:solidFill>
                <a:latin typeface="Microsoft YaHei"/>
                <a:ea typeface="Microsoft YaHei"/>
              </a:rPr>
              <a:t>每个增量都以验收条件结束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模式二  /  拟真产物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15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产物样例：流水线证据与发布反馈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变更更频繁，证据也更及时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65376"/>
            <a:ext cx="5010912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65376"/>
            <a:ext cx="5010912" cy="365760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956816"/>
            <a:ext cx="47548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Pipeline Run  #128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" y="2414016"/>
            <a:ext cx="461772" cy="310896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73452"/>
            <a:ext cx="4069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2423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构建通过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5528" y="2798064"/>
            <a:ext cx="4736592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5528" y="2907792"/>
            <a:ext cx="393192" cy="310896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67228"/>
            <a:ext cx="3383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291693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自动化测试 12 / 12 通过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5528" y="3291840"/>
            <a:ext cx="4736592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95528" y="3401568"/>
            <a:ext cx="461772" cy="310896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61004"/>
            <a:ext cx="4069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9072" y="34107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范围检查通过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5528" y="3785616"/>
            <a:ext cx="4736592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95528" y="3895344"/>
            <a:ext cx="598932" cy="310896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54780"/>
            <a:ext cx="5440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90448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发布审批待确认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5528" y="4279392"/>
            <a:ext cx="4736592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108192" y="1865376"/>
            <a:ext cx="5212080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08192" y="1865376"/>
            <a:ext cx="5212080" cy="365760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7" y="1956816"/>
            <a:ext cx="495604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演示反馈记录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352" y="2414016"/>
            <a:ext cx="256032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2784" y="2473452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8896" y="2423160"/>
            <a:ext cx="40416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反馈列表信息清晰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245352" y="2798064"/>
            <a:ext cx="4937759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245352" y="2907792"/>
            <a:ext cx="393192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2784" y="2967228"/>
            <a:ext cx="3383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NEXT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896" y="2916936"/>
            <a:ext cx="40416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统计建议进入后续讨论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245352" y="3291840"/>
            <a:ext cx="4937759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245352" y="3401568"/>
            <a:ext cx="461772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72784" y="3461004"/>
            <a:ext cx="4069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BOUND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68896" y="3410712"/>
            <a:ext cx="40416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本轮不扩大范围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245352" y="3785616"/>
            <a:ext cx="4937759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76656" y="5413248"/>
            <a:ext cx="3291840" cy="310896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" y="5472684"/>
            <a:ext cx="32369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38321"/>
                </a:solidFill>
                <a:latin typeface="Microsoft YaHei"/>
                <a:ea typeface="Microsoft YaHei"/>
              </a:rPr>
              <a:t>反馈可接收，不自动扩大本轮范围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模式二  /  质量责任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16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高频交付仍需门禁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自动验证提供证据，责任人决定发布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2971800"/>
            <a:ext cx="10186416" cy="0"/>
          </a:xfrm>
          <a:prstGeom prst="line">
            <a:avLst/>
          </a:prstGeom>
          <a:ln w="1905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96695" y="2770632"/>
            <a:ext cx="402336" cy="402336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289864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57984"/>
            <a:ext cx="2029967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756C7"/>
                </a:solidFill>
                <a:latin typeface="Microsoft YaHei"/>
                <a:ea typeface="Microsoft YaHei"/>
              </a:rPr>
              <a:t>验收标准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5" y="3456432"/>
            <a:ext cx="21396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产品负责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确认价值</a:t>
            </a:r>
          </a:p>
        </p:txBody>
      </p:sp>
      <p:sp>
        <p:nvSpPr>
          <p:cNvPr id="14" name="Oval 13"/>
          <p:cNvSpPr/>
          <p:nvPr/>
        </p:nvSpPr>
        <p:spPr>
          <a:xfrm>
            <a:off x="3136391" y="2770632"/>
            <a:ext cx="402336" cy="402336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36391" y="289864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503" y="2157984"/>
            <a:ext cx="2029967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756C7"/>
                </a:solidFill>
                <a:latin typeface="Microsoft YaHei"/>
                <a:ea typeface="Microsoft YaHei"/>
              </a:rPr>
              <a:t>开发测试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3456432"/>
            <a:ext cx="21396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团队持续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保障质量</a:t>
            </a:r>
          </a:p>
        </p:txBody>
      </p:sp>
      <p:sp>
        <p:nvSpPr>
          <p:cNvPr id="18" name="Oval 17"/>
          <p:cNvSpPr/>
          <p:nvPr/>
        </p:nvSpPr>
        <p:spPr>
          <a:xfrm>
            <a:off x="5276088" y="2770632"/>
            <a:ext cx="402336" cy="402336"/>
          </a:xfrm>
          <a:prstGeom prst="ellipse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289864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157984"/>
            <a:ext cx="2029967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CA469"/>
                </a:solidFill>
                <a:latin typeface="Microsoft YaHei"/>
                <a:ea typeface="Microsoft YaHei"/>
              </a:rPr>
              <a:t>流水线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1768" y="3456432"/>
            <a:ext cx="21396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自动验证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输出证据</a:t>
            </a:r>
          </a:p>
        </p:txBody>
      </p:sp>
      <p:sp>
        <p:nvSpPr>
          <p:cNvPr id="22" name="Oval 21"/>
          <p:cNvSpPr/>
          <p:nvPr/>
        </p:nvSpPr>
        <p:spPr>
          <a:xfrm>
            <a:off x="7415783" y="2770632"/>
            <a:ext cx="402336" cy="402336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15783" y="289864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2157984"/>
            <a:ext cx="2029967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F38321"/>
                </a:solidFill>
                <a:latin typeface="Microsoft YaHei"/>
                <a:ea typeface="Microsoft YaHei"/>
              </a:rPr>
              <a:t>发布授权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1464" y="3456432"/>
            <a:ext cx="21396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责任人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决定上线</a:t>
            </a:r>
          </a:p>
        </p:txBody>
      </p:sp>
      <p:sp>
        <p:nvSpPr>
          <p:cNvPr id="26" name="Oval 25"/>
          <p:cNvSpPr/>
          <p:nvPr/>
        </p:nvSpPr>
        <p:spPr>
          <a:xfrm>
            <a:off x="9555480" y="2770632"/>
            <a:ext cx="402336" cy="402336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289864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2157984"/>
            <a:ext cx="2029967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756C7"/>
                </a:solidFill>
                <a:latin typeface="Microsoft YaHei"/>
                <a:ea typeface="Microsoft YaHei"/>
              </a:rPr>
              <a:t>反馈排序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456432"/>
            <a:ext cx="21396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产品负责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决定后续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4828032"/>
            <a:ext cx="10643616" cy="603504"/>
          </a:xfrm>
          <a:prstGeom prst="round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992624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频繁发布，不等于自动发布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模式二  /  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17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缩短假设到反馈的距离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更早看见价值，也更早看见问题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29968"/>
            <a:ext cx="4992624" cy="2523744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" y="2194560"/>
            <a:ext cx="438912" cy="41148"/>
          </a:xfrm>
          <a:prstGeom prst="rect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359152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0E1825"/>
                </a:solidFill>
                <a:latin typeface="Microsoft YaHei"/>
                <a:ea typeface="Microsoft YaHei"/>
              </a:rPr>
              <a:t>获得的能力</a:t>
            </a:r>
          </a:p>
        </p:txBody>
      </p:sp>
      <p:sp>
        <p:nvSpPr>
          <p:cNvPr id="12" name="Oval 11"/>
          <p:cNvSpPr/>
          <p:nvPr/>
        </p:nvSpPr>
        <p:spPr>
          <a:xfrm>
            <a:off x="841247" y="2916936"/>
            <a:ext cx="68580" cy="68580"/>
          </a:xfrm>
          <a:prstGeom prst="ellipse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39" y="281635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更早验证价值</a:t>
            </a:r>
          </a:p>
        </p:txBody>
      </p:sp>
      <p:sp>
        <p:nvSpPr>
          <p:cNvPr id="14" name="Oval 13"/>
          <p:cNvSpPr/>
          <p:nvPr/>
        </p:nvSpPr>
        <p:spPr>
          <a:xfrm>
            <a:off x="841247" y="3273552"/>
            <a:ext cx="68580" cy="68580"/>
          </a:xfrm>
          <a:prstGeom prst="ellipse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39" y="31729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更快吸收变化</a:t>
            </a:r>
          </a:p>
        </p:txBody>
      </p:sp>
      <p:sp>
        <p:nvSpPr>
          <p:cNvPr id="16" name="Oval 15"/>
          <p:cNvSpPr/>
          <p:nvPr/>
        </p:nvSpPr>
        <p:spPr>
          <a:xfrm>
            <a:off x="841247" y="3630168"/>
            <a:ext cx="68580" cy="68580"/>
          </a:xfrm>
          <a:prstGeom prst="ellipse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39" y="352958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运行反馈回流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8192" y="2029968"/>
            <a:ext cx="4992624" cy="2523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3" y="2194560"/>
            <a:ext cx="438912" cy="41148"/>
          </a:xfrm>
          <a:prstGeom prst="rect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3" y="2359152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0E1825"/>
                </a:solidFill>
                <a:latin typeface="Microsoft YaHei"/>
                <a:ea typeface="Microsoft YaHei"/>
              </a:rPr>
              <a:t>需要的纪律</a:t>
            </a:r>
          </a:p>
        </p:txBody>
      </p:sp>
      <p:sp>
        <p:nvSpPr>
          <p:cNvPr id="21" name="Oval 20"/>
          <p:cNvSpPr/>
          <p:nvPr/>
        </p:nvSpPr>
        <p:spPr>
          <a:xfrm>
            <a:off x="6291072" y="2916936"/>
            <a:ext cx="68580" cy="68580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281635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持续整理待办</a:t>
            </a:r>
          </a:p>
        </p:txBody>
      </p:sp>
      <p:sp>
        <p:nvSpPr>
          <p:cNvPr id="23" name="Oval 22"/>
          <p:cNvSpPr/>
          <p:nvPr/>
        </p:nvSpPr>
        <p:spPr>
          <a:xfrm>
            <a:off x="6291072" y="3273552"/>
            <a:ext cx="68580" cy="68580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31729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自动验证可信</a:t>
            </a:r>
          </a:p>
        </p:txBody>
      </p:sp>
      <p:sp>
        <p:nvSpPr>
          <p:cNvPr id="25" name="Oval 24"/>
          <p:cNvSpPr/>
          <p:nvPr/>
        </p:nvSpPr>
        <p:spPr>
          <a:xfrm>
            <a:off x="6291072" y="3630168"/>
            <a:ext cx="68580" cy="68580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352958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发布权限清晰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" y="5157216"/>
            <a:ext cx="594360" cy="41148"/>
          </a:xfrm>
          <a:prstGeom prst="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21807"/>
            <a:ext cx="8046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>
                <a:solidFill>
                  <a:srgbClr val="043D93"/>
                </a:solidFill>
                <a:latin typeface="Microsoft YaHei"/>
                <a:ea typeface="Microsoft YaHei"/>
              </a:rPr>
              <a:t>加速必须建立在持续验证之上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模式三  /  AI Agent 协作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18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400" b="1">
                <a:solidFill>
                  <a:srgbClr val="0E1825"/>
                </a:solidFill>
                <a:latin typeface="Microsoft YaHei"/>
                <a:ea typeface="Microsoft YaHei"/>
              </a:rPr>
              <a:t>Agent 进入真实工作上下文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426464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当前可管理、可落地的协作定义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66543"/>
            <a:ext cx="5065776" cy="2432304"/>
          </a:xfrm>
          <a:prstGeom prst="roundRect">
            <a:avLst/>
          </a:prstGeom>
          <a:solidFill>
            <a:srgbClr val="F1F6FC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" y="2231136"/>
            <a:ext cx="438912" cy="41148"/>
          </a:xfrm>
          <a:prstGeom prst="rect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395727"/>
            <a:ext cx="473659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0E1825"/>
                </a:solidFill>
                <a:latin typeface="Microsoft YaHei"/>
                <a:ea typeface="Microsoft YaHei"/>
              </a:rPr>
              <a:t>Agent 可执行</a:t>
            </a:r>
          </a:p>
        </p:txBody>
      </p:sp>
      <p:sp>
        <p:nvSpPr>
          <p:cNvPr id="12" name="Oval 11"/>
          <p:cNvSpPr/>
          <p:nvPr/>
        </p:nvSpPr>
        <p:spPr>
          <a:xfrm>
            <a:off x="841247" y="2953511"/>
            <a:ext cx="68580" cy="68580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39" y="2852927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读取授权上下文</a:t>
            </a:r>
          </a:p>
        </p:txBody>
      </p:sp>
      <p:sp>
        <p:nvSpPr>
          <p:cNvPr id="14" name="Oval 13"/>
          <p:cNvSpPr/>
          <p:nvPr/>
        </p:nvSpPr>
        <p:spPr>
          <a:xfrm>
            <a:off x="841247" y="3310127"/>
            <a:ext cx="68580" cy="68580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39" y="3209544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完成明确任务</a:t>
            </a:r>
          </a:p>
        </p:txBody>
      </p:sp>
      <p:sp>
        <p:nvSpPr>
          <p:cNvPr id="16" name="Oval 15"/>
          <p:cNvSpPr/>
          <p:nvPr/>
        </p:nvSpPr>
        <p:spPr>
          <a:xfrm>
            <a:off x="841247" y="3666744"/>
            <a:ext cx="68580" cy="68580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39" y="3566159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修改产物并验证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2066543"/>
            <a:ext cx="5065776" cy="2432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7648" y="2231136"/>
            <a:ext cx="438912" cy="41148"/>
          </a:xfrm>
          <a:prstGeom prst="rect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395727"/>
            <a:ext cx="473659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0E1825"/>
                </a:solidFill>
                <a:latin typeface="Microsoft YaHei"/>
                <a:ea typeface="Microsoft YaHei"/>
              </a:rPr>
              <a:t>人必须负责</a:t>
            </a:r>
          </a:p>
        </p:txBody>
      </p:sp>
      <p:sp>
        <p:nvSpPr>
          <p:cNvPr id="21" name="Oval 20"/>
          <p:cNvSpPr/>
          <p:nvPr/>
        </p:nvSpPr>
        <p:spPr>
          <a:xfrm>
            <a:off x="6345936" y="2953511"/>
            <a:ext cx="68580" cy="68580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2852927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设定目标边界</a:t>
            </a:r>
          </a:p>
        </p:txBody>
      </p:sp>
      <p:sp>
        <p:nvSpPr>
          <p:cNvPr id="23" name="Oval 22"/>
          <p:cNvSpPr/>
          <p:nvPr/>
        </p:nvSpPr>
        <p:spPr>
          <a:xfrm>
            <a:off x="6345936" y="3310127"/>
            <a:ext cx="68580" cy="68580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3209544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审查验证证据</a:t>
            </a:r>
          </a:p>
        </p:txBody>
      </p:sp>
      <p:sp>
        <p:nvSpPr>
          <p:cNvPr id="25" name="Oval 24"/>
          <p:cNvSpPr/>
          <p:nvPr/>
        </p:nvSpPr>
        <p:spPr>
          <a:xfrm>
            <a:off x="6345936" y="3666744"/>
            <a:ext cx="68580" cy="68580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3566159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批准并承担结果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" y="5102352"/>
            <a:ext cx="594360" cy="41148"/>
          </a:xfrm>
          <a:prstGeom prst="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266944"/>
            <a:ext cx="709574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300" b="1">
                <a:solidFill>
                  <a:srgbClr val="043D93"/>
                </a:solidFill>
                <a:latin typeface="Microsoft YaHei"/>
                <a:ea typeface="Microsoft YaHei"/>
              </a:rPr>
              <a:t>可委派执行，不让渡责任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模式三  /  流程全景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19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Agent 协作全景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案例：客户反馈功能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37943"/>
            <a:ext cx="8412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参与角色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953512"/>
            <a:ext cx="8412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工作流程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178808"/>
            <a:ext cx="8412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形成产物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18488" y="1773936"/>
            <a:ext cx="0" cy="3072384"/>
          </a:xfrm>
          <a:prstGeom prst="line">
            <a:avLst/>
          </a:prstGeom>
          <a:ln w="1270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10512" y="1682496"/>
            <a:ext cx="2265426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37943" y="1801368"/>
            <a:ext cx="221056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业务决策者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5937" y="1828800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40530" y="1682496"/>
            <a:ext cx="2265426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7962" y="1801368"/>
            <a:ext cx="221056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技术责任人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956" y="1828800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0548" y="1682496"/>
            <a:ext cx="2265426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7980" y="1801368"/>
            <a:ext cx="221056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AI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5974" y="1828800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00566" y="1682496"/>
            <a:ext cx="2265426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7998" y="1801368"/>
            <a:ext cx="221056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审查发布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10512" y="2788920"/>
            <a:ext cx="1455420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37943" y="2907791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确认边界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65931" y="293522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30524" y="2788920"/>
            <a:ext cx="1455420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7955" y="2907791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提供上下文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5944" y="293522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50536" y="2788920"/>
            <a:ext cx="1455420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7968" y="2907791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形成任务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5956" y="293522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0548" y="2788920"/>
            <a:ext cx="1455420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97980" y="2907791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执行修改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5968" y="293522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90560" y="2788920"/>
            <a:ext cx="1455420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17991" y="2907791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工具验证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45980" y="293522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10572" y="2788920"/>
            <a:ext cx="1455420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38003" y="2907791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人工审批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10512" y="4005072"/>
            <a:ext cx="1455420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37943" y="4123944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范围约束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65931" y="415137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30524" y="4005072"/>
            <a:ext cx="1455420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57955" y="4123944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确认规格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85944" y="415137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50536" y="4005072"/>
            <a:ext cx="1455420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77968" y="4123944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任务清单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05956" y="415137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70548" y="4005072"/>
            <a:ext cx="1455420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97980" y="4123944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修改摘要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25968" y="415137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90560" y="4005072"/>
            <a:ext cx="1455420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17991" y="4123944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验证结果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45980" y="415137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10572" y="4005072"/>
            <a:ext cx="1455420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38003" y="4123944"/>
            <a:ext cx="14005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批准记录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10512" y="5120640"/>
            <a:ext cx="5074920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37943" y="5180076"/>
            <a:ext cx="502005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越界扩展必须被拦截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模式三  /  规格驱动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20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Agent 越能执行，规格越需显性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速度会放大输入质量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11095"/>
            <a:ext cx="4974336" cy="3090672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" y="2075688"/>
            <a:ext cx="438912" cy="41148"/>
          </a:xfrm>
          <a:prstGeom prst="rect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240279"/>
            <a:ext cx="46451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0E1825"/>
                </a:solidFill>
                <a:latin typeface="Microsoft YaHei"/>
                <a:ea typeface="Microsoft YaHei"/>
              </a:rPr>
              <a:t>输入模糊的风险</a:t>
            </a:r>
          </a:p>
        </p:txBody>
      </p:sp>
      <p:sp>
        <p:nvSpPr>
          <p:cNvPr id="12" name="Oval 11"/>
          <p:cNvSpPr/>
          <p:nvPr/>
        </p:nvSpPr>
        <p:spPr>
          <a:xfrm>
            <a:off x="841247" y="2798063"/>
            <a:ext cx="68580" cy="68580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39" y="2697479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模糊目标 -&gt; 快速偏航</a:t>
            </a:r>
          </a:p>
        </p:txBody>
      </p:sp>
      <p:sp>
        <p:nvSpPr>
          <p:cNvPr id="14" name="Oval 13"/>
          <p:cNvSpPr/>
          <p:nvPr/>
        </p:nvSpPr>
        <p:spPr>
          <a:xfrm>
            <a:off x="841247" y="3154679"/>
            <a:ext cx="68580" cy="68580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39" y="3054096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隐含范围 -&gt; 越界实现</a:t>
            </a:r>
          </a:p>
        </p:txBody>
      </p:sp>
      <p:sp>
        <p:nvSpPr>
          <p:cNvPr id="16" name="Oval 15"/>
          <p:cNvSpPr/>
          <p:nvPr/>
        </p:nvSpPr>
        <p:spPr>
          <a:xfrm>
            <a:off x="841247" y="3511295"/>
            <a:ext cx="68580" cy="68580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39" y="3410711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无验收 -&gt; 完成错觉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911095"/>
            <a:ext cx="4974336" cy="3090672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1072" y="2075688"/>
            <a:ext cx="438912" cy="41148"/>
          </a:xfrm>
          <a:prstGeom prst="rect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2240279"/>
            <a:ext cx="46451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0E1825"/>
                </a:solidFill>
                <a:latin typeface="Microsoft YaHei"/>
                <a:ea typeface="Microsoft YaHei"/>
              </a:rPr>
              <a:t>可审查的控制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2798063"/>
            <a:ext cx="68580" cy="68580"/>
          </a:xfrm>
          <a:prstGeom prst="ellipse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697479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确认规格</a:t>
            </a:r>
          </a:p>
        </p:txBody>
      </p:sp>
      <p:sp>
        <p:nvSpPr>
          <p:cNvPr id="23" name="Oval 22"/>
          <p:cNvSpPr/>
          <p:nvPr/>
        </p:nvSpPr>
        <p:spPr>
          <a:xfrm>
            <a:off x="6309360" y="3154679"/>
            <a:ext cx="68580" cy="68580"/>
          </a:xfrm>
          <a:prstGeom prst="ellipse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054096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列明排除约束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3511295"/>
            <a:ext cx="68580" cy="68580"/>
          </a:xfrm>
          <a:prstGeom prst="ellipse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410711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拆解任务与验证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394960"/>
            <a:ext cx="594360" cy="41148"/>
          </a:xfrm>
          <a:prstGeom prst="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559552"/>
            <a:ext cx="65653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>
                <a:solidFill>
                  <a:srgbClr val="043D93"/>
                </a:solidFill>
                <a:latin typeface="Microsoft YaHei"/>
                <a:ea typeface="Microsoft YaHei"/>
              </a:rPr>
              <a:t>让意图成为可审查输入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模式三  /  Spec-Driven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21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从聊天意图到可执行规格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基于公开实践观察到的共同趋势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01952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0756C7"/>
                </a:solidFill>
                <a:latin typeface="Microsoft YaHei"/>
                <a:ea typeface="Microsoft YaHei"/>
              </a:rPr>
              <a:t>共同趋势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304288"/>
            <a:ext cx="2519172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423160"/>
            <a:ext cx="24643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0756C7"/>
                </a:solidFill>
                <a:latin typeface="Microsoft YaHei"/>
                <a:ea typeface="Microsoft YaHei"/>
              </a:rPr>
              <a:t>意图显性化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4115" y="2450592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8708" y="2304288"/>
            <a:ext cx="2519172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6140" y="2423160"/>
            <a:ext cx="24643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0756C7"/>
                </a:solidFill>
                <a:latin typeface="Microsoft YaHei"/>
                <a:ea typeface="Microsoft YaHei"/>
              </a:rPr>
              <a:t>约束可检查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450592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62472" y="2304288"/>
            <a:ext cx="2519172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2423160"/>
            <a:ext cx="24643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0756C7"/>
                </a:solidFill>
                <a:latin typeface="Microsoft YaHei"/>
                <a:ea typeface="Microsoft YaHei"/>
              </a:rPr>
              <a:t>任务可追踪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81644" y="2450592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46236" y="2304288"/>
            <a:ext cx="2519172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3667" y="2423160"/>
            <a:ext cx="24643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0756C7"/>
                </a:solidFill>
                <a:latin typeface="Microsoft YaHei"/>
                <a:ea typeface="Microsoft YaHei"/>
              </a:rPr>
              <a:t>验证有证据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419856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F38321"/>
                </a:solidFill>
                <a:latin typeface="Microsoft YaHei"/>
                <a:ea typeface="Microsoft YaHei"/>
              </a:rPr>
              <a:t>事实边界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" y="3840480"/>
            <a:ext cx="3090672" cy="310896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3899916"/>
            <a:ext cx="30358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38321"/>
                </a:solidFill>
                <a:latin typeface="Microsoft YaHei"/>
                <a:ea typeface="Microsoft YaHei"/>
              </a:rPr>
              <a:t>不同框架路径不同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24528" y="3840480"/>
            <a:ext cx="3090672" cy="310896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3899916"/>
            <a:ext cx="30358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38321"/>
                </a:solidFill>
                <a:latin typeface="Microsoft YaHei"/>
                <a:ea typeface="Microsoft YaHei"/>
              </a:rPr>
              <a:t>不是统一行业标准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54112" y="3840480"/>
            <a:ext cx="3090672" cy="310896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81544" y="3899916"/>
            <a:ext cx="30358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38321"/>
                </a:solidFill>
                <a:latin typeface="Microsoft YaHei"/>
                <a:ea typeface="Microsoft YaHei"/>
              </a:rPr>
              <a:t>不必然替代传统文档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5001768"/>
            <a:ext cx="594360" cy="41148"/>
          </a:xfrm>
          <a:prstGeom prst="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166359"/>
            <a:ext cx="6766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>
                <a:solidFill>
                  <a:srgbClr val="043D93"/>
                </a:solidFill>
                <a:latin typeface="Microsoft YaHei"/>
                <a:ea typeface="Microsoft YaHei"/>
              </a:rPr>
              <a:t>规格更显性，执行更可控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833872"/>
            <a:ext cx="10424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>
                <a:solidFill>
                  <a:srgbClr val="6F7C8E"/>
                </a:solidFill>
                <a:latin typeface="Microsoft YaHei"/>
                <a:ea typeface="Microsoft YaHei"/>
              </a:rPr>
              <a:t>来源：Spec Kit、OpenSpec、Superpowers 官方公开资料，访问于 2026-05-27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模式三  /  规格驱动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22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客户反馈功能：从目标到证据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以确认范围为起点，以审批记录为终点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7824" y="3008376"/>
            <a:ext cx="10186416" cy="0"/>
          </a:xfrm>
          <a:prstGeom prst="line">
            <a:avLst/>
          </a:prstGeom>
          <a:ln w="2540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32688" y="2770632"/>
            <a:ext cx="493776" cy="493776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944368"/>
            <a:ext cx="49377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17627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756C7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5844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44052"/>
                </a:solidFill>
                <a:latin typeface="Microsoft YaHei"/>
                <a:ea typeface="Microsoft YaHei"/>
              </a:rPr>
              <a:t>收集意见</a:t>
            </a:r>
          </a:p>
        </p:txBody>
      </p:sp>
      <p:sp>
        <p:nvSpPr>
          <p:cNvPr id="14" name="Oval 13"/>
          <p:cNvSpPr/>
          <p:nvPr/>
        </p:nvSpPr>
        <p:spPr>
          <a:xfrm>
            <a:off x="2999232" y="2770632"/>
            <a:ext cx="493776" cy="493776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9232" y="2944368"/>
            <a:ext cx="49377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39" y="217627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756C7"/>
                </a:solidFill>
                <a:latin typeface="Microsoft YaHei"/>
                <a:ea typeface="Microsoft YaHei"/>
              </a:rPr>
              <a:t>范围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35844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44052"/>
                </a:solidFill>
                <a:latin typeface="Microsoft YaHei"/>
                <a:ea typeface="Microsoft YaHei"/>
              </a:rPr>
              <a:t>提交 / 列表</a:t>
            </a:r>
          </a:p>
        </p:txBody>
      </p:sp>
      <p:sp>
        <p:nvSpPr>
          <p:cNvPr id="18" name="Oval 17"/>
          <p:cNvSpPr/>
          <p:nvPr/>
        </p:nvSpPr>
        <p:spPr>
          <a:xfrm>
            <a:off x="5065775" y="2770632"/>
            <a:ext cx="493776" cy="493776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65775" y="2944368"/>
            <a:ext cx="49377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1183" y="217627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F38321"/>
                </a:solidFill>
                <a:latin typeface="Microsoft YaHei"/>
                <a:ea typeface="Microsoft YaHei"/>
              </a:rPr>
              <a:t>约束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5" y="35844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44052"/>
                </a:solidFill>
                <a:latin typeface="Microsoft YaHei"/>
                <a:ea typeface="Microsoft YaHei"/>
              </a:rPr>
              <a:t>不含扩展</a:t>
            </a:r>
          </a:p>
        </p:txBody>
      </p:sp>
      <p:sp>
        <p:nvSpPr>
          <p:cNvPr id="22" name="Oval 21"/>
          <p:cNvSpPr/>
          <p:nvPr/>
        </p:nvSpPr>
        <p:spPr>
          <a:xfrm>
            <a:off x="7132319" y="2770632"/>
            <a:ext cx="493776" cy="493776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19" y="2944368"/>
            <a:ext cx="49377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7" y="217627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756C7"/>
                </a:solidFill>
                <a:latin typeface="Microsoft YaHei"/>
                <a:ea typeface="Microsoft YaHei"/>
              </a:rPr>
              <a:t>任务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19" y="35844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44052"/>
                </a:solidFill>
                <a:latin typeface="Microsoft YaHei"/>
                <a:ea typeface="Microsoft YaHei"/>
              </a:rPr>
              <a:t>实现并验证</a:t>
            </a:r>
          </a:p>
        </p:txBody>
      </p:sp>
      <p:sp>
        <p:nvSpPr>
          <p:cNvPr id="26" name="Oval 25"/>
          <p:cNvSpPr/>
          <p:nvPr/>
        </p:nvSpPr>
        <p:spPr>
          <a:xfrm>
            <a:off x="9198863" y="2770632"/>
            <a:ext cx="493776" cy="493776"/>
          </a:xfrm>
          <a:prstGeom prst="ellipse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8863" y="2944368"/>
            <a:ext cx="49377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4272" y="217627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CA469"/>
                </a:solidFill>
                <a:latin typeface="Microsoft YaHei"/>
                <a:ea typeface="Microsoft YaHei"/>
              </a:rPr>
              <a:t>证据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41663" y="35844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44052"/>
                </a:solidFill>
                <a:latin typeface="Microsoft YaHei"/>
                <a:ea typeface="Microsoft YaHei"/>
              </a:rPr>
              <a:t>测试与审查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4617720"/>
            <a:ext cx="1572768" cy="310896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677156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38321"/>
                </a:solidFill>
                <a:latin typeface="Microsoft YaHei"/>
                <a:ea typeface="Microsoft YaHei"/>
              </a:rPr>
              <a:t>人确认规格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4256" y="4617720"/>
            <a:ext cx="1828800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1688" y="4677156"/>
            <a:ext cx="17739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Agent 执行区域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54896" y="4617720"/>
            <a:ext cx="1572768" cy="310896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82328" y="4677156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38321"/>
                </a:solidFill>
                <a:latin typeface="Microsoft YaHei"/>
                <a:ea typeface="Microsoft YaHei"/>
              </a:rPr>
              <a:t>人批准结果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" y="5266944"/>
            <a:ext cx="594360" cy="41148"/>
          </a:xfrm>
          <a:prstGeom prst="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5431536"/>
            <a:ext cx="85222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100" b="1">
                <a:solidFill>
                  <a:srgbClr val="043D93"/>
                </a:solidFill>
                <a:latin typeface="Microsoft YaHei"/>
                <a:ea typeface="Microsoft YaHei"/>
              </a:rPr>
              <a:t>边界清楚，Agent 才能稳定加速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模式三  /  拟真产物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23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产物样例：先约束，再委派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Agent 开始执行前的工作包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5175504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5175504" cy="365760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920240"/>
            <a:ext cx="491947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context-and-spec.md  /  已确认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" y="2377440"/>
            <a:ext cx="256032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3687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2386584"/>
            <a:ext cx="40050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收集用户反馈供管理员查看。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5528" y="2761488"/>
            <a:ext cx="4901184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5528" y="2871216"/>
            <a:ext cx="256032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30652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范围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2880360"/>
            <a:ext cx="40050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提交反馈；查看列表。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5528" y="3255264"/>
            <a:ext cx="4901184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95528" y="3364992"/>
            <a:ext cx="256032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24428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禁止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9072" y="3374136"/>
            <a:ext cx="40050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通知、状态、统计不在本次范围。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5528" y="3749040"/>
            <a:ext cx="4901184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99632" y="1828800"/>
            <a:ext cx="512064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9632" y="1828800"/>
            <a:ext cx="5120640" cy="365760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1920240"/>
            <a:ext cx="4864607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tasks.md  /  已授权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6792" y="2377440"/>
            <a:ext cx="598932" cy="310896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2436876"/>
            <a:ext cx="5440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TASK-01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0336" y="2386584"/>
            <a:ext cx="395020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实现反馈提交能力。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36792" y="2761488"/>
            <a:ext cx="4846319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336792" y="2871216"/>
            <a:ext cx="598932" cy="310896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2930652"/>
            <a:ext cx="5440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TASK-02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0336" y="2880360"/>
            <a:ext cx="395020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实现管理员列表。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36792" y="3255264"/>
            <a:ext cx="4846319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336792" y="3364992"/>
            <a:ext cx="530352" cy="310896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4224" y="3424428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0336" y="3374136"/>
            <a:ext cx="395020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验证功能及无越界项。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336792" y="3749040"/>
            <a:ext cx="4846319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76656" y="5632704"/>
            <a:ext cx="2139696" cy="310896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5692140"/>
            <a:ext cx="208483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规格已由负责人确认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模式三  /  拟真产物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24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产物样例：执行不能止于“完成”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结果需包含修改、验证与审批记录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5084064" cy="3602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5084064" cy="365760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920240"/>
            <a:ext cx="4828031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756C7"/>
                </a:solidFill>
                <a:latin typeface="Microsoft YaHei"/>
                <a:ea typeface="Microsoft YaHei"/>
              </a:rPr>
              <a:t>change-summary.md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" y="2377440"/>
            <a:ext cx="256032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3687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新增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2386584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反馈提交表单与保存逻辑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5528" y="2761488"/>
            <a:ext cx="4809743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5528" y="2871216"/>
            <a:ext cx="256032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30652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新增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2880360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管理员反馈列表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5528" y="3255264"/>
            <a:ext cx="4809743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95528" y="3364992"/>
            <a:ext cx="324612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24428"/>
            <a:ext cx="2697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未新增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9072" y="3374136"/>
            <a:ext cx="391363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通知、状态、统计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5528" y="3749040"/>
            <a:ext cx="4809743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81344" y="1828800"/>
            <a:ext cx="5138928" cy="3602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81344" y="1828800"/>
            <a:ext cx="5138928" cy="365760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1920240"/>
            <a:ext cx="48828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0CA469"/>
                </a:solidFill>
                <a:latin typeface="Microsoft YaHei"/>
                <a:ea typeface="Microsoft YaHei"/>
              </a:rPr>
              <a:t>verification-and-approval.md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18504" y="2377440"/>
            <a:ext cx="256032" cy="310896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43687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功能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2048" y="2386584"/>
            <a:ext cx="39684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提交成功；列表可见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18504" y="2761488"/>
            <a:ext cx="4864607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318504" y="2871216"/>
            <a:ext cx="256032" cy="310896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5936" y="2930652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范围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2880360"/>
            <a:ext cx="39684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未发现越界项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18504" y="3255264"/>
            <a:ext cx="4864607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318504" y="3364992"/>
            <a:ext cx="256032" cy="310896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5936" y="3424428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批准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42048" y="3374136"/>
            <a:ext cx="39684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负责人同意本次交付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318504" y="3749040"/>
            <a:ext cx="4864607" cy="0"/>
          </a:xfrm>
          <a:prstGeom prst="line">
            <a:avLst/>
          </a:prstGeom>
          <a:ln w="889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94944" y="5669280"/>
            <a:ext cx="594360" cy="41148"/>
          </a:xfrm>
          <a:prstGeom prst="rect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5833872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000" b="1">
                <a:solidFill>
                  <a:srgbClr val="0CA469"/>
                </a:solidFill>
                <a:latin typeface="Microsoft YaHei"/>
                <a:ea typeface="Microsoft YaHei"/>
              </a:rPr>
              <a:t>工具输出证据，人工确认交付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模式三  /  公开实践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25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Spec Kit：结构化规格到实现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官方公开资料中的 Spec-Driven Development 实例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56231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公开工作流示意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21992"/>
            <a:ext cx="2035454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40864"/>
            <a:ext cx="19805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0756C7"/>
                </a:solidFill>
                <a:latin typeface="Microsoft YaHei"/>
                <a:ea typeface="Microsoft YaHei"/>
              </a:rPr>
              <a:t>constitution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3822" y="236829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8414" y="2221992"/>
            <a:ext cx="2035454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5846" y="2340864"/>
            <a:ext cx="19805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0756C7"/>
                </a:solidFill>
                <a:latin typeface="Microsoft YaHei"/>
                <a:ea typeface="Microsoft YaHei"/>
              </a:rPr>
              <a:t>specify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3868" y="236829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58460" y="2221992"/>
            <a:ext cx="2035454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5892" y="2340864"/>
            <a:ext cx="19805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0756C7"/>
                </a:solidFill>
                <a:latin typeface="Microsoft YaHei"/>
                <a:ea typeface="Microsoft YaHei"/>
              </a:rPr>
              <a:t>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915" y="236829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58507" y="2221992"/>
            <a:ext cx="2035454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85939" y="2340864"/>
            <a:ext cx="19805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0756C7"/>
                </a:solidFill>
                <a:latin typeface="Microsoft YaHei"/>
                <a:ea typeface="Microsoft YaHei"/>
              </a:rPr>
              <a:t>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3961" y="236829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58553" y="2221992"/>
            <a:ext cx="2035454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5985" y="2340864"/>
            <a:ext cx="19805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0756C7"/>
                </a:solidFill>
                <a:latin typeface="Microsoft YaHei"/>
                <a:ea typeface="Microsoft YaHei"/>
              </a:rPr>
              <a:t>implement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246120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课程解读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639312"/>
            <a:ext cx="321868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3794760"/>
            <a:ext cx="384048" cy="36576"/>
          </a:xfrm>
          <a:prstGeom prst="rect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014215"/>
            <a:ext cx="28712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344052"/>
                </a:solidFill>
                <a:latin typeface="Microsoft YaHei"/>
                <a:ea typeface="Microsoft YaHei"/>
              </a:rPr>
              <a:t>以规格组织意图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3639312"/>
            <a:ext cx="321868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16552" y="3794760"/>
            <a:ext cx="384048" cy="36576"/>
          </a:xfrm>
          <a:prstGeom prst="rect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16552" y="4014215"/>
            <a:ext cx="28712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344052"/>
                </a:solidFill>
                <a:latin typeface="Microsoft YaHei"/>
                <a:ea typeface="Microsoft YaHei"/>
              </a:rPr>
              <a:t>逐步细化任务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45552" y="3639312"/>
            <a:ext cx="321868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10144" y="3794760"/>
            <a:ext cx="384048" cy="36576"/>
          </a:xfrm>
          <a:prstGeom prst="rect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0144" y="4014215"/>
            <a:ext cx="28712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344052"/>
                </a:solidFill>
                <a:latin typeface="Microsoft YaHei"/>
                <a:ea typeface="Microsoft YaHei"/>
              </a:rPr>
              <a:t>实现前形成结构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120640"/>
            <a:ext cx="2587752" cy="310896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180076"/>
            <a:ext cx="25328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38321"/>
                </a:solidFill>
                <a:latin typeface="Microsoft YaHei"/>
                <a:ea typeface="Microsoft YaHei"/>
              </a:rPr>
              <a:t>实例说明，不代表统一标准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715000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6F7C8E"/>
                </a:solidFill>
                <a:latin typeface="Microsoft YaHei"/>
                <a:ea typeface="Microsoft YaHei"/>
              </a:rPr>
              <a:t>来源：https://github.com/github/spec-kit  |  访问于 2026-05-27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模式三  /  公开实践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26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OpenSpec：为变化增加规格层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轻量、迭代并面向既有系统的变更组织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56231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公开工作流示意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21992"/>
            <a:ext cx="2585465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40864"/>
            <a:ext cx="253060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0CA469"/>
                </a:solidFill>
                <a:latin typeface="Microsoft YaHei"/>
                <a:ea typeface="Microsoft YaHei"/>
              </a:rPr>
              <a:t>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3833" y="236829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8426" y="2221992"/>
            <a:ext cx="2585465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5858" y="2340864"/>
            <a:ext cx="253060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0CA469"/>
                </a:solidFill>
                <a:latin typeface="Microsoft YaHei"/>
                <a:ea typeface="Microsoft YaHei"/>
              </a:rPr>
              <a:t>specs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3892" y="236829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3" y="2221992"/>
            <a:ext cx="2585465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2340864"/>
            <a:ext cx="253060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0CA469"/>
                </a:solidFill>
                <a:latin typeface="Microsoft YaHei"/>
                <a:ea typeface="Microsoft YaHei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3950" y="236829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8542" y="2221992"/>
            <a:ext cx="2585465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35974" y="2340864"/>
            <a:ext cx="253060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0CA469"/>
                </a:solidFill>
                <a:latin typeface="Microsoft YaHei"/>
                <a:ea typeface="Microsoft YaHei"/>
              </a:rPr>
              <a:t>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246120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课程解读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639312"/>
            <a:ext cx="321868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794760"/>
            <a:ext cx="384048" cy="36576"/>
          </a:xfrm>
          <a:prstGeom prst="rect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14215"/>
            <a:ext cx="28712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344052"/>
                </a:solidFill>
                <a:latin typeface="Microsoft YaHei"/>
                <a:ea typeface="Microsoft YaHei"/>
              </a:rPr>
              <a:t>按变更保留产物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3639312"/>
            <a:ext cx="321868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16552" y="3794760"/>
            <a:ext cx="384048" cy="36576"/>
          </a:xfrm>
          <a:prstGeom prst="rect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6552" y="4014215"/>
            <a:ext cx="28712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344052"/>
                </a:solidFill>
                <a:latin typeface="Microsoft YaHei"/>
                <a:ea typeface="Microsoft YaHei"/>
              </a:rPr>
              <a:t>编码前对齐范围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5552" y="3639312"/>
            <a:ext cx="321868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10144" y="3794760"/>
            <a:ext cx="384048" cy="36576"/>
          </a:xfrm>
          <a:prstGeom prst="rect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0144" y="4014215"/>
            <a:ext cx="28712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344052"/>
                </a:solidFill>
                <a:latin typeface="Microsoft YaHei"/>
                <a:ea typeface="Microsoft YaHei"/>
              </a:rPr>
              <a:t>适应迭代演进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120640"/>
            <a:ext cx="2587752" cy="310896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180076"/>
            <a:ext cx="25328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38321"/>
                </a:solidFill>
                <a:latin typeface="Microsoft YaHei"/>
                <a:ea typeface="Microsoft YaHei"/>
              </a:rPr>
              <a:t>实例说明，不代表统一标准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715000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6F7C8E"/>
                </a:solidFill>
                <a:latin typeface="Microsoft YaHei"/>
                <a:ea typeface="Microsoft YaHei"/>
              </a:rPr>
              <a:t>来源：https://github.com/Fission-AI/OpenSpec  |  访问于 2026-05-27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模式三  /  公开实践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27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Superpowers：用过程纪律约束执行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设计确认、计划、测试与评审构成控制链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56231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公开工作流示意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21992"/>
            <a:ext cx="166878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40864"/>
            <a:ext cx="16139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0756C7"/>
                </a:solidFill>
                <a:latin typeface="Microsoft YaHei"/>
                <a:ea typeface="Microsoft YaHei"/>
              </a:rPr>
              <a:t>澄清/设计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7148" y="236829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91739" y="2221992"/>
            <a:ext cx="166878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9171" y="2340864"/>
            <a:ext cx="16139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0756C7"/>
                </a:solidFill>
                <a:latin typeface="Microsoft YaHei"/>
                <a:ea typeface="Microsoft YaHei"/>
              </a:rPr>
              <a:t>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36829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2221992"/>
            <a:ext cx="166878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544" y="2340864"/>
            <a:ext cx="16139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0756C7"/>
                </a:solidFill>
                <a:latin typeface="Microsoft YaHei"/>
                <a:ea typeface="Microsoft YaHei"/>
              </a:rPr>
              <a:t>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3892" y="236829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8483" y="2221992"/>
            <a:ext cx="166878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5916" y="2340864"/>
            <a:ext cx="16139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0756C7"/>
                </a:solidFill>
                <a:latin typeface="Microsoft YaHei"/>
                <a:ea typeface="Microsoft YaHei"/>
              </a:rPr>
              <a:t>测试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27263" y="236829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856" y="2221992"/>
            <a:ext cx="166878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2340864"/>
            <a:ext cx="16139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0756C7"/>
                </a:solidFill>
                <a:latin typeface="Microsoft YaHei"/>
                <a:ea typeface="Microsoft YaHei"/>
              </a:rPr>
              <a:t>评审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60636" y="236829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5228" y="2221992"/>
            <a:ext cx="1668780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52659" y="2340864"/>
            <a:ext cx="16139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0756C7"/>
                </a:solidFill>
                <a:latin typeface="Microsoft YaHei"/>
                <a:ea typeface="Microsoft YaHei"/>
              </a:rPr>
              <a:t>完成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246120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课程解读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639312"/>
            <a:ext cx="321868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3794760"/>
            <a:ext cx="384048" cy="36576"/>
          </a:xfrm>
          <a:prstGeom prst="rect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014215"/>
            <a:ext cx="28712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344052"/>
                </a:solidFill>
                <a:latin typeface="Microsoft YaHei"/>
                <a:ea typeface="Microsoft YaHei"/>
              </a:rPr>
              <a:t>先确认设计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3639312"/>
            <a:ext cx="321868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16552" y="3794760"/>
            <a:ext cx="384048" cy="36576"/>
          </a:xfrm>
          <a:prstGeom prst="rect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16552" y="4014215"/>
            <a:ext cx="28712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344052"/>
                </a:solidFill>
                <a:latin typeface="Microsoft YaHei"/>
                <a:ea typeface="Microsoft YaHei"/>
              </a:rPr>
              <a:t>强调测试证据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45552" y="3639312"/>
            <a:ext cx="321868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10144" y="3794760"/>
            <a:ext cx="384048" cy="36576"/>
          </a:xfrm>
          <a:prstGeom prst="rect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0144" y="4014215"/>
            <a:ext cx="28712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344052"/>
                </a:solidFill>
                <a:latin typeface="Microsoft YaHei"/>
                <a:ea typeface="Microsoft YaHei"/>
              </a:rPr>
              <a:t>用评审收束结果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120640"/>
            <a:ext cx="2587752" cy="310896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180076"/>
            <a:ext cx="25328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38321"/>
                </a:solidFill>
                <a:latin typeface="Microsoft YaHei"/>
                <a:ea typeface="Microsoft YaHei"/>
              </a:rPr>
              <a:t>实例说明，不代表统一标准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715000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6F7C8E"/>
                </a:solidFill>
                <a:latin typeface="Microsoft YaHei"/>
                <a:ea typeface="Microsoft YaHei"/>
              </a:rPr>
              <a:t>来源：https://github.com/obra/superpowers  |  访问于 2026-05-27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模式三  /  质量责任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28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Agent 需要更清晰的控制链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执行可以加速，批准不能空缺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2971800"/>
            <a:ext cx="10186416" cy="0"/>
          </a:xfrm>
          <a:prstGeom prst="line">
            <a:avLst/>
          </a:prstGeom>
          <a:ln w="1905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96695" y="2770632"/>
            <a:ext cx="402336" cy="402336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289864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57984"/>
            <a:ext cx="16733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756C7"/>
                </a:solidFill>
                <a:latin typeface="Microsoft YaHei"/>
                <a:ea typeface="Microsoft YaHei"/>
              </a:rPr>
              <a:t>规格确认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5" y="3456432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人确认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目标范围</a:t>
            </a:r>
          </a:p>
        </p:txBody>
      </p:sp>
      <p:sp>
        <p:nvSpPr>
          <p:cNvPr id="14" name="Oval 13"/>
          <p:cNvSpPr/>
          <p:nvPr/>
        </p:nvSpPr>
        <p:spPr>
          <a:xfrm>
            <a:off x="2779776" y="2770632"/>
            <a:ext cx="402336" cy="402336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89864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8" y="2157984"/>
            <a:ext cx="16733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F38321"/>
                </a:solidFill>
                <a:latin typeface="Microsoft YaHei"/>
                <a:ea typeface="Microsoft YaHei"/>
              </a:rPr>
              <a:t>任务授权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5456" y="3456432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人限定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可执行项</a:t>
            </a:r>
          </a:p>
        </p:txBody>
      </p:sp>
      <p:sp>
        <p:nvSpPr>
          <p:cNvPr id="18" name="Oval 17"/>
          <p:cNvSpPr/>
          <p:nvPr/>
        </p:nvSpPr>
        <p:spPr>
          <a:xfrm>
            <a:off x="4562856" y="2770632"/>
            <a:ext cx="402336" cy="402336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2856" y="289864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2157984"/>
            <a:ext cx="16733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756C7"/>
                </a:solidFill>
                <a:latin typeface="Microsoft YaHei"/>
                <a:ea typeface="Microsoft YaHei"/>
              </a:rPr>
              <a:t>执行修改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536" y="3456432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Agent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边界内处理</a:t>
            </a:r>
          </a:p>
        </p:txBody>
      </p:sp>
      <p:sp>
        <p:nvSpPr>
          <p:cNvPr id="22" name="Oval 21"/>
          <p:cNvSpPr/>
          <p:nvPr/>
        </p:nvSpPr>
        <p:spPr>
          <a:xfrm>
            <a:off x="6345936" y="2770632"/>
            <a:ext cx="402336" cy="402336"/>
          </a:xfrm>
          <a:prstGeom prst="ellipse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289864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2157984"/>
            <a:ext cx="16733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CA469"/>
                </a:solidFill>
                <a:latin typeface="Microsoft YaHei"/>
                <a:ea typeface="Microsoft YaHei"/>
              </a:rPr>
              <a:t>工具验证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3456432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形成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可核结果</a:t>
            </a:r>
          </a:p>
        </p:txBody>
      </p:sp>
      <p:sp>
        <p:nvSpPr>
          <p:cNvPr id="26" name="Oval 25"/>
          <p:cNvSpPr/>
          <p:nvPr/>
        </p:nvSpPr>
        <p:spPr>
          <a:xfrm>
            <a:off x="8129015" y="2770632"/>
            <a:ext cx="402336" cy="402336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5" y="289864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7" y="2157984"/>
            <a:ext cx="16733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F38321"/>
                </a:solidFill>
                <a:latin typeface="Microsoft YaHei"/>
                <a:ea typeface="Microsoft YaHei"/>
              </a:rPr>
              <a:t>变更审查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54696" y="3456432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人核查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范围质量</a:t>
            </a:r>
          </a:p>
        </p:txBody>
      </p:sp>
      <p:sp>
        <p:nvSpPr>
          <p:cNvPr id="30" name="Oval 29"/>
          <p:cNvSpPr/>
          <p:nvPr/>
        </p:nvSpPr>
        <p:spPr>
          <a:xfrm>
            <a:off x="9912096" y="2770632"/>
            <a:ext cx="402336" cy="402336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12096" y="289864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5208" y="2157984"/>
            <a:ext cx="16733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756C7"/>
                </a:solidFill>
                <a:latin typeface="Microsoft YaHei"/>
                <a:ea typeface="Microsoft YaHei"/>
              </a:rPr>
              <a:t>交付批准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3456432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人承担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最终决定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4828032"/>
            <a:ext cx="10643616" cy="603504"/>
          </a:xfrm>
          <a:prstGeom prst="round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4992624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任务可委派，责任必须归属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模式三  /  失败与纠偏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29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纠偏案例：Agent 擅自加入通知能力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完整展示错误、发现、修正、复验与批准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20240"/>
            <a:ext cx="1115568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979676"/>
            <a:ext cx="10607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已确认范围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1975104"/>
            <a:ext cx="2944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344052"/>
                </a:solidFill>
                <a:latin typeface="Microsoft YaHei"/>
                <a:ea typeface="Microsoft YaHei"/>
              </a:rPr>
              <a:t>提交反馈  +  查看列表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3328" y="1920240"/>
            <a:ext cx="1024128" cy="310896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979676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38321"/>
                </a:solidFill>
                <a:latin typeface="Microsoft YaHei"/>
                <a:ea typeface="Microsoft YaHei"/>
              </a:rPr>
              <a:t>错误输出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768" y="1975104"/>
            <a:ext cx="2487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F38321"/>
                </a:solidFill>
                <a:latin typeface="Microsoft YaHei"/>
                <a:ea typeface="Microsoft YaHei"/>
              </a:rPr>
              <a:t>新增通知配置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2688" y="3749039"/>
            <a:ext cx="9720072" cy="0"/>
          </a:xfrm>
          <a:prstGeom prst="line">
            <a:avLst/>
          </a:prstGeom>
          <a:ln w="2540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87552" y="3511296"/>
            <a:ext cx="475488" cy="475488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675887"/>
            <a:ext cx="47548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2889504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F38321"/>
                </a:solidFill>
                <a:latin typeface="Microsoft YaHei"/>
                <a:ea typeface="Microsoft YaHei"/>
              </a:rPr>
              <a:t>发现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4270248"/>
            <a:ext cx="12252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44052"/>
                </a:solidFill>
                <a:latin typeface="Microsoft YaHei"/>
                <a:ea typeface="Microsoft YaHei"/>
              </a:rPr>
              <a:t>识别越界</a:t>
            </a:r>
          </a:p>
        </p:txBody>
      </p:sp>
      <p:sp>
        <p:nvSpPr>
          <p:cNvPr id="20" name="Oval 19"/>
          <p:cNvSpPr/>
          <p:nvPr/>
        </p:nvSpPr>
        <p:spPr>
          <a:xfrm>
            <a:off x="2980944" y="3511296"/>
            <a:ext cx="475488" cy="475488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80944" y="3675887"/>
            <a:ext cx="47548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2889504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756C7"/>
                </a:solidFill>
                <a:latin typeface="Microsoft YaHei"/>
                <a:ea typeface="Microsoft YaHei"/>
              </a:rPr>
              <a:t>约束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4328" y="4270248"/>
            <a:ext cx="12252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44052"/>
                </a:solidFill>
                <a:latin typeface="Microsoft YaHei"/>
                <a:ea typeface="Microsoft YaHei"/>
              </a:rPr>
              <a:t>重申范围</a:t>
            </a:r>
          </a:p>
        </p:txBody>
      </p:sp>
      <p:sp>
        <p:nvSpPr>
          <p:cNvPr id="24" name="Oval 23"/>
          <p:cNvSpPr/>
          <p:nvPr/>
        </p:nvSpPr>
        <p:spPr>
          <a:xfrm>
            <a:off x="4974336" y="3511296"/>
            <a:ext cx="475488" cy="475488"/>
          </a:xfrm>
          <a:prstGeom prst="ellipse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74336" y="3675887"/>
            <a:ext cx="47548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889504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756C7"/>
                </a:solidFill>
                <a:latin typeface="Microsoft YaHei"/>
                <a:ea typeface="Microsoft YaHei"/>
              </a:rPr>
              <a:t>修正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270248"/>
            <a:ext cx="12252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44052"/>
                </a:solidFill>
                <a:latin typeface="Microsoft YaHei"/>
                <a:ea typeface="Microsoft YaHei"/>
              </a:rPr>
              <a:t>删除通知</a:t>
            </a:r>
          </a:p>
        </p:txBody>
      </p:sp>
      <p:sp>
        <p:nvSpPr>
          <p:cNvPr id="28" name="Oval 27"/>
          <p:cNvSpPr/>
          <p:nvPr/>
        </p:nvSpPr>
        <p:spPr>
          <a:xfrm>
            <a:off x="6967728" y="3511296"/>
            <a:ext cx="475488" cy="475488"/>
          </a:xfrm>
          <a:prstGeom prst="ellipse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7728" y="3675887"/>
            <a:ext cx="47548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2889504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CA469"/>
                </a:solidFill>
                <a:latin typeface="Microsoft YaHei"/>
                <a:ea typeface="Microsoft YaHei"/>
              </a:rPr>
              <a:t>复验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4270248"/>
            <a:ext cx="12252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44052"/>
                </a:solidFill>
                <a:latin typeface="Microsoft YaHei"/>
                <a:ea typeface="Microsoft YaHei"/>
              </a:rPr>
              <a:t>范围通过</a:t>
            </a:r>
          </a:p>
        </p:txBody>
      </p:sp>
      <p:sp>
        <p:nvSpPr>
          <p:cNvPr id="32" name="Oval 31"/>
          <p:cNvSpPr/>
          <p:nvPr/>
        </p:nvSpPr>
        <p:spPr>
          <a:xfrm>
            <a:off x="8961120" y="3511296"/>
            <a:ext cx="475488" cy="475488"/>
          </a:xfrm>
          <a:prstGeom prst="ellipse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0" y="3675887"/>
            <a:ext cx="47548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33104" y="2889504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CA469"/>
                </a:solidFill>
                <a:latin typeface="Microsoft YaHei"/>
                <a:ea typeface="Microsoft YaHei"/>
              </a:rPr>
              <a:t>批准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04504" y="4270248"/>
            <a:ext cx="12252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44052"/>
                </a:solidFill>
                <a:latin typeface="Microsoft YaHei"/>
                <a:ea typeface="Microsoft YaHei"/>
              </a:rPr>
              <a:t>同意交付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" y="5221224"/>
            <a:ext cx="594360" cy="41148"/>
          </a:xfrm>
          <a:prstGeom prst="rect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5385816"/>
            <a:ext cx="8778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>
                <a:solidFill>
                  <a:srgbClr val="0CA469"/>
                </a:solidFill>
                <a:latin typeface="Microsoft YaHei"/>
                <a:ea typeface="Microsoft YaHei"/>
              </a:rPr>
              <a:t>错误可被发现、修正并重新验证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横向比较  /  路径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30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同一案例，三种组织路径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目标相同，反馈颗粒度不同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112264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756C7"/>
                </a:solidFill>
                <a:latin typeface="Microsoft YaHei"/>
                <a:ea typeface="Microsoft YaHei"/>
              </a:rPr>
              <a:t>瀑布 / 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1975104"/>
            <a:ext cx="1616659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2093976"/>
            <a:ext cx="156179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0756C7"/>
                </a:solidFill>
                <a:latin typeface="Microsoft YaHei"/>
                <a:ea typeface="Microsoft YaHei"/>
              </a:rPr>
              <a:t>基线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3827" y="2121408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8419" y="1975104"/>
            <a:ext cx="1616659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5851" y="2093976"/>
            <a:ext cx="156179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0756C7"/>
                </a:solidFill>
                <a:latin typeface="Microsoft YaHei"/>
                <a:ea typeface="Microsoft YaHei"/>
              </a:rPr>
              <a:t>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85078" y="2121408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9670" y="1975104"/>
            <a:ext cx="1616659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7102" y="2093976"/>
            <a:ext cx="156179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0756C7"/>
                </a:solidFill>
                <a:latin typeface="Microsoft YaHei"/>
                <a:ea typeface="Microsoft YaHei"/>
              </a:rPr>
              <a:t>实现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6329" y="2121408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30921" y="1975104"/>
            <a:ext cx="1616659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8353" y="2093976"/>
            <a:ext cx="156179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0756C7"/>
                </a:solidFill>
                <a:latin typeface="Microsoft YaHei"/>
                <a:ea typeface="Microsoft YaHei"/>
              </a:rPr>
              <a:t>测试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7580" y="2121408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12172" y="1975104"/>
            <a:ext cx="1616659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39604" y="2093976"/>
            <a:ext cx="156179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0756C7"/>
                </a:solidFill>
                <a:latin typeface="Microsoft YaHei"/>
                <a:ea typeface="Microsoft YaHei"/>
              </a:rPr>
              <a:t>发布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3227832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756C7"/>
                </a:solidFill>
                <a:latin typeface="Microsoft YaHei"/>
                <a:ea typeface="Microsoft YaHei"/>
              </a:rPr>
              <a:t>敏捷 / DevOps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87168" y="3090672"/>
            <a:ext cx="1616659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209544"/>
            <a:ext cx="156179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0756C7"/>
                </a:solidFill>
                <a:latin typeface="Microsoft YaHei"/>
                <a:ea typeface="Microsoft YaHei"/>
              </a:rPr>
              <a:t>故事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3827" y="323697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8419" y="3090672"/>
            <a:ext cx="1616659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5851" y="3209544"/>
            <a:ext cx="156179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0756C7"/>
                </a:solidFill>
                <a:latin typeface="Microsoft YaHei"/>
                <a:ea typeface="Microsoft YaHei"/>
              </a:rPr>
              <a:t>增量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85078" y="323697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49670" y="3090672"/>
            <a:ext cx="1616659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77102" y="3209544"/>
            <a:ext cx="156179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0756C7"/>
                </a:solidFill>
                <a:latin typeface="Microsoft YaHei"/>
                <a:ea typeface="Microsoft YaHei"/>
              </a:rPr>
              <a:t>流水线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6329" y="323697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30921" y="3090672"/>
            <a:ext cx="1616659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58353" y="3209544"/>
            <a:ext cx="156179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0756C7"/>
                </a:solidFill>
                <a:latin typeface="Microsoft YaHei"/>
                <a:ea typeface="Microsoft YaHei"/>
              </a:rPr>
              <a:t>反馈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47580" y="3236976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12172" y="3090672"/>
            <a:ext cx="1616659" cy="51206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39604" y="3209544"/>
            <a:ext cx="156179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0756C7"/>
                </a:solidFill>
                <a:latin typeface="Microsoft YaHei"/>
                <a:ea typeface="Microsoft YaHei"/>
              </a:rPr>
              <a:t>发布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" y="4343400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0CA469"/>
                </a:solidFill>
                <a:latin typeface="Microsoft YaHei"/>
                <a:ea typeface="Microsoft YaHei"/>
              </a:rPr>
              <a:t>AI Agent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87168" y="4206240"/>
            <a:ext cx="1616659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4600" y="4325112"/>
            <a:ext cx="156179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0CA469"/>
                </a:solidFill>
                <a:latin typeface="Microsoft YaHei"/>
                <a:ea typeface="Microsoft YaHei"/>
              </a:rPr>
              <a:t>规格/约束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03827" y="435254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68419" y="4206240"/>
            <a:ext cx="1616659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5851" y="4325112"/>
            <a:ext cx="156179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0CA469"/>
                </a:solidFill>
                <a:latin typeface="Microsoft YaHei"/>
                <a:ea typeface="Microsoft YaHei"/>
              </a:rPr>
              <a:t>委派执行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85078" y="435254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49670" y="4206240"/>
            <a:ext cx="1616659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77102" y="4325112"/>
            <a:ext cx="156179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0CA469"/>
                </a:solidFill>
                <a:latin typeface="Microsoft YaHei"/>
                <a:ea typeface="Microsoft YaHei"/>
              </a:rPr>
              <a:t>工具验证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66329" y="435254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30921" y="4206240"/>
            <a:ext cx="1616659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58353" y="4325112"/>
            <a:ext cx="156179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0CA469"/>
                </a:solidFill>
                <a:latin typeface="Microsoft YaHei"/>
                <a:ea typeface="Microsoft YaHei"/>
              </a:rPr>
              <a:t>人审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47580" y="4352544"/>
            <a:ext cx="1645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12172" y="4206240"/>
            <a:ext cx="1616659" cy="51206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39604" y="4325112"/>
            <a:ext cx="156179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0CA469"/>
                </a:solidFill>
                <a:latin typeface="Microsoft YaHei"/>
                <a:ea typeface="Microsoft YaHei"/>
              </a:rPr>
              <a:t>批准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5404104"/>
            <a:ext cx="594360" cy="41148"/>
          </a:xfrm>
          <a:prstGeom prst="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568696"/>
            <a:ext cx="8412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100" b="1">
                <a:solidFill>
                  <a:srgbClr val="043D93"/>
                </a:solidFill>
                <a:latin typeface="Microsoft YaHei"/>
                <a:ea typeface="Microsoft YaHei"/>
              </a:rPr>
              <a:t>比较的是控制结构，不是简单排名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横向比较  /  角色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31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执行方式变化，责任仍需归属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谁做什么，谁负责什么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65376"/>
            <a:ext cx="10250424" cy="566928"/>
          </a:xfrm>
          <a:prstGeom prst="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75104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判断问题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1975104"/>
            <a:ext cx="25420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瀑布 / 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975104"/>
            <a:ext cx="25603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敏捷 / DevOps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75104"/>
            <a:ext cx="258775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AI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432304"/>
            <a:ext cx="1025042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523744"/>
            <a:ext cx="18288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344052"/>
                </a:solidFill>
                <a:latin typeface="Microsoft YaHei"/>
                <a:ea typeface="Microsoft YaHei"/>
              </a:rPr>
              <a:t>范围决定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2523744"/>
            <a:ext cx="254203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业务负责人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523744"/>
            <a:ext cx="25603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产品负责人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23744"/>
            <a:ext cx="2587751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043D93"/>
                </a:solidFill>
                <a:latin typeface="Microsoft YaHei"/>
                <a:ea typeface="Microsoft YaHei"/>
              </a:rPr>
              <a:t>人确认范围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999232"/>
            <a:ext cx="10250424" cy="566928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090672"/>
            <a:ext cx="18288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344052"/>
                </a:solidFill>
                <a:latin typeface="Microsoft YaHei"/>
                <a:ea typeface="Microsoft YaHei"/>
              </a:rPr>
              <a:t>任务执行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3090672"/>
            <a:ext cx="254203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环节分工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090672"/>
            <a:ext cx="25603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团队协作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090672"/>
            <a:ext cx="2587751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043D93"/>
                </a:solidFill>
                <a:latin typeface="Microsoft YaHei"/>
                <a:ea typeface="Microsoft YaHei"/>
              </a:rPr>
              <a:t>人与 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566160"/>
            <a:ext cx="1025042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657600"/>
            <a:ext cx="18288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344052"/>
                </a:solidFill>
                <a:latin typeface="Microsoft YaHei"/>
                <a:ea typeface="Microsoft YaHei"/>
              </a:rPr>
              <a:t>验证证据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3657600"/>
            <a:ext cx="254203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测试记录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657600"/>
            <a:ext cx="25603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流水线与团队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657600"/>
            <a:ext cx="2587751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043D93"/>
                </a:solidFill>
                <a:latin typeface="Microsoft YaHei"/>
                <a:ea typeface="Microsoft YaHei"/>
              </a:rPr>
              <a:t>工具结果与人审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33087"/>
            <a:ext cx="10250424" cy="566928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224527"/>
            <a:ext cx="18288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344052"/>
                </a:solidFill>
                <a:latin typeface="Microsoft YaHei"/>
                <a:ea typeface="Microsoft YaHei"/>
              </a:rPr>
              <a:t>发布批准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1488" y="4224527"/>
            <a:ext cx="254203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责任人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4224527"/>
            <a:ext cx="25603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责任人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224527"/>
            <a:ext cx="2587751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043D93"/>
                </a:solidFill>
                <a:latin typeface="Microsoft YaHei"/>
                <a:ea typeface="Microsoft YaHei"/>
              </a:rPr>
              <a:t>责任人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1865376"/>
            <a:ext cx="10250424" cy="2834640"/>
          </a:xfrm>
          <a:prstGeom prst="rect">
            <a:avLst/>
          </a:prstGeom>
          <a:noFill/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4944" y="5230368"/>
            <a:ext cx="594360" cy="41148"/>
          </a:xfrm>
          <a:prstGeom prst="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5394959"/>
            <a:ext cx="9692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100" b="1">
                <a:solidFill>
                  <a:srgbClr val="043D93"/>
                </a:solidFill>
                <a:latin typeface="Microsoft YaHei"/>
                <a:ea typeface="Microsoft YaHei"/>
              </a:rPr>
              <a:t>Agent 改变执行分配，不接管最终责任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横向比较  /  产物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32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交付产物如何演进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文档形态变化，可追踪要求仍在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883664"/>
            <a:ext cx="321868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1">
                <a:solidFill>
                  <a:srgbClr val="0756C7"/>
                </a:solidFill>
                <a:latin typeface="Microsoft YaHei"/>
                <a:ea typeface="Microsoft YaHei"/>
              </a:rPr>
              <a:t>瀑布 / V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2313432"/>
            <a:ext cx="512064" cy="41148"/>
          </a:xfrm>
          <a:prstGeom prst="rect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2596896"/>
            <a:ext cx="3154680" cy="42062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697480"/>
            <a:ext cx="2889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44052"/>
                </a:solidFill>
                <a:latin typeface="Microsoft YaHei"/>
                <a:ea typeface="Microsoft YaHei"/>
              </a:rPr>
              <a:t>需求规格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3154679"/>
            <a:ext cx="3154680" cy="42062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255264"/>
            <a:ext cx="2889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44052"/>
                </a:solidFill>
                <a:latin typeface="Microsoft YaHei"/>
                <a:ea typeface="Microsoft YaHei"/>
              </a:rPr>
              <a:t>设计说明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3712463"/>
            <a:ext cx="3154680" cy="42062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13048"/>
            <a:ext cx="2889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44052"/>
                </a:solidFill>
                <a:latin typeface="Microsoft YaHei"/>
                <a:ea typeface="Microsoft YaHei"/>
              </a:rPr>
              <a:t>测试追踪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" y="4270248"/>
            <a:ext cx="3154680" cy="42062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370832"/>
            <a:ext cx="2889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44052"/>
                </a:solidFill>
                <a:latin typeface="Microsoft YaHei"/>
                <a:ea typeface="Microsoft YaHei"/>
              </a:rPr>
              <a:t>验收记录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1883664"/>
            <a:ext cx="321868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1">
                <a:solidFill>
                  <a:srgbClr val="0756C7"/>
                </a:solidFill>
                <a:latin typeface="Microsoft YaHei"/>
                <a:ea typeface="Microsoft YaHei"/>
              </a:rPr>
              <a:t>敏捷 / DevOps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2313432"/>
            <a:ext cx="512064" cy="41148"/>
          </a:xfrm>
          <a:prstGeom prst="rect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70832" y="2596896"/>
            <a:ext cx="3154680" cy="42062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2697480"/>
            <a:ext cx="2889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44052"/>
                </a:solidFill>
                <a:latin typeface="Microsoft YaHei"/>
                <a:ea typeface="Microsoft YaHei"/>
              </a:rPr>
              <a:t>用户故事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154679"/>
            <a:ext cx="3154680" cy="42062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3255264"/>
            <a:ext cx="2889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44052"/>
                </a:solidFill>
                <a:latin typeface="Microsoft YaHei"/>
                <a:ea typeface="Microsoft YaHei"/>
              </a:rPr>
              <a:t>验收标准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3712463"/>
            <a:ext cx="3154680" cy="42062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3813048"/>
            <a:ext cx="2889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44052"/>
                </a:solidFill>
                <a:latin typeface="Microsoft YaHei"/>
                <a:ea typeface="Microsoft YaHei"/>
              </a:rPr>
              <a:t>流水线证据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4270248"/>
            <a:ext cx="3154680" cy="420624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4370832"/>
            <a:ext cx="2889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44052"/>
                </a:solidFill>
                <a:latin typeface="Microsoft YaHei"/>
                <a:ea typeface="Microsoft YaHei"/>
              </a:rPr>
              <a:t>反馈待办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1883664"/>
            <a:ext cx="321868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1">
                <a:solidFill>
                  <a:srgbClr val="0CA469"/>
                </a:solidFill>
                <a:latin typeface="Microsoft YaHei"/>
                <a:ea typeface="Microsoft YaHei"/>
              </a:rPr>
              <a:t>AI Agent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65008" y="2313432"/>
            <a:ext cx="512064" cy="41148"/>
          </a:xfrm>
          <a:prstGeom prst="rect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65008" y="2596896"/>
            <a:ext cx="3154680" cy="42062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3024" y="2697480"/>
            <a:ext cx="2889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44052"/>
                </a:solidFill>
                <a:latin typeface="Microsoft YaHei"/>
                <a:ea typeface="Microsoft YaHei"/>
              </a:rPr>
              <a:t>确认规格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8" y="3154679"/>
            <a:ext cx="3154680" cy="42062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3024" y="3255264"/>
            <a:ext cx="2889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44052"/>
                </a:solidFill>
                <a:latin typeface="Microsoft YaHei"/>
                <a:ea typeface="Microsoft YaHei"/>
              </a:rPr>
              <a:t>上下文约束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5008" y="3712463"/>
            <a:ext cx="3154680" cy="42062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93024" y="3813048"/>
            <a:ext cx="2889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44052"/>
                </a:solidFill>
                <a:latin typeface="Microsoft YaHei"/>
                <a:ea typeface="Microsoft YaHei"/>
              </a:rPr>
              <a:t>修改与验证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5008" y="4270248"/>
            <a:ext cx="3154680" cy="420624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93024" y="4370832"/>
            <a:ext cx="2889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44052"/>
                </a:solidFill>
                <a:latin typeface="Microsoft YaHei"/>
                <a:ea typeface="Microsoft YaHei"/>
              </a:rPr>
              <a:t>人工批准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6656" y="5230368"/>
            <a:ext cx="10570464" cy="512064"/>
          </a:xfrm>
          <a:prstGeom prst="round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5385816"/>
            <a:ext cx="104241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共同基座：可审查、可验证、可承担责任的交付证据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横向比较  /  质量责任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33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三种模式都必须回答质量问题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门禁位置改变，责任没有消失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10415016" cy="548640"/>
          </a:xfrm>
          <a:prstGeom prst="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93392"/>
            <a:ext cx="2578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必须回答的问题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1296" y="1993392"/>
            <a:ext cx="23682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瀑布 / 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2472" y="1993392"/>
            <a:ext cx="23682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敏捷 / DevOps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1993392"/>
            <a:ext cx="23682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AI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432304"/>
            <a:ext cx="10415016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523744"/>
            <a:ext cx="2578608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344052"/>
                </a:solidFill>
                <a:latin typeface="Microsoft YaHei"/>
                <a:ea typeface="Microsoft YaHei"/>
              </a:rPr>
              <a:t>范围如何确认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523744"/>
            <a:ext cx="2368296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需求评审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2523744"/>
            <a:ext cx="2368296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验收澄清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2523744"/>
            <a:ext cx="2368296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0CA469"/>
                </a:solidFill>
                <a:latin typeface="Microsoft YaHei"/>
                <a:ea typeface="Microsoft YaHei"/>
              </a:rPr>
              <a:t>规格批准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980944"/>
            <a:ext cx="10415016" cy="548640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072384"/>
            <a:ext cx="2578608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344052"/>
                </a:solidFill>
                <a:latin typeface="Microsoft YaHei"/>
                <a:ea typeface="Microsoft YaHei"/>
              </a:rPr>
              <a:t>结果如何验证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1296" y="3072384"/>
            <a:ext cx="2368296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对应测试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3072384"/>
            <a:ext cx="2368296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持续流水线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3072384"/>
            <a:ext cx="2368296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0CA469"/>
                </a:solidFill>
                <a:latin typeface="Microsoft YaHei"/>
                <a:ea typeface="Microsoft YaHei"/>
              </a:rPr>
              <a:t>工具验证+人审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529584"/>
            <a:ext cx="10415016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621024"/>
            <a:ext cx="2578608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344052"/>
                </a:solidFill>
                <a:latin typeface="Microsoft YaHei"/>
                <a:ea typeface="Microsoft YaHei"/>
              </a:rPr>
              <a:t>发布谁批准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11296" y="3621024"/>
            <a:ext cx="2368296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发布责任人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62472" y="3621024"/>
            <a:ext cx="2368296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授权责任人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3648" y="3621024"/>
            <a:ext cx="2368296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0CA469"/>
                </a:solidFill>
                <a:latin typeface="Microsoft YaHei"/>
                <a:ea typeface="Microsoft YaHei"/>
              </a:rPr>
              <a:t>人工审批者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078224"/>
            <a:ext cx="10415016" cy="548640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169663"/>
            <a:ext cx="2578608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344052"/>
                </a:solidFill>
                <a:latin typeface="Microsoft YaHei"/>
                <a:ea typeface="Microsoft YaHei"/>
              </a:rPr>
              <a:t>反馈如何回流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11296" y="4169663"/>
            <a:ext cx="2368296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变更管理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62472" y="4169663"/>
            <a:ext cx="2368296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44052"/>
                </a:solidFill>
                <a:latin typeface="Microsoft YaHei"/>
                <a:ea typeface="Microsoft YaHei"/>
              </a:rPr>
              <a:t>待办排序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3648" y="4169663"/>
            <a:ext cx="2368296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0CA469"/>
                </a:solidFill>
                <a:latin typeface="Microsoft YaHei"/>
                <a:ea typeface="Microsoft YaHei"/>
              </a:rPr>
              <a:t>新规格/任务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1883664"/>
            <a:ext cx="10415016" cy="2743200"/>
          </a:xfrm>
          <a:prstGeom prst="rect">
            <a:avLst/>
          </a:prstGeom>
          <a:noFill/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49808" y="5138928"/>
            <a:ext cx="1664208" cy="310896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198364"/>
            <a:ext cx="16093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验证频率提高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212080"/>
            <a:ext cx="19202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6F7C8E"/>
                </a:solidFill>
                <a:latin typeface="Microsoft YaHei"/>
                <a:ea typeface="Microsoft YaHei"/>
              </a:rPr>
              <a:t>低频阶段门禁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718304" y="5321808"/>
            <a:ext cx="2852927" cy="0"/>
          </a:xfrm>
          <a:prstGeom prst="line">
            <a:avLst/>
          </a:prstGeom>
          <a:ln w="17780">
            <a:solidFill>
              <a:srgbClr val="075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900416" y="5212080"/>
            <a:ext cx="199339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0CA469"/>
                </a:solidFill>
                <a:latin typeface="Microsoft YaHei"/>
                <a:ea typeface="Microsoft YaHei"/>
              </a:rPr>
              <a:t>高频执行反馈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横向比较  /  适用条件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34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不是三选一，而是组合能力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选择协作方式，要看任务与控制能力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2048256"/>
            <a:ext cx="3200400" cy="2121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7824" y="2295144"/>
            <a:ext cx="832104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354579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条件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34640"/>
            <a:ext cx="2788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E1825"/>
                </a:solidFill>
                <a:latin typeface="Microsoft YaHei"/>
                <a:ea typeface="Microsoft YaHei"/>
              </a:rPr>
              <a:t>范围稳定、审查严格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621024"/>
            <a:ext cx="277977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0756C7"/>
                </a:solidFill>
                <a:latin typeface="Microsoft YaHei"/>
                <a:ea typeface="Microsoft YaHei"/>
              </a:rPr>
              <a:t>强化基线与评审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2048256"/>
            <a:ext cx="3200400" cy="2121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98848" y="2295144"/>
            <a:ext cx="832104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354579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条件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834640"/>
            <a:ext cx="2788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E1825"/>
                </a:solidFill>
                <a:latin typeface="Microsoft YaHei"/>
                <a:ea typeface="Microsoft YaHei"/>
              </a:rPr>
              <a:t>需要快速验证价值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621024"/>
            <a:ext cx="277977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0756C7"/>
                </a:solidFill>
                <a:latin typeface="Microsoft YaHei"/>
                <a:ea typeface="Microsoft YaHei"/>
              </a:rPr>
              <a:t>强化迭代与反馈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36992" y="2048256"/>
            <a:ext cx="3200400" cy="2121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19871" y="2295144"/>
            <a:ext cx="832104" cy="310896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303" y="2354579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条件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1" y="2834640"/>
            <a:ext cx="2788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E1825"/>
                </a:solidFill>
                <a:latin typeface="Microsoft YaHei"/>
                <a:ea typeface="Microsoft YaHei"/>
              </a:rPr>
              <a:t>上下文清晰、验证可执行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1" y="3621024"/>
            <a:ext cx="277977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0CA469"/>
                </a:solidFill>
                <a:latin typeface="Microsoft YaHei"/>
                <a:ea typeface="Microsoft YaHei"/>
              </a:rPr>
              <a:t>可引入 Agent 协作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892040"/>
            <a:ext cx="10533888" cy="640080"/>
          </a:xfrm>
          <a:prstGeom prst="round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102352"/>
            <a:ext cx="104058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真实团队通常组合这些能力，形成可靠交付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管理收束  /  价值与风险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35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400" b="1">
                <a:solidFill>
                  <a:srgbClr val="0E1825"/>
                </a:solidFill>
                <a:latin typeface="Microsoft YaHei"/>
                <a:ea typeface="Microsoft YaHei"/>
              </a:rPr>
              <a:t>更短反馈距离，也可能更快放大错误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426464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提效能力必须配合控制能力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148840"/>
            <a:ext cx="4992624" cy="2487168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" y="2313432"/>
            <a:ext cx="438912" cy="41148"/>
          </a:xfrm>
          <a:prstGeom prst="rect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478024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0E1825"/>
                </a:solidFill>
                <a:latin typeface="Microsoft YaHei"/>
                <a:ea typeface="Microsoft YaHei"/>
              </a:rPr>
              <a:t>潜在价值</a:t>
            </a:r>
          </a:p>
        </p:txBody>
      </p:sp>
      <p:sp>
        <p:nvSpPr>
          <p:cNvPr id="12" name="Oval 11"/>
          <p:cNvSpPr/>
          <p:nvPr/>
        </p:nvSpPr>
        <p:spPr>
          <a:xfrm>
            <a:off x="841247" y="3035808"/>
            <a:ext cx="68580" cy="68580"/>
          </a:xfrm>
          <a:prstGeom prst="ellipse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39" y="293522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快速阅读上下文</a:t>
            </a:r>
          </a:p>
        </p:txBody>
      </p:sp>
      <p:sp>
        <p:nvSpPr>
          <p:cNvPr id="14" name="Oval 13"/>
          <p:cNvSpPr/>
          <p:nvPr/>
        </p:nvSpPr>
        <p:spPr>
          <a:xfrm>
            <a:off x="841247" y="3392424"/>
            <a:ext cx="68580" cy="68580"/>
          </a:xfrm>
          <a:prstGeom prst="ellipse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39" y="32918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缩短修改循环</a:t>
            </a:r>
          </a:p>
        </p:txBody>
      </p:sp>
      <p:sp>
        <p:nvSpPr>
          <p:cNvPr id="16" name="Oval 15"/>
          <p:cNvSpPr/>
          <p:nvPr/>
        </p:nvSpPr>
        <p:spPr>
          <a:xfrm>
            <a:off x="841247" y="3749040"/>
            <a:ext cx="68580" cy="68580"/>
          </a:xfrm>
          <a:prstGeom prst="ellipse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39" y="364845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及时形成证据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8192" y="2148840"/>
            <a:ext cx="4992624" cy="2487168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3" y="2313432"/>
            <a:ext cx="438912" cy="41148"/>
          </a:xfrm>
          <a:prstGeom prst="rect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3" y="2478024"/>
            <a:ext cx="46634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0E1825"/>
                </a:solidFill>
                <a:latin typeface="Microsoft YaHei"/>
                <a:ea typeface="Microsoft YaHei"/>
              </a:rPr>
              <a:t>必须防范</a:t>
            </a:r>
          </a:p>
        </p:txBody>
      </p:sp>
      <p:sp>
        <p:nvSpPr>
          <p:cNvPr id="21" name="Oval 20"/>
          <p:cNvSpPr/>
          <p:nvPr/>
        </p:nvSpPr>
        <p:spPr>
          <a:xfrm>
            <a:off x="6291072" y="3035808"/>
            <a:ext cx="68580" cy="68580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293522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误解快速实现</a:t>
            </a:r>
          </a:p>
        </p:txBody>
      </p:sp>
      <p:sp>
        <p:nvSpPr>
          <p:cNvPr id="23" name="Oval 22"/>
          <p:cNvSpPr/>
          <p:nvPr/>
        </p:nvSpPr>
        <p:spPr>
          <a:xfrm>
            <a:off x="6291072" y="3392424"/>
            <a:ext cx="68580" cy="68580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32918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越界扩大范围</a:t>
            </a:r>
          </a:p>
        </p:txBody>
      </p:sp>
      <p:sp>
        <p:nvSpPr>
          <p:cNvPr id="25" name="Oval 24"/>
          <p:cNvSpPr/>
          <p:nvPr/>
        </p:nvSpPr>
        <p:spPr>
          <a:xfrm>
            <a:off x="6291072" y="3749040"/>
            <a:ext cx="68580" cy="68580"/>
          </a:xfrm>
          <a:prstGeom prst="ellipse">
            <a:avLst/>
          </a:prstGeom>
          <a:solidFill>
            <a:srgbClr val="F38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364845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无验证却完成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" y="5212080"/>
            <a:ext cx="594360" cy="41148"/>
          </a:xfrm>
          <a:prstGeom prst="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5376672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>
                <a:solidFill>
                  <a:srgbClr val="043D93"/>
                </a:solidFill>
                <a:latin typeface="Microsoft YaHei"/>
                <a:ea typeface="Microsoft YaHei"/>
              </a:rPr>
              <a:t>真正要判断的是：团队能否控制加速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管理收束  /  检查清单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36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引入 Agent 前，先检查任务条件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任何关键条件不清，先完善治理输入</a:t>
            </a:r>
          </a:p>
        </p:txBody>
      </p:sp>
      <p:sp>
        <p:nvSpPr>
          <p:cNvPr id="9" name="Oval 8"/>
          <p:cNvSpPr/>
          <p:nvPr/>
        </p:nvSpPr>
        <p:spPr>
          <a:xfrm>
            <a:off x="804672" y="1938528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02536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83664"/>
            <a:ext cx="51389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000" b="1">
                <a:solidFill>
                  <a:srgbClr val="0E1825"/>
                </a:solidFill>
                <a:latin typeface="Microsoft YaHei"/>
                <a:ea typeface="Microsoft YaHei"/>
              </a:rPr>
              <a:t>目标能否明确表述？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68896" y="2093976"/>
            <a:ext cx="3602736" cy="0"/>
          </a:xfrm>
          <a:prstGeom prst="line">
            <a:avLst/>
          </a:prstGeom>
          <a:ln w="1270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95360" y="1883664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6F7C8E"/>
                </a:solidFill>
                <a:latin typeface="Microsoft YaHei"/>
                <a:ea typeface="Microsoft YaHei"/>
              </a:rPr>
              <a:t>是 / 否 / 待完善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2569464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633472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514600"/>
            <a:ext cx="51389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000" b="1">
                <a:solidFill>
                  <a:srgbClr val="0E1825"/>
                </a:solidFill>
                <a:latin typeface="Microsoft YaHei"/>
                <a:ea typeface="Microsoft YaHei"/>
              </a:rPr>
              <a:t>范围能否写成约束？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68896" y="2724912"/>
            <a:ext cx="3602736" cy="0"/>
          </a:xfrm>
          <a:prstGeom prst="line">
            <a:avLst/>
          </a:prstGeom>
          <a:ln w="1270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595360" y="2514600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6F7C8E"/>
                </a:solidFill>
                <a:latin typeface="Microsoft YaHei"/>
                <a:ea typeface="Microsoft YaHei"/>
              </a:rPr>
              <a:t>是 / 否 / 待完善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" y="3200400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264408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145536"/>
            <a:ext cx="51389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000" b="1">
                <a:solidFill>
                  <a:srgbClr val="0E1825"/>
                </a:solidFill>
                <a:latin typeface="Microsoft YaHei"/>
                <a:ea typeface="Microsoft YaHei"/>
              </a:rPr>
              <a:t>上下文是否可提供？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68896" y="3355848"/>
            <a:ext cx="3602736" cy="0"/>
          </a:xfrm>
          <a:prstGeom prst="line">
            <a:avLst/>
          </a:prstGeom>
          <a:ln w="1270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95360" y="3145536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6F7C8E"/>
                </a:solidFill>
                <a:latin typeface="Microsoft YaHei"/>
                <a:ea typeface="Microsoft YaHei"/>
              </a:rPr>
              <a:t>是 / 否 / 待完善</a:t>
            </a:r>
          </a:p>
        </p:txBody>
      </p:sp>
      <p:sp>
        <p:nvSpPr>
          <p:cNvPr id="24" name="Oval 23"/>
          <p:cNvSpPr/>
          <p:nvPr/>
        </p:nvSpPr>
        <p:spPr>
          <a:xfrm>
            <a:off x="804672" y="3831335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895344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776472"/>
            <a:ext cx="51389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000" b="1">
                <a:solidFill>
                  <a:srgbClr val="0E1825"/>
                </a:solidFill>
                <a:latin typeface="Microsoft YaHei"/>
                <a:ea typeface="Microsoft YaHei"/>
              </a:rPr>
              <a:t>任务能否分段验收？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68896" y="3986784"/>
            <a:ext cx="3602736" cy="0"/>
          </a:xfrm>
          <a:prstGeom prst="line">
            <a:avLst/>
          </a:prstGeom>
          <a:ln w="1270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595360" y="3776472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6F7C8E"/>
                </a:solidFill>
                <a:latin typeface="Microsoft YaHei"/>
                <a:ea typeface="Microsoft YaHei"/>
              </a:rPr>
              <a:t>是 / 否 / 待完善</a:t>
            </a:r>
          </a:p>
        </p:txBody>
      </p:sp>
      <p:sp>
        <p:nvSpPr>
          <p:cNvPr id="29" name="Oval 28"/>
          <p:cNvSpPr/>
          <p:nvPr/>
        </p:nvSpPr>
        <p:spPr>
          <a:xfrm>
            <a:off x="804672" y="4462272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383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526280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38321"/>
                </a:solidFill>
                <a:latin typeface="Microsoft YaHei"/>
                <a:ea typeface="Microsoft YaHei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407408"/>
            <a:ext cx="51389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000" b="1">
                <a:solidFill>
                  <a:srgbClr val="0E1825"/>
                </a:solidFill>
                <a:latin typeface="Microsoft YaHei"/>
                <a:ea typeface="Microsoft YaHei"/>
              </a:rPr>
              <a:t>敏感权限是否可隔离？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68896" y="4617720"/>
            <a:ext cx="3602736" cy="0"/>
          </a:xfrm>
          <a:prstGeom prst="line">
            <a:avLst/>
          </a:prstGeom>
          <a:ln w="1270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595360" y="4407408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6F7C8E"/>
                </a:solidFill>
                <a:latin typeface="Microsoft YaHei"/>
                <a:ea typeface="Microsoft YaHei"/>
              </a:rPr>
              <a:t>是 / 否 / 待完善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管理收束  /  检查清单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37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引入 Agent 后，谁来确认结果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没有责任归属，就没有可靠委派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874519"/>
            <a:ext cx="1207008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933955"/>
            <a:ext cx="11521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规格批准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2304" y="1911095"/>
            <a:ext cx="40416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344052"/>
                </a:solidFill>
                <a:latin typeface="Microsoft YaHei"/>
                <a:ea typeface="Microsoft YaHei"/>
              </a:rPr>
              <a:t>谁确认目标与范围？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901951"/>
            <a:ext cx="3127248" cy="265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35824" y="1947672"/>
            <a:ext cx="279806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6F7C8E"/>
                </a:solidFill>
                <a:latin typeface="Microsoft YaHei"/>
                <a:ea typeface="Microsoft YaHei"/>
              </a:rPr>
              <a:t>责任人 / 机制：____________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2523744"/>
            <a:ext cx="1207008" cy="310896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583179"/>
            <a:ext cx="11521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证据复核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2304" y="2560320"/>
            <a:ext cx="40416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344052"/>
                </a:solidFill>
                <a:latin typeface="Microsoft YaHei"/>
                <a:ea typeface="Microsoft YaHei"/>
              </a:rPr>
              <a:t>谁核对验证结果？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551175"/>
            <a:ext cx="3127248" cy="265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4" y="2596896"/>
            <a:ext cx="279806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6F7C8E"/>
                </a:solidFill>
                <a:latin typeface="Microsoft YaHei"/>
                <a:ea typeface="Microsoft YaHei"/>
              </a:rPr>
              <a:t>责任人 / 机制：____________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3172968"/>
            <a:ext cx="1207008" cy="310896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3232403"/>
            <a:ext cx="11521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38321"/>
                </a:solidFill>
                <a:latin typeface="Microsoft YaHei"/>
                <a:ea typeface="Microsoft YaHei"/>
              </a:rPr>
              <a:t>越界拦截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2304" y="3209544"/>
            <a:ext cx="40416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344052"/>
                </a:solidFill>
                <a:latin typeface="Microsoft YaHei"/>
                <a:ea typeface="Microsoft YaHei"/>
              </a:rPr>
              <a:t>谁处理范围偏差？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3200399"/>
            <a:ext cx="3127248" cy="265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35824" y="3246120"/>
            <a:ext cx="279806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6F7C8E"/>
                </a:solidFill>
                <a:latin typeface="Microsoft YaHei"/>
                <a:ea typeface="Microsoft YaHei"/>
              </a:rPr>
              <a:t>责任人 / 机制：____________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3822191"/>
            <a:ext cx="1207008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3881628"/>
            <a:ext cx="11521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发布决定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2304" y="3858768"/>
            <a:ext cx="40416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344052"/>
                </a:solidFill>
                <a:latin typeface="Microsoft YaHei"/>
                <a:ea typeface="Microsoft YaHei"/>
              </a:rPr>
              <a:t>谁承担交付责任？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3849624"/>
            <a:ext cx="3127248" cy="265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35824" y="3895344"/>
            <a:ext cx="279806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6F7C8E"/>
                </a:solidFill>
                <a:latin typeface="Microsoft YaHei"/>
                <a:ea typeface="Microsoft YaHei"/>
              </a:rPr>
              <a:t>责任人 / 机制：____________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" y="4471416"/>
            <a:ext cx="1207008" cy="310896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" y="4530852"/>
            <a:ext cx="11521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CA469"/>
                </a:solidFill>
                <a:latin typeface="Microsoft YaHei"/>
                <a:ea typeface="Microsoft YaHei"/>
              </a:rPr>
              <a:t>记录留存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32304" y="4507992"/>
            <a:ext cx="40416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344052"/>
                </a:solidFill>
                <a:latin typeface="Microsoft YaHei"/>
                <a:ea typeface="Microsoft YaHei"/>
              </a:rPr>
              <a:t>谁保存过程证据？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4498848"/>
            <a:ext cx="3127248" cy="265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35824" y="4544568"/>
            <a:ext cx="279806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6F7C8E"/>
                </a:solidFill>
                <a:latin typeface="Microsoft YaHei"/>
                <a:ea typeface="Microsoft YaHei"/>
              </a:rPr>
              <a:t>责任人 / 机制：____________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管理收束  /  课程总结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38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400" b="1">
                <a:solidFill>
                  <a:srgbClr val="0E1825"/>
                </a:solidFill>
                <a:latin typeface="Microsoft YaHei"/>
                <a:ea typeface="Microsoft YaHei"/>
              </a:rPr>
              <a:t>从阶段控制，到持续反馈，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6309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800" b="1">
                <a:solidFill>
                  <a:srgbClr val="0756C7"/>
                </a:solidFill>
                <a:latin typeface="Microsoft YaHei"/>
                <a:ea typeface="Microsoft YaHei"/>
              </a:rPr>
              <a:t>再到受控执行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6384" y="3035808"/>
            <a:ext cx="10204704" cy="0"/>
          </a:xfrm>
          <a:prstGeom prst="line">
            <a:avLst/>
          </a:prstGeom>
          <a:ln w="27940">
            <a:solidFill>
              <a:srgbClr val="075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14400" y="2825496"/>
            <a:ext cx="438912" cy="43891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29077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1">
                <a:solidFill>
                  <a:srgbClr val="0756C7"/>
                </a:solidFill>
                <a:latin typeface="Microsoft YaHei"/>
                <a:ea typeface="Microsoft YaHei"/>
              </a:rPr>
              <a:t>瀑布 / 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57016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建立基线与追踪</a:t>
            </a:r>
          </a:p>
        </p:txBody>
      </p:sp>
      <p:sp>
        <p:nvSpPr>
          <p:cNvPr id="13" name="Oval 12"/>
          <p:cNvSpPr/>
          <p:nvPr/>
        </p:nvSpPr>
        <p:spPr>
          <a:xfrm>
            <a:off x="4462272" y="2825496"/>
            <a:ext cx="438912" cy="43891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75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231136"/>
            <a:ext cx="29077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1">
                <a:solidFill>
                  <a:srgbClr val="0756C7"/>
                </a:solidFill>
                <a:latin typeface="Microsoft YaHei"/>
                <a:ea typeface="Microsoft YaHei"/>
              </a:rPr>
              <a:t>敏捷 / DevOps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3557016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缩短价值反馈</a:t>
            </a:r>
          </a:p>
        </p:txBody>
      </p:sp>
      <p:sp>
        <p:nvSpPr>
          <p:cNvPr id="16" name="Oval 15"/>
          <p:cNvSpPr/>
          <p:nvPr/>
        </p:nvSpPr>
        <p:spPr>
          <a:xfrm>
            <a:off x="8010144" y="2825496"/>
            <a:ext cx="438912" cy="43891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CA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2231136"/>
            <a:ext cx="29077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1">
                <a:solidFill>
                  <a:srgbClr val="0CA469"/>
                </a:solidFill>
                <a:latin typeface="Microsoft YaHei"/>
                <a:ea typeface="Microsoft YaHei"/>
              </a:rPr>
              <a:t>AI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557016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提高受控执行密度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" y="4864608"/>
            <a:ext cx="10588752" cy="713232"/>
          </a:xfrm>
          <a:prstGeom prst="roundRect">
            <a:avLst/>
          </a:prstGeom>
          <a:solidFill>
            <a:srgbClr val="04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093208"/>
            <a:ext cx="1031443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Agent 加速软件工作，人定义方向并对结果负责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"/>
            <a:ext cx="25603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0756C7"/>
                </a:solidFill>
                <a:latin typeface="Microsoft YaHei"/>
                <a:ea typeface="Microsoft YaHei"/>
              </a:rPr>
              <a:t>参考资料  /  事实来源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521207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455664"/>
            <a:ext cx="11036808" cy="16459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4754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传统软件开发模式与 AI Agent 时代的软件开发模式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6496" y="6537960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6F7C8E"/>
                </a:solidFill>
                <a:latin typeface="Microsoft YaHei"/>
                <a:ea typeface="Microsoft YaHei"/>
              </a:rPr>
              <a:t>39  /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49808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800" b="1">
                <a:solidFill>
                  <a:srgbClr val="0E1825"/>
                </a:solidFill>
                <a:latin typeface="Microsoft YaHei"/>
                <a:ea typeface="Microsoft YaHei"/>
              </a:rPr>
              <a:t>参考资料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07592"/>
            <a:ext cx="10241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6F7C8E"/>
                </a:solidFill>
                <a:latin typeface="Microsoft YaHei"/>
                <a:ea typeface="Microsoft YaHei"/>
              </a:rPr>
              <a:t>公开实践仅用于说明取向，不构成选型推荐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112264"/>
            <a:ext cx="530352" cy="41148"/>
          </a:xfrm>
          <a:prstGeom prst="rect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9616" y="1965960"/>
            <a:ext cx="217627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000" b="1">
                <a:solidFill>
                  <a:srgbClr val="0E1825"/>
                </a:solidFill>
                <a:latin typeface="Microsoft YaHei"/>
                <a:ea typeface="Microsoft YaHei"/>
              </a:rPr>
              <a:t>Spec Kit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13632" y="2002536"/>
            <a:ext cx="26151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规格驱动开发工具包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2002536"/>
            <a:ext cx="363931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0756C7"/>
                </a:solidFill>
                <a:latin typeface="Microsoft YaHei"/>
                <a:ea typeface="Microsoft YaHei"/>
              </a:rPr>
              <a:t>github.com/github/spec-kit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072384"/>
            <a:ext cx="530352" cy="41148"/>
          </a:xfrm>
          <a:prstGeom prst="rect">
            <a:avLst/>
          </a:prstGeom>
          <a:solidFill>
            <a:srgbClr val="0CA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99616" y="2926080"/>
            <a:ext cx="217627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000" b="1">
                <a:solidFill>
                  <a:srgbClr val="0E1825"/>
                </a:solidFill>
                <a:latin typeface="Microsoft YaHei"/>
                <a:ea typeface="Microsoft YaHei"/>
              </a:rPr>
              <a:t>OpenSpec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2" y="2962656"/>
            <a:ext cx="26151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轻量规格与变更组织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2962656"/>
            <a:ext cx="363931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0CA469"/>
                </a:solidFill>
                <a:latin typeface="Microsoft YaHei"/>
                <a:ea typeface="Microsoft YaHei"/>
              </a:rPr>
              <a:t>github.com/Fission-AI/OpenSpec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4032504"/>
            <a:ext cx="530352" cy="41148"/>
          </a:xfrm>
          <a:prstGeom prst="rect">
            <a:avLst/>
          </a:prstGeom>
          <a:solidFill>
            <a:srgbClr val="075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99616" y="3886200"/>
            <a:ext cx="217627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000" b="1">
                <a:solidFill>
                  <a:srgbClr val="0E1825"/>
                </a:solidFill>
                <a:latin typeface="Microsoft YaHei"/>
                <a:ea typeface="Microsoft YaHei"/>
              </a:rPr>
              <a:t>Superpowers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2" y="3922776"/>
            <a:ext cx="26151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344052"/>
                </a:solidFill>
                <a:latin typeface="Microsoft YaHei"/>
                <a:ea typeface="Microsoft YaHei"/>
              </a:rPr>
              <a:t>Agent 开发过程方法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3922776"/>
            <a:ext cx="363931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0756C7"/>
                </a:solidFill>
                <a:latin typeface="Microsoft YaHei"/>
                <a:ea typeface="Microsoft YaHei"/>
              </a:rPr>
              <a:t>github.com/obra/superpowers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9808" y="5166360"/>
            <a:ext cx="10268712" cy="0"/>
          </a:xfrm>
          <a:prstGeom prst="line">
            <a:avLst/>
          </a:prstGeom>
          <a:ln w="12700">
            <a:solidFill>
              <a:srgbClr val="E4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9808" y="5468112"/>
            <a:ext cx="749807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6F7C8E"/>
                </a:solidFill>
                <a:latin typeface="Microsoft YaHei"/>
                <a:ea typeface="Microsoft YaHei"/>
              </a:rPr>
              <a:t>资料依据其官方公开仓库整理，访问日期：2026-05-27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5413248"/>
            <a:ext cx="841248" cy="310896"/>
          </a:xfrm>
          <a:prstGeom prst="round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77272" y="5472684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0756C7"/>
                </a:solidFill>
                <a:latin typeface="Microsoft YaHei"/>
                <a:ea typeface="Microsoft YaHei"/>
              </a:rP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传统软件开发模式与 AI Agent 时代的软件开发模式 - 新版完整母版</dc:title>
  <dc:subject>技术管理培训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