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" y="676656"/>
            <a:ext cx="749808" cy="50292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02412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600" b="1">
                <a:solidFill>
                  <a:srgbClr val="111111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74980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B4D85"/>
                </a:solidFill>
                <a:latin typeface="Microsoft YaHei"/>
                <a:ea typeface="Microsoft YaHei"/>
              </a:rPr>
              <a:t>AI Agent 协作下的软件项目构建全过程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>
                <a:solidFill>
                  <a:srgbClr val="6F7C8E"/>
                </a:solidFill>
                <a:latin typeface="Microsoft YaHei"/>
                <a:ea typeface="Microsoft YaHei"/>
              </a:rPr>
              <a:t>以企业售后工单系统 MVP 为例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4206240"/>
            <a:ext cx="1872691" cy="54864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4315968"/>
            <a:ext cx="18178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20" b="1">
                <a:solidFill>
                  <a:srgbClr val="1464A5"/>
                </a:solidFill>
                <a:latin typeface="Microsoft YaHei"/>
                <a:ea typeface="Microsoft YaHei"/>
              </a:rPr>
              <a:t>想法澄清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9931" y="4361688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7091" y="4206240"/>
            <a:ext cx="1872691" cy="54864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4523" y="4315968"/>
            <a:ext cx="18178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20" b="1">
                <a:solidFill>
                  <a:srgbClr val="1464A5"/>
                </a:solidFill>
                <a:latin typeface="Microsoft YaHei"/>
                <a:ea typeface="Microsoft YaHei"/>
              </a:rPr>
              <a:t>需求基线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0638" y="4361688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87798" y="4206240"/>
            <a:ext cx="1872691" cy="54864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5230" y="4315968"/>
            <a:ext cx="18178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20" b="1">
                <a:solidFill>
                  <a:srgbClr val="1464A5"/>
                </a:solidFill>
                <a:latin typeface="Microsoft YaHei"/>
                <a:ea typeface="Microsoft YaHei"/>
              </a:rPr>
              <a:t>设计基线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1345" y="4361688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88505" y="4206240"/>
            <a:ext cx="1872691" cy="54864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5937" y="4315968"/>
            <a:ext cx="18178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20" b="1">
                <a:solidFill>
                  <a:srgbClr val="1464A5"/>
                </a:solidFill>
                <a:latin typeface="Microsoft YaHei"/>
                <a:ea typeface="Microsoft YaHei"/>
              </a:rPr>
              <a:t>测试验收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2052" y="4361688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89212" y="4206240"/>
            <a:ext cx="1872691" cy="54864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16644" y="4315968"/>
            <a:ext cx="181782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20" b="1">
                <a:solidFill>
                  <a:srgbClr val="1464A5"/>
                </a:solidFill>
                <a:latin typeface="Microsoft YaHei"/>
                <a:ea typeface="Microsoft YaHei"/>
              </a:rPr>
              <a:t>实施计划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5998464"/>
            <a:ext cx="6766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产品经理 / 项目经理 / 研发管理人员 / 业务分析人员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35056" y="5998464"/>
            <a:ext cx="76809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6F7C8E"/>
                </a:solidFill>
                <a:latin typeface="Microsoft YaHei"/>
                <a:ea typeface="Microsoft YaHei"/>
              </a:rPr>
              <a:t>01 /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开场 / 案例定位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02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一个小 MVP，足够观察完整工程过程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243584"/>
            <a:ext cx="10241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>
                <a:solidFill>
                  <a:srgbClr val="6F7C8E"/>
                </a:solidFill>
                <a:latin typeface="Microsoft YaHei"/>
                <a:ea typeface="Microsoft YaHei"/>
              </a:rPr>
              <a:t>它不大，但包含真实软件项目常见的风险点。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01952"/>
            <a:ext cx="3246120" cy="3163824"/>
          </a:xfrm>
          <a:prstGeom prst="roundRect">
            <a:avLst/>
          </a:prstGeom>
          <a:solidFill>
            <a:srgbClr val="0B4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68880"/>
            <a:ext cx="2697480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Microsoft YaHei"/>
                <a:ea typeface="Microsoft YaHei"/>
              </a:rPr>
              <a:t>企业售后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Microsoft YaHei"/>
                <a:ea typeface="Microsoft YaHei"/>
              </a:rPr>
              <a:t>工单系统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Microsoft YaHei"/>
                <a:ea typeface="Microsoft YaHei"/>
              </a:rPr>
              <a:t>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2834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ECF4FB"/>
                </a:solidFill>
                <a:latin typeface="Microsoft YaHei"/>
                <a:ea typeface="Microsoft YaHei"/>
              </a:rPr>
              <a:t>从想法到开发前基线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728216"/>
            <a:ext cx="384048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792224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6048" y="17007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三类角色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4" y="1728216"/>
            <a:ext cx="41330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客户、客服、管理员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386584"/>
            <a:ext cx="384048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2450591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235915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权限边界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2386584"/>
            <a:ext cx="41330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客户本人 / 客服负责人 / 管理员全部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044951"/>
            <a:ext cx="384048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3108959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30175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状态流转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9984" y="3044951"/>
            <a:ext cx="41330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待分配到已关闭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703320"/>
            <a:ext cx="384048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3767328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367588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数据持久化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4" y="3703320"/>
            <a:ext cx="41330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JSON 与未来数据库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4361688"/>
            <a:ext cx="384048" cy="292608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4425696"/>
            <a:ext cx="3291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20A36A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56048" y="433425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验收证据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9984" y="4361688"/>
            <a:ext cx="41330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权限、安全、状态、持久化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开场 / 课程边界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03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本课复盘过程，不推销工具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27632"/>
            <a:ext cx="5102352" cy="406908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6112" y="1792224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947672"/>
            <a:ext cx="4773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本课聚焦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2432304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340864"/>
            <a:ext cx="4608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想法如何被问清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2743200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651760"/>
            <a:ext cx="4608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MVP 范围如何确认</a:t>
            </a:r>
          </a:p>
        </p:txBody>
      </p:sp>
      <p:sp>
        <p:nvSpPr>
          <p:cNvPr id="15" name="Oval 14"/>
          <p:cNvSpPr/>
          <p:nvPr/>
        </p:nvSpPr>
        <p:spPr>
          <a:xfrm>
            <a:off x="932688" y="3054096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962656"/>
            <a:ext cx="4608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文档如何衔接</a:t>
            </a:r>
          </a:p>
        </p:txBody>
      </p:sp>
      <p:sp>
        <p:nvSpPr>
          <p:cNvPr id="17" name="Oval 16"/>
          <p:cNvSpPr/>
          <p:nvPr/>
        </p:nvSpPr>
        <p:spPr>
          <a:xfrm>
            <a:off x="932688" y="3364992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273552"/>
            <a:ext cx="4608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验收如何前置</a:t>
            </a:r>
          </a:p>
        </p:txBody>
      </p:sp>
      <p:sp>
        <p:nvSpPr>
          <p:cNvPr id="19" name="Oval 18"/>
          <p:cNvSpPr/>
          <p:nvPr/>
        </p:nvSpPr>
        <p:spPr>
          <a:xfrm>
            <a:off x="932688" y="3675887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584448"/>
            <a:ext cx="4608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Agent 如何协作</a:t>
            </a:r>
          </a:p>
        </p:txBody>
      </p:sp>
      <p:sp>
        <p:nvSpPr>
          <p:cNvPr id="21" name="Oval 20"/>
          <p:cNvSpPr/>
          <p:nvPr/>
        </p:nvSpPr>
        <p:spPr>
          <a:xfrm>
            <a:off x="932688" y="3986783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895344"/>
            <a:ext cx="4608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人如何负责判断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1627632"/>
            <a:ext cx="5102352" cy="4069080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64224" y="1792224"/>
            <a:ext cx="420624" cy="4114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1947672"/>
            <a:ext cx="47731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本课不展开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243230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2340864"/>
            <a:ext cx="4608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FastAPI 代码实现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2743200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7104" y="2651760"/>
            <a:ext cx="4608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前端编码细节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3054096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2962656"/>
            <a:ext cx="4608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AI 工具安装教程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3364992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3273552"/>
            <a:ext cx="4608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产品售卖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3675887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3584448"/>
            <a:ext cx="46085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生产部署运维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开场 / 主线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04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好的协作，是逐步减少不确定性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971800"/>
            <a:ext cx="10058400" cy="0"/>
          </a:xfrm>
          <a:prstGeom prst="line">
            <a:avLst/>
          </a:prstGeom>
          <a:ln w="254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152144" y="278892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2889504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1464A5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10312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模糊想法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456432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6F7C8E"/>
                </a:solidFill>
                <a:latin typeface="Microsoft YaHei"/>
                <a:ea typeface="Microsoft YaHei"/>
              </a:rPr>
              <a:t>一句话</a:t>
            </a:r>
          </a:p>
        </p:txBody>
      </p:sp>
      <p:sp>
        <p:nvSpPr>
          <p:cNvPr id="13" name="Oval 12"/>
          <p:cNvSpPr/>
          <p:nvPr/>
        </p:nvSpPr>
        <p:spPr>
          <a:xfrm>
            <a:off x="3008375" y="278892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08375" y="2889504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1464A5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39" y="210312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选择题澄清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599" y="3456432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6F7C8E"/>
                </a:solidFill>
                <a:latin typeface="Microsoft YaHei"/>
                <a:ea typeface="Microsoft YaHei"/>
              </a:rPr>
              <a:t>服务谁/做什么/不做什么</a:t>
            </a:r>
          </a:p>
        </p:txBody>
      </p:sp>
      <p:sp>
        <p:nvSpPr>
          <p:cNvPr id="17" name="Oval 16"/>
          <p:cNvSpPr/>
          <p:nvPr/>
        </p:nvSpPr>
        <p:spPr>
          <a:xfrm>
            <a:off x="4864608" y="278892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8" y="2889504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1464A5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210312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产品基线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56432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6F7C8E"/>
                </a:solidFill>
                <a:latin typeface="Microsoft YaHei"/>
                <a:ea typeface="Microsoft YaHei"/>
              </a:rPr>
              <a:t>规范 v1.0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278892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889504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1464A5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210312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需求与设计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3456432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6F7C8E"/>
                </a:solidFill>
                <a:latin typeface="Microsoft YaHei"/>
                <a:ea typeface="Microsoft YaHei"/>
              </a:rPr>
              <a:t>PRD/SRS/设计</a:t>
            </a:r>
          </a:p>
        </p:txBody>
      </p:sp>
      <p:sp>
        <p:nvSpPr>
          <p:cNvPr id="25" name="Oval 24"/>
          <p:cNvSpPr/>
          <p:nvPr/>
        </p:nvSpPr>
        <p:spPr>
          <a:xfrm>
            <a:off x="8577072" y="278892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7072" y="2889504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1464A5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210312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测试验收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83296" y="3456432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6F7C8E"/>
                </a:solidFill>
                <a:latin typeface="Microsoft YaHei"/>
                <a:ea typeface="Microsoft YaHei"/>
              </a:rPr>
              <a:t>矩阵/测试方案</a:t>
            </a:r>
          </a:p>
        </p:txBody>
      </p:sp>
      <p:sp>
        <p:nvSpPr>
          <p:cNvPr id="29" name="Oval 28"/>
          <p:cNvSpPr/>
          <p:nvPr/>
        </p:nvSpPr>
        <p:spPr>
          <a:xfrm>
            <a:off x="10433303" y="2788920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33303" y="2889504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00" b="1">
                <a:solidFill>
                  <a:srgbClr val="20A36A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0967" y="2103120"/>
            <a:ext cx="11704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实施计划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3456432"/>
            <a:ext cx="135331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6F7C8E"/>
                </a:solidFill>
                <a:latin typeface="Microsoft YaHei"/>
                <a:ea typeface="Microsoft YaHei"/>
              </a:rPr>
              <a:t>M0-M6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" y="498348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0B4D85"/>
                </a:solidFill>
                <a:latin typeface="Microsoft YaHei"/>
                <a:ea typeface="Microsoft YaHei"/>
              </a:rPr>
              <a:t>前期工作不是“多写文档”，而是持续回答关键问题。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需求澄清 / 起点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05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起点不是代码，而是一个想法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00784"/>
            <a:ext cx="4434840" cy="347472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</a:rPr>
              <a:t>项目初始状态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578608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2487168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工作目录为空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3017520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2926080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没有已有代码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456432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3364992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没有现成文档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895344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3803904"/>
            <a:ext cx="3328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没有既定技术约束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59552" y="1700784"/>
            <a:ext cx="5257800" cy="1874519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15584" y="1947672"/>
            <a:ext cx="16459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F28C28"/>
                </a:solidFill>
                <a:latin typeface="Microsoft YaHei"/>
                <a:ea typeface="Microsoft YaHei"/>
              </a:rPr>
              <a:t>原始想法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5584" y="2395728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Microsoft YaHei"/>
                <a:ea typeface="Microsoft YaHei"/>
              </a:rPr>
              <a:t>开发一个企业工单系统，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Microsoft YaHei"/>
                <a:ea typeface="Microsoft YaHei"/>
              </a:rPr>
              <a:t>先实现 MVP，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>
                <a:solidFill>
                  <a:srgbClr val="111111"/>
                </a:solidFill>
                <a:latin typeface="Microsoft YaHei"/>
                <a:ea typeface="Microsoft YaHei"/>
              </a:rPr>
              <a:t>再迭代开发。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59552" y="3986784"/>
            <a:ext cx="5257800" cy="118872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15584" y="4315968"/>
            <a:ext cx="4617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B4D85"/>
                </a:solidFill>
                <a:latin typeface="Microsoft YaHei"/>
                <a:ea typeface="Microsoft YaHei"/>
              </a:rPr>
              <a:t>第一步不是生成代码，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B4D85"/>
                </a:solidFill>
                <a:latin typeface="Microsoft YaHei"/>
                <a:ea typeface="Microsoft YaHei"/>
              </a:rPr>
              <a:t>而是把隐藏选择问出来。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需求澄清 / 场景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06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第一个收敛：这是哪一种工单？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664208"/>
            <a:ext cx="2414016" cy="10789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1865376"/>
            <a:ext cx="347472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2938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184708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50" b="1">
                <a:solidFill>
                  <a:srgbClr val="111111"/>
                </a:solidFill>
                <a:latin typeface="Microsoft YaHei"/>
                <a:ea typeface="Microsoft YaHei"/>
              </a:rPr>
              <a:t>IT 服务台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67712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6F7C8E"/>
                </a:solidFill>
                <a:latin typeface="Microsoft YaHei"/>
                <a:ea typeface="Microsoft YaHei"/>
              </a:rPr>
              <a:t>账号、设备、网络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3863" y="1664208"/>
            <a:ext cx="2414016" cy="10789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48456" y="1865376"/>
            <a:ext cx="347472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192938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23944" y="184708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50" b="1">
                <a:solidFill>
                  <a:srgbClr val="111111"/>
                </a:solidFill>
                <a:latin typeface="Microsoft YaHei"/>
                <a:ea typeface="Microsoft YaHei"/>
              </a:rPr>
              <a:t>综合服务台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267712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6F7C8E"/>
                </a:solidFill>
                <a:latin typeface="Microsoft YaHei"/>
                <a:ea typeface="Microsoft YaHei"/>
              </a:rPr>
              <a:t>IT、行政、人事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3" y="1664208"/>
            <a:ext cx="2414016" cy="1078992"/>
          </a:xfrm>
          <a:prstGeom prst="roundRect">
            <a:avLst/>
          </a:prstGeom>
          <a:solidFill>
            <a:srgbClr val="EDF8F3"/>
          </a:solidFill>
          <a:ln w="17780">
            <a:solidFill>
              <a:srgbClr val="20A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7375" y="1865376"/>
            <a:ext cx="347472" cy="2926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4807" y="192938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20A36A"/>
                </a:solidFill>
                <a:latin typeface="Microsoft YaHei"/>
                <a:ea typeface="Microsoft YaHe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184708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50" b="1">
                <a:solidFill>
                  <a:srgbClr val="111111"/>
                </a:solidFill>
                <a:latin typeface="Microsoft YaHei"/>
                <a:ea typeface="Microsoft YaHei"/>
              </a:rPr>
              <a:t>客户支持/售后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267712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6F7C8E"/>
                </a:solidFill>
                <a:latin typeface="Microsoft YaHei"/>
                <a:ea typeface="Microsoft YaHei"/>
              </a:rPr>
              <a:t>外部客户问题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3" y="1664208"/>
            <a:ext cx="2414016" cy="10789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6295" y="1865376"/>
            <a:ext cx="347472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7" y="192938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01783" y="1847088"/>
            <a:ext cx="1554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50" b="1">
                <a:solidFill>
                  <a:srgbClr val="111111"/>
                </a:solidFill>
                <a:latin typeface="Microsoft YaHei"/>
                <a:ea typeface="Microsoft YaHei"/>
              </a:rPr>
              <a:t>运维事件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59" y="2267712"/>
            <a:ext cx="19385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6F7C8E"/>
                </a:solidFill>
                <a:latin typeface="Microsoft YaHei"/>
                <a:ea typeface="Microsoft YaHei"/>
              </a:rPr>
              <a:t>告警、故障、变更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3090672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20A36A"/>
                </a:solidFill>
                <a:latin typeface="Microsoft YaHei"/>
                <a:ea typeface="Microsoft YaHei"/>
              </a:rPr>
              <a:t>确认结果：C. 客户支持 / 售后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749039"/>
            <a:ext cx="10104120" cy="3840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3867911"/>
            <a:ext cx="203911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Microsoft YaHei"/>
                <a:ea typeface="Microsoft YaHei"/>
              </a:rPr>
              <a:t>场景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6664" y="3867911"/>
            <a:ext cx="26334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Microsoft YaHei"/>
                <a:ea typeface="Microsoft YaHei"/>
              </a:rPr>
              <a:t>典型角色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9864" y="3867911"/>
            <a:ext cx="51023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Microsoft YaHei"/>
                <a:ea typeface="Microsoft YaHei"/>
              </a:rPr>
              <a:t>流程重点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133087"/>
            <a:ext cx="10104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4233672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333333"/>
                </a:solidFill>
                <a:latin typeface="Microsoft YaHei"/>
                <a:ea typeface="Microsoft YaHei"/>
              </a:rPr>
              <a:t>IT 服务台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35808" y="4233672"/>
            <a:ext cx="2615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333333"/>
                </a:solidFill>
                <a:latin typeface="Microsoft YaHei"/>
                <a:ea typeface="Microsoft YaHei"/>
              </a:rPr>
              <a:t>内部员工、IT 支持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9008" y="4233672"/>
            <a:ext cx="5084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333333"/>
                </a:solidFill>
                <a:latin typeface="Microsoft YaHei"/>
                <a:ea typeface="Microsoft YaHei"/>
              </a:rPr>
              <a:t>内部服务请求与资产问题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517136"/>
            <a:ext cx="1010412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4617720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333333"/>
                </a:solidFill>
                <a:latin typeface="Microsoft YaHei"/>
                <a:ea typeface="Microsoft YaHei"/>
              </a:rPr>
              <a:t>客户售后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35808" y="4617720"/>
            <a:ext cx="2615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333333"/>
                </a:solidFill>
                <a:latin typeface="Microsoft YaHei"/>
                <a:ea typeface="Microsoft YaHei"/>
              </a:rPr>
              <a:t>外部客户、客服、管理员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79008" y="4617720"/>
            <a:ext cx="5084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333333"/>
                </a:solidFill>
                <a:latin typeface="Microsoft YaHei"/>
                <a:ea typeface="Microsoft YaHei"/>
              </a:rPr>
              <a:t>客户提交、内部分配、处理闭环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4901183"/>
            <a:ext cx="10104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968" y="5001768"/>
            <a:ext cx="2020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333333"/>
                </a:solidFill>
                <a:latin typeface="Microsoft YaHei"/>
                <a:ea typeface="Microsoft YaHei"/>
              </a:rPr>
              <a:t>运维事件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35808" y="5001768"/>
            <a:ext cx="2615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333333"/>
                </a:solidFill>
                <a:latin typeface="Microsoft YaHei"/>
                <a:ea typeface="Microsoft YaHei"/>
              </a:rPr>
              <a:t>值班、研发、运维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79008" y="5001768"/>
            <a:ext cx="50840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333333"/>
                </a:solidFill>
                <a:latin typeface="Microsoft YaHei"/>
                <a:ea typeface="Microsoft YaHei"/>
              </a:rPr>
              <a:t>告警响应、影响控制、复盘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需求澄清 / 角色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07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角色决定权限，也决定页面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00784"/>
            <a:ext cx="3429000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" y="1865376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20824"/>
            <a:ext cx="3099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客户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" y="2505456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414016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20" b="0">
                <a:solidFill>
                  <a:srgbClr val="333333"/>
                </a:solidFill>
                <a:latin typeface="Microsoft YaHei"/>
                <a:ea typeface="Microsoft YaHei"/>
              </a:rPr>
              <a:t>开放注册</a:t>
            </a:r>
          </a:p>
        </p:txBody>
      </p:sp>
      <p:sp>
        <p:nvSpPr>
          <p:cNvPr id="13" name="Oval 12"/>
          <p:cNvSpPr/>
          <p:nvPr/>
        </p:nvSpPr>
        <p:spPr>
          <a:xfrm>
            <a:off x="886968" y="2816352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2724912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20" b="0">
                <a:solidFill>
                  <a:srgbClr val="333333"/>
                </a:solidFill>
                <a:latin typeface="Microsoft YaHei"/>
                <a:ea typeface="Microsoft YaHei"/>
              </a:rPr>
              <a:t>创建工单</a:t>
            </a:r>
          </a:p>
        </p:txBody>
      </p:sp>
      <p:sp>
        <p:nvSpPr>
          <p:cNvPr id="15" name="Oval 14"/>
          <p:cNvSpPr/>
          <p:nvPr/>
        </p:nvSpPr>
        <p:spPr>
          <a:xfrm>
            <a:off x="886968" y="3127248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03580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20" b="0">
                <a:solidFill>
                  <a:srgbClr val="333333"/>
                </a:solidFill>
                <a:latin typeface="Microsoft YaHei"/>
                <a:ea typeface="Microsoft YaHei"/>
              </a:rPr>
              <a:t>查看本人</a:t>
            </a:r>
          </a:p>
        </p:txBody>
      </p:sp>
      <p:sp>
        <p:nvSpPr>
          <p:cNvPr id="17" name="Oval 16"/>
          <p:cNvSpPr/>
          <p:nvPr/>
        </p:nvSpPr>
        <p:spPr>
          <a:xfrm>
            <a:off x="886968" y="3438144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346704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20" b="0">
                <a:solidFill>
                  <a:srgbClr val="333333"/>
                </a:solidFill>
                <a:latin typeface="Microsoft YaHei"/>
                <a:ea typeface="Microsoft YaHei"/>
              </a:rPr>
              <a:t>公开留言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1700784"/>
            <a:ext cx="3429000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35424" y="1865376"/>
            <a:ext cx="420624" cy="411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2020824"/>
            <a:ext cx="3099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客服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0" y="2505456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2414016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20" b="0">
                <a:solidFill>
                  <a:srgbClr val="333333"/>
                </a:solidFill>
                <a:latin typeface="Microsoft YaHei"/>
                <a:ea typeface="Microsoft YaHei"/>
              </a:rPr>
              <a:t>管理员创建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0" y="2816352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8304" y="2724912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20" b="0">
                <a:solidFill>
                  <a:srgbClr val="333333"/>
                </a:solidFill>
                <a:latin typeface="Microsoft YaHei"/>
                <a:ea typeface="Microsoft YaHei"/>
              </a:rPr>
              <a:t>查看全部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0" y="3127248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8304" y="303580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20" b="0">
                <a:solidFill>
                  <a:srgbClr val="333333"/>
                </a:solidFill>
                <a:latin typeface="Microsoft YaHei"/>
                <a:ea typeface="Microsoft YaHei"/>
              </a:rPr>
              <a:t>按状态筛选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0" y="3438144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8304" y="3346704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20" b="0">
                <a:solidFill>
                  <a:srgbClr val="333333"/>
                </a:solidFill>
                <a:latin typeface="Microsoft YaHei"/>
                <a:ea typeface="Microsoft YaHei"/>
              </a:rPr>
              <a:t>处理本人负责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65008" y="1700784"/>
            <a:ext cx="3429000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1865376"/>
            <a:ext cx="420624" cy="4114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2020824"/>
            <a:ext cx="3099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管理员</a:t>
            </a:r>
          </a:p>
        </p:txBody>
      </p:sp>
      <p:sp>
        <p:nvSpPr>
          <p:cNvPr id="33" name="Oval 32"/>
          <p:cNvSpPr/>
          <p:nvPr/>
        </p:nvSpPr>
        <p:spPr>
          <a:xfrm>
            <a:off x="8266176" y="2505456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414016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20" b="0">
                <a:solidFill>
                  <a:srgbClr val="333333"/>
                </a:solidFill>
                <a:latin typeface="Microsoft YaHei"/>
                <a:ea typeface="Microsoft YaHei"/>
              </a:rPr>
              <a:t>初始化产生</a:t>
            </a:r>
          </a:p>
        </p:txBody>
      </p:sp>
      <p:sp>
        <p:nvSpPr>
          <p:cNvPr id="35" name="Oval 34"/>
          <p:cNvSpPr/>
          <p:nvPr/>
        </p:nvSpPr>
        <p:spPr>
          <a:xfrm>
            <a:off x="8266176" y="2816352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2724912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20" b="0">
                <a:solidFill>
                  <a:srgbClr val="333333"/>
                </a:solidFill>
                <a:latin typeface="Microsoft YaHei"/>
                <a:ea typeface="Microsoft YaHei"/>
              </a:rPr>
              <a:t>维护分类/账号</a:t>
            </a:r>
          </a:p>
        </p:txBody>
      </p:sp>
      <p:sp>
        <p:nvSpPr>
          <p:cNvPr id="37" name="Oval 36"/>
          <p:cNvSpPr/>
          <p:nvPr/>
        </p:nvSpPr>
        <p:spPr>
          <a:xfrm>
            <a:off x="8266176" y="3127248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3035808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20" b="0">
                <a:solidFill>
                  <a:srgbClr val="333333"/>
                </a:solidFill>
                <a:latin typeface="Microsoft YaHei"/>
                <a:ea typeface="Microsoft YaHei"/>
              </a:rPr>
              <a:t>分配工单</a:t>
            </a:r>
          </a:p>
        </p:txBody>
      </p:sp>
      <p:sp>
        <p:nvSpPr>
          <p:cNvPr id="39" name="Oval 38"/>
          <p:cNvSpPr/>
          <p:nvPr/>
        </p:nvSpPr>
        <p:spPr>
          <a:xfrm>
            <a:off x="8266176" y="343814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3346704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20" b="0">
                <a:solidFill>
                  <a:srgbClr val="333333"/>
                </a:solidFill>
                <a:latin typeface="Microsoft YaHei"/>
                <a:ea typeface="Microsoft YaHei"/>
              </a:rPr>
              <a:t>处理任意工单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" y="5394960"/>
            <a:ext cx="10533888" cy="493776"/>
          </a:xfrm>
          <a:prstGeom prst="roundRect">
            <a:avLst/>
          </a:prstGeom>
          <a:solidFill>
            <a:srgbClr val="0B4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2415" y="5541264"/>
            <a:ext cx="103327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客户看本人，客服处理本人负责，管理员管理全部。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需求澄清 / MVP 正范围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08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MVP 只保留闭环所需能力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33672" y="2011680"/>
            <a:ext cx="3639312" cy="969264"/>
          </a:xfrm>
          <a:prstGeom prst="roundRect">
            <a:avLst/>
          </a:prstGeom>
          <a:solidFill>
            <a:srgbClr val="0B4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2272" y="230428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售后工单闭环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664208"/>
            <a:ext cx="2971800" cy="338328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828800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84248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客户侧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468880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377440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注册登录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2779776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88336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创建工单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" y="3090672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999232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查看我的工单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3401568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310128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公开留言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664208"/>
            <a:ext cx="2971800" cy="3383280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85632" y="1828800"/>
            <a:ext cx="420624" cy="411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5632" y="1984248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内部侧</a:t>
            </a:r>
          </a:p>
        </p:txBody>
      </p:sp>
      <p:sp>
        <p:nvSpPr>
          <p:cNvPr id="24" name="Oval 23"/>
          <p:cNvSpPr/>
          <p:nvPr/>
        </p:nvSpPr>
        <p:spPr>
          <a:xfrm>
            <a:off x="8522208" y="2468880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8512" y="2377440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分类维护</a:t>
            </a:r>
          </a:p>
        </p:txBody>
      </p:sp>
      <p:sp>
        <p:nvSpPr>
          <p:cNvPr id="26" name="Oval 25"/>
          <p:cNvSpPr/>
          <p:nvPr/>
        </p:nvSpPr>
        <p:spPr>
          <a:xfrm>
            <a:off x="8522208" y="2779776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68512" y="2688336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客服账号</a:t>
            </a:r>
          </a:p>
        </p:txBody>
      </p:sp>
      <p:sp>
        <p:nvSpPr>
          <p:cNvPr id="28" name="Oval 27"/>
          <p:cNvSpPr/>
          <p:nvPr/>
        </p:nvSpPr>
        <p:spPr>
          <a:xfrm>
            <a:off x="8522208" y="3090672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512" y="2999232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客户启停</a:t>
            </a:r>
          </a:p>
        </p:txBody>
      </p:sp>
      <p:sp>
        <p:nvSpPr>
          <p:cNvPr id="30" name="Oval 29"/>
          <p:cNvSpPr/>
          <p:nvPr/>
        </p:nvSpPr>
        <p:spPr>
          <a:xfrm>
            <a:off x="8522208" y="3401568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68512" y="3310128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分配处理关闭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98448" y="5413248"/>
            <a:ext cx="1772107" cy="438912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522976"/>
            <a:ext cx="1717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20A36A"/>
                </a:solidFill>
                <a:latin typeface="Microsoft YaHei"/>
                <a:ea typeface="Microsoft YaHei"/>
              </a:rPr>
              <a:t>客户提交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1411" y="5568696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98571" y="5413248"/>
            <a:ext cx="1772107" cy="438912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26003" y="5522976"/>
            <a:ext cx="1717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20A36A"/>
                </a:solidFill>
                <a:latin typeface="Microsoft YaHei"/>
                <a:ea typeface="Microsoft YaHei"/>
              </a:rPr>
              <a:t>管理员分配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61534" y="5568696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98694" y="5413248"/>
            <a:ext cx="1772107" cy="438912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6126" y="5522976"/>
            <a:ext cx="1717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20A36A"/>
                </a:solidFill>
                <a:latin typeface="Microsoft YaHei"/>
                <a:ea typeface="Microsoft YaHei"/>
              </a:rPr>
              <a:t>客服处理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61657" y="5568696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98817" y="5413248"/>
            <a:ext cx="1772107" cy="438912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26249" y="5522976"/>
            <a:ext cx="1717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20A36A"/>
                </a:solidFill>
                <a:latin typeface="Microsoft YaHei"/>
                <a:ea typeface="Microsoft YaHei"/>
              </a:rPr>
              <a:t>工单关闭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61780" y="5568696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898940" y="5413248"/>
            <a:ext cx="1772107" cy="438912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26372" y="5522976"/>
            <a:ext cx="17172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20A36A"/>
                </a:solidFill>
                <a:latin typeface="Microsoft YaHei"/>
                <a:ea typeface="Microsoft YaHei"/>
              </a:rPr>
              <a:t>客户查看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需求澄清 / MVP 边界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09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非范围清单，比功能清单更重要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54480"/>
            <a:ext cx="6108192" cy="4334256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288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F28C28"/>
                </a:solidFill>
                <a:latin typeface="Microsoft YaHei"/>
                <a:ea typeface="Microsoft YaHei"/>
              </a:rPr>
              <a:t>MVP 暂不包含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243230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2340864"/>
            <a:ext cx="241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附件上传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" y="284378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2752344"/>
            <a:ext cx="241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外部通知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" y="325526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3163824"/>
            <a:ext cx="241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SLA / 超时提醒</a:t>
            </a:r>
          </a:p>
        </p:txBody>
      </p:sp>
      <p:sp>
        <p:nvSpPr>
          <p:cNvPr id="16" name="Oval 15"/>
          <p:cNvSpPr/>
          <p:nvPr/>
        </p:nvSpPr>
        <p:spPr>
          <a:xfrm>
            <a:off x="1005840" y="366674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52144" y="3575304"/>
            <a:ext cx="241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统计报表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" y="407822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3986784"/>
            <a:ext cx="241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高级搜索 / 批量 / 导出</a:t>
            </a:r>
          </a:p>
        </p:txBody>
      </p:sp>
      <p:sp>
        <p:nvSpPr>
          <p:cNvPr id="20" name="Oval 19"/>
          <p:cNvSpPr/>
          <p:nvPr/>
        </p:nvSpPr>
        <p:spPr>
          <a:xfrm>
            <a:off x="3749039" y="243230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95344" y="2340864"/>
            <a:ext cx="241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客户确认关闭</a:t>
            </a:r>
          </a:p>
        </p:txBody>
      </p:sp>
      <p:sp>
        <p:nvSpPr>
          <p:cNvPr id="22" name="Oval 21"/>
          <p:cNvSpPr/>
          <p:nvPr/>
        </p:nvSpPr>
        <p:spPr>
          <a:xfrm>
            <a:off x="3749039" y="284378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95344" y="2752344"/>
            <a:ext cx="241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取消 / 退回 / 重开</a:t>
            </a:r>
          </a:p>
        </p:txBody>
      </p:sp>
      <p:sp>
        <p:nvSpPr>
          <p:cNvPr id="24" name="Oval 23"/>
          <p:cNvSpPr/>
          <p:nvPr/>
        </p:nvSpPr>
        <p:spPr>
          <a:xfrm>
            <a:off x="3749039" y="325526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95344" y="3163824"/>
            <a:ext cx="241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密码找回 / MFA</a:t>
            </a:r>
          </a:p>
        </p:txBody>
      </p:sp>
      <p:sp>
        <p:nvSpPr>
          <p:cNvPr id="26" name="Oval 25"/>
          <p:cNvSpPr/>
          <p:nvPr/>
        </p:nvSpPr>
        <p:spPr>
          <a:xfrm>
            <a:off x="3749039" y="366674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95344" y="3575304"/>
            <a:ext cx="2414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生产部署 / 数据库迁移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5340096"/>
            <a:ext cx="5394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F28C28"/>
                </a:solidFill>
                <a:latin typeface="Microsoft YaHei"/>
                <a:ea typeface="Microsoft YaHei"/>
              </a:rPr>
              <a:t>不是永远不做，而是不进入 MVP。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5472" y="1874519"/>
            <a:ext cx="4343400" cy="5303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1993391"/>
            <a:ext cx="1810512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模糊说法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1993391"/>
            <a:ext cx="2313432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明确边界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05472" y="2404872"/>
            <a:ext cx="4343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2505456"/>
            <a:ext cx="179222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以后可能要通知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2505456"/>
            <a:ext cx="229514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MVP 不建通知入口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05472" y="2935224"/>
            <a:ext cx="4343400" cy="530352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9480" y="3035808"/>
            <a:ext cx="179222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以后可能要统计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035808"/>
            <a:ext cx="229514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迭代 1 再做看板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05472" y="3465576"/>
            <a:ext cx="43434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3566160"/>
            <a:ext cx="179222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客户最好能确认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3566160"/>
            <a:ext cx="229514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MVP 内部关闭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需求澄清 / 状态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10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状态流程越简单，规则越要清楚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847088"/>
            <a:ext cx="2350008" cy="585216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1956816"/>
            <a:ext cx="22951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1464A5"/>
                </a:solidFill>
                <a:latin typeface="Microsoft YaHei"/>
                <a:ea typeface="Microsoft YaHei"/>
              </a:rPr>
              <a:t>待分配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9584" y="2002536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66744" y="1847088"/>
            <a:ext cx="2350008" cy="585216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1956816"/>
            <a:ext cx="22951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1464A5"/>
                </a:solidFill>
                <a:latin typeface="Microsoft YaHei"/>
                <a:ea typeface="Microsoft YaHei"/>
              </a:rPr>
              <a:t>处理中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7608" y="2002536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847088"/>
            <a:ext cx="2350008" cy="585216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956816"/>
            <a:ext cx="22951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1464A5"/>
                </a:solidFill>
                <a:latin typeface="Microsoft YaHei"/>
                <a:ea typeface="Microsoft YaHei"/>
              </a:rPr>
              <a:t>已解决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002536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22792" y="1847088"/>
            <a:ext cx="2350008" cy="585216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0224" y="1956816"/>
            <a:ext cx="229514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1464A5"/>
                </a:solidFill>
                <a:latin typeface="Microsoft YaHei"/>
                <a:ea typeface="Microsoft YaHei"/>
              </a:rPr>
              <a:t>已关闭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2670048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等待安排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" y="2980944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6F7C8E"/>
                </a:solidFill>
                <a:latin typeface="Microsoft YaHei"/>
                <a:ea typeface="Microsoft YaHei"/>
              </a:rPr>
              <a:t>管理员分配或介入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12464" y="2670048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内部处理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2980944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6F7C8E"/>
                </a:solidFill>
                <a:latin typeface="Microsoft YaHei"/>
                <a:ea typeface="Microsoft YaHei"/>
              </a:rPr>
              <a:t>客服/管理员回复处理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1344" y="2670048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已有结果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2980944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6F7C8E"/>
                </a:solidFill>
                <a:latin typeface="Microsoft YaHei"/>
                <a:ea typeface="Microsoft YaHei"/>
              </a:rPr>
              <a:t>内部人员认为已解决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0224" y="2670048"/>
            <a:ext cx="1783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结束只读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6" y="2980944"/>
            <a:ext cx="20299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20" b="0">
                <a:solidFill>
                  <a:srgbClr val="6F7C8E"/>
                </a:solidFill>
                <a:latin typeface="Microsoft YaHei"/>
                <a:ea typeface="Microsoft YaHei"/>
              </a:rPr>
              <a:t>MVP 不支持重开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3977639"/>
            <a:ext cx="10607040" cy="438912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" y="4096511"/>
            <a:ext cx="190195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规则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104" y="4096511"/>
            <a:ext cx="318211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约定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4096511"/>
            <a:ext cx="190195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规则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4" y="4096511"/>
            <a:ext cx="318211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约定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" y="4416552"/>
            <a:ext cx="10607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4517136"/>
            <a:ext cx="18836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能否跳级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27248" y="4517136"/>
            <a:ext cx="3163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不允许待分配到已解决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4517136"/>
            <a:ext cx="18836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关闭后留言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0768" y="4517136"/>
            <a:ext cx="3163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不允许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1560" y="4855464"/>
            <a:ext cx="10607040" cy="438912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" y="4956048"/>
            <a:ext cx="18836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能否回退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27248" y="4956048"/>
            <a:ext cx="3163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不允许已解决到处理中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4956048"/>
            <a:ext cx="18836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关闭后分配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8" y="4956048"/>
            <a:ext cx="3163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不允许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1560" y="5294376"/>
            <a:ext cx="106070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568" y="5394960"/>
            <a:ext cx="18836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分配改状态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27248" y="5394960"/>
            <a:ext cx="3163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不自动改变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19088" y="5394960"/>
            <a:ext cx="18836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留言改状态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8" y="5394960"/>
            <a:ext cx="31638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不自动改变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需求澄清 / 技术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11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技术选型服务于 MVP，也要留下演进出口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2971800" cy="352044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92224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当前 MVP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2432304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40864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原生 HTML/CSS/JS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51760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FastAPI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3054096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962656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JSON 文件持久化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2468880"/>
            <a:ext cx="3566160" cy="1097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64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2770632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0B4D85"/>
                </a:solidFill>
                <a:latin typeface="Microsoft YaHei"/>
                <a:ea typeface="Microsoft YaHei"/>
              </a:rPr>
              <a:t>仓储接口层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4192" y="1627632"/>
            <a:ext cx="2971800" cy="3520440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58784" y="1792224"/>
            <a:ext cx="420624" cy="411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58784" y="1947672"/>
            <a:ext cx="26426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后续演进</a:t>
            </a:r>
          </a:p>
        </p:txBody>
      </p:sp>
      <p:sp>
        <p:nvSpPr>
          <p:cNvPr id="22" name="Oval 21"/>
          <p:cNvSpPr/>
          <p:nvPr/>
        </p:nvSpPr>
        <p:spPr>
          <a:xfrm>
            <a:off x="8595360" y="2432304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41664" y="2340864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真实数据库适配器</a:t>
            </a:r>
          </a:p>
        </p:txBody>
      </p:sp>
      <p:sp>
        <p:nvSpPr>
          <p:cNvPr id="24" name="Oval 23"/>
          <p:cNvSpPr/>
          <p:nvPr/>
        </p:nvSpPr>
        <p:spPr>
          <a:xfrm>
            <a:off x="8595360" y="2743200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41664" y="2651760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不重写业务流程</a:t>
            </a:r>
          </a:p>
        </p:txBody>
      </p:sp>
      <p:sp>
        <p:nvSpPr>
          <p:cNvPr id="26" name="Oval 25"/>
          <p:cNvSpPr/>
          <p:nvPr/>
        </p:nvSpPr>
        <p:spPr>
          <a:xfrm>
            <a:off x="8595360" y="3054096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41664" y="2962656"/>
            <a:ext cx="2478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保持接口稳定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730752" y="3017520"/>
            <a:ext cx="585216" cy="0"/>
          </a:xfrm>
          <a:prstGeom prst="line">
            <a:avLst/>
          </a:prstGeom>
          <a:ln w="254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82127" y="3017520"/>
            <a:ext cx="512065" cy="0"/>
          </a:xfrm>
          <a:prstGeom prst="line">
            <a:avLst/>
          </a:prstGeom>
          <a:ln w="254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78992" y="5440680"/>
            <a:ext cx="10058400" cy="45720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25295" y="5568696"/>
            <a:ext cx="97657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页面 -&gt; API/鉴权 -&gt; 业务服务 -&gt; 仓储接口 -&gt; JSON 适配器 / 数据库适配器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需求基线 / 上位规范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12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第一份正式产物：产品与技术规范 v1.0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664208"/>
            <a:ext cx="3127248" cy="3520440"/>
          </a:xfrm>
          <a:prstGeom prst="roundRect">
            <a:avLst/>
          </a:prstGeom>
          <a:solidFill>
            <a:srgbClr val="0B4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487168"/>
            <a:ext cx="2487168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产品与技术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规范 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3968496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EDF8F3"/>
                </a:solidFill>
                <a:latin typeface="Microsoft YaHei"/>
                <a:ea typeface="Microsoft YaHei"/>
              </a:rPr>
              <a:t>已确认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682496"/>
            <a:ext cx="2926080" cy="585216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1810512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965960"/>
            <a:ext cx="2670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系统是什么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6952" y="1682496"/>
            <a:ext cx="2926080" cy="585216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44968" y="1810512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1965960"/>
            <a:ext cx="2670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MVP 做什么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505456"/>
            <a:ext cx="2926080" cy="585216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98848" y="2633472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2788920"/>
            <a:ext cx="2670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MVP 不做什么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16952" y="2505456"/>
            <a:ext cx="2926080" cy="585216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44968" y="2633472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4968" y="2788920"/>
            <a:ext cx="2670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流程规则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328416"/>
            <a:ext cx="2926080" cy="585216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98848" y="3456432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3611880"/>
            <a:ext cx="2670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技术方向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16952" y="3328416"/>
            <a:ext cx="2926080" cy="585216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44968" y="3456432"/>
            <a:ext cx="347472" cy="36576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4968" y="3611880"/>
            <a:ext cx="26700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如何验收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4572000"/>
            <a:ext cx="6291072" cy="71323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7136" y="4700016"/>
            <a:ext cx="599846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本规范内容已经用户确认，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可作为后续 MVP 实施计划的正式依据。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需求基线 / 落盘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13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口头确认不是项目基线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627632"/>
            <a:ext cx="4754880" cy="3291840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0976" y="1792224"/>
            <a:ext cx="420624" cy="4114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47672"/>
            <a:ext cx="4425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聊天中说过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243230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2340864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依赖上下文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2743200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2651760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后续难以引用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3054096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2962656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容易被新讨论覆盖</a:t>
            </a:r>
          </a:p>
        </p:txBody>
      </p:sp>
      <p:sp>
        <p:nvSpPr>
          <p:cNvPr id="17" name="Oval 16"/>
          <p:cNvSpPr/>
          <p:nvPr/>
        </p:nvSpPr>
        <p:spPr>
          <a:xfrm>
            <a:off x="987552" y="3364992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273552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不便审查和复用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19088" y="1627632"/>
            <a:ext cx="4754880" cy="3291840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79" y="1792224"/>
            <a:ext cx="420624" cy="411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1947672"/>
            <a:ext cx="4425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文档中确认</a:t>
            </a:r>
          </a:p>
        </p:txBody>
      </p:sp>
      <p:sp>
        <p:nvSpPr>
          <p:cNvPr id="22" name="Oval 21"/>
          <p:cNvSpPr/>
          <p:nvPr/>
        </p:nvSpPr>
        <p:spPr>
          <a:xfrm>
            <a:off x="6620255" y="2432304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59" y="2340864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路径明确</a:t>
            </a:r>
          </a:p>
        </p:txBody>
      </p:sp>
      <p:sp>
        <p:nvSpPr>
          <p:cNvPr id="24" name="Oval 23"/>
          <p:cNvSpPr/>
          <p:nvPr/>
        </p:nvSpPr>
        <p:spPr>
          <a:xfrm>
            <a:off x="6620255" y="2743200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59" y="2651760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版本明确</a:t>
            </a:r>
          </a:p>
        </p:txBody>
      </p:sp>
      <p:sp>
        <p:nvSpPr>
          <p:cNvPr id="26" name="Oval 25"/>
          <p:cNvSpPr/>
          <p:nvPr/>
        </p:nvSpPr>
        <p:spPr>
          <a:xfrm>
            <a:off x="6620255" y="3054096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59" y="2962656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状态明确</a:t>
            </a:r>
          </a:p>
        </p:txBody>
      </p:sp>
      <p:sp>
        <p:nvSpPr>
          <p:cNvPr id="28" name="Oval 27"/>
          <p:cNvSpPr/>
          <p:nvPr/>
        </p:nvSpPr>
        <p:spPr>
          <a:xfrm>
            <a:off x="6620255" y="3364992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59" y="3273552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Microsoft YaHei"/>
                <a:ea typeface="Microsoft YaHei"/>
              </a:rPr>
              <a:t>可被后续文档引用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89888" y="5358384"/>
            <a:ext cx="9308592" cy="56692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36192" y="5486400"/>
            <a:ext cx="90159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docs/00-项目基线与记录/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  企业售后工单系统-产品与技术规范-v1.0.md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需求基线 / PRD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14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PRD 讲清楚产品目标和用户价值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64208"/>
            <a:ext cx="3090672" cy="53035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50976" y="1792224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947672"/>
            <a:ext cx="283463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产品背景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664208"/>
            <a:ext cx="3090672" cy="53035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35424" y="1792224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947672"/>
            <a:ext cx="283463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产品目标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91856" y="1664208"/>
            <a:ext cx="3090672" cy="53035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1792224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1947672"/>
            <a:ext cx="283463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目标用户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395728"/>
            <a:ext cx="3090672" cy="53035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" y="2523744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2679192"/>
            <a:ext cx="283463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核心场景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2395728"/>
            <a:ext cx="3090672" cy="53035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35424" y="2523744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4" y="2679192"/>
            <a:ext cx="283463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MVP 非目标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91856" y="2395728"/>
            <a:ext cx="3090672" cy="530352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19872" y="2523744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2" y="2679192"/>
            <a:ext cx="2834639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</a:rPr>
              <a:t>产品验收目标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" y="3547872"/>
            <a:ext cx="10241280" cy="47548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666744"/>
            <a:ext cx="117043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编号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666744"/>
            <a:ext cx="88513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MVP 目标示例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4023360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" y="4123944"/>
            <a:ext cx="11521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G-01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95144" y="4123944"/>
            <a:ext cx="8833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为个人客户提供统一的在线售后问题提交与进展查看入口。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4498848"/>
            <a:ext cx="10241280" cy="475488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" y="4599432"/>
            <a:ext cx="11521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G-03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95144" y="4599432"/>
            <a:ext cx="8833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使负责客服能够基于工单与客户沟通，并推进问题至关闭。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0976" y="4974336"/>
            <a:ext cx="10241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4984" y="5074920"/>
            <a:ext cx="1152143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G-05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95144" y="5074920"/>
            <a:ext cx="883310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Microsoft YaHei"/>
                <a:ea typeface="Microsoft YaHei"/>
              </a:rPr>
              <a:t>验证可演进的数据访问架构，为后续真实数据库接入提供基础。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需求基线 / SRS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15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SRS 把“能做”变成“必须如何做”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55648"/>
            <a:ext cx="3236976" cy="987552"/>
          </a:xfrm>
          <a:prstGeom prst="roundRect">
            <a:avLst/>
          </a:prstGeom>
          <a:solidFill>
            <a:srgbClr val="0B4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965960"/>
            <a:ext cx="2788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PRD：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客户应能创建工单。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44752"/>
            <a:ext cx="2889504" cy="658368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1572768"/>
            <a:ext cx="347472" cy="36576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655064"/>
            <a:ext cx="2633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Microsoft YaHei"/>
                <a:ea typeface="Microsoft YaHei"/>
              </a:rPr>
              <a:t>谁能创建？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883664"/>
            <a:ext cx="2633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80" b="0">
                <a:solidFill>
                  <a:srgbClr val="333333"/>
                </a:solidFill>
                <a:latin typeface="Microsoft YaHei"/>
                <a:ea typeface="Microsoft YaHei"/>
              </a:rPr>
              <a:t>已登录且启用客户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1444752"/>
            <a:ext cx="2889504" cy="658368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26096" y="1572768"/>
            <a:ext cx="347472" cy="36576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6096" y="1655064"/>
            <a:ext cx="2633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Microsoft YaHei"/>
                <a:ea typeface="Microsoft YaHei"/>
              </a:rPr>
              <a:t>创建什么？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1883664"/>
            <a:ext cx="2633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80" b="0">
                <a:solidFill>
                  <a:srgbClr val="333333"/>
                </a:solidFill>
                <a:latin typeface="Microsoft YaHei"/>
                <a:ea typeface="Microsoft YaHei"/>
              </a:rPr>
              <a:t>标题、描述、分类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2249424"/>
            <a:ext cx="2889504" cy="658368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98848" y="2377440"/>
            <a:ext cx="347472" cy="36576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2459736"/>
            <a:ext cx="2633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Microsoft YaHei"/>
                <a:ea typeface="Microsoft YaHei"/>
              </a:rPr>
              <a:t>字段规则？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2688336"/>
            <a:ext cx="2633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80" b="0">
                <a:solidFill>
                  <a:srgbClr val="333333"/>
                </a:solidFill>
                <a:latin typeface="Microsoft YaHei"/>
                <a:ea typeface="Microsoft YaHei"/>
              </a:rPr>
              <a:t>标题 1-100 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249424"/>
            <a:ext cx="2889504" cy="658368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6096" y="2377440"/>
            <a:ext cx="347472" cy="36576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6096" y="2459736"/>
            <a:ext cx="2633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Microsoft YaHei"/>
                <a:ea typeface="Microsoft YaHei"/>
              </a:rPr>
              <a:t>分类校验？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2688336"/>
            <a:ext cx="2633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80" b="0">
                <a:solidFill>
                  <a:srgbClr val="333333"/>
                </a:solidFill>
                <a:latin typeface="Microsoft YaHei"/>
                <a:ea typeface="Microsoft YaHei"/>
              </a:rPr>
              <a:t>必须启用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3054096"/>
            <a:ext cx="2889504" cy="658368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98848" y="3182112"/>
            <a:ext cx="347472" cy="36576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264408"/>
            <a:ext cx="2633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Microsoft YaHei"/>
                <a:ea typeface="Microsoft YaHei"/>
              </a:rPr>
              <a:t>创建后状态？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493008"/>
            <a:ext cx="2633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80" b="0">
                <a:solidFill>
                  <a:srgbClr val="333333"/>
                </a:solidFill>
                <a:latin typeface="Microsoft YaHei"/>
                <a:ea typeface="Microsoft YaHei"/>
              </a:rPr>
              <a:t>待分配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3054096"/>
            <a:ext cx="2889504" cy="658368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26096" y="3182112"/>
            <a:ext cx="347472" cy="36576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26096" y="3264408"/>
            <a:ext cx="2633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>
                <a:solidFill>
                  <a:srgbClr val="111111"/>
                </a:solidFill>
                <a:latin typeface="Microsoft YaHei"/>
                <a:ea typeface="Microsoft YaHei"/>
              </a:rPr>
              <a:t>能否修改？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6096" y="3493008"/>
            <a:ext cx="263347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80" b="0">
                <a:solidFill>
                  <a:srgbClr val="333333"/>
                </a:solidFill>
                <a:latin typeface="Microsoft YaHei"/>
                <a:ea typeface="Microsoft YaHei"/>
              </a:rPr>
              <a:t>MVP 不允许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" y="4315968"/>
            <a:ext cx="10213848" cy="3840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" y="4434840"/>
            <a:ext cx="14630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60" b="1">
                <a:solidFill>
                  <a:srgbClr val="FFFFFF"/>
                </a:solidFill>
                <a:latin typeface="Microsoft YaHei"/>
                <a:ea typeface="Microsoft YaHei"/>
              </a:rPr>
              <a:t>编号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434840"/>
            <a:ext cx="853135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60" b="1">
                <a:solidFill>
                  <a:srgbClr val="FFFFFF"/>
                </a:solidFill>
                <a:latin typeface="Microsoft YaHei"/>
                <a:ea typeface="Microsoft YaHei"/>
              </a:rPr>
              <a:t>需求片段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" y="4700016"/>
            <a:ext cx="102138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800600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60" b="0">
                <a:solidFill>
                  <a:srgbClr val="333333"/>
                </a:solidFill>
                <a:latin typeface="Microsoft YaHei"/>
                <a:ea typeface="Microsoft YaHei"/>
              </a:rPr>
              <a:t>SRS-TKT-001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78024" y="4800600"/>
            <a:ext cx="8513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60" b="0">
                <a:solidFill>
                  <a:srgbClr val="333333"/>
                </a:solidFill>
                <a:latin typeface="Microsoft YaHei"/>
                <a:ea typeface="Microsoft YaHei"/>
              </a:rPr>
              <a:t>仅已登录且启用的客户能够创建工单。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" y="5084064"/>
            <a:ext cx="10213848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" y="518464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60" b="0">
                <a:solidFill>
                  <a:srgbClr val="333333"/>
                </a:solidFill>
                <a:latin typeface="Microsoft YaHei"/>
                <a:ea typeface="Microsoft YaHei"/>
              </a:rPr>
              <a:t>SRS-TKT-003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78024" y="5184648"/>
            <a:ext cx="8513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60" b="0">
                <a:solidFill>
                  <a:srgbClr val="333333"/>
                </a:solidFill>
                <a:latin typeface="Microsoft YaHei"/>
                <a:ea typeface="Microsoft YaHei"/>
              </a:rPr>
              <a:t>保存前必须再次验证所选分类仍为有效状态。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" y="5468112"/>
            <a:ext cx="1021384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5568696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60" b="0">
                <a:solidFill>
                  <a:srgbClr val="333333"/>
                </a:solidFill>
                <a:latin typeface="Microsoft YaHei"/>
                <a:ea typeface="Microsoft YaHei"/>
              </a:rPr>
              <a:t>SRS-TKT-004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78024" y="5568696"/>
            <a:ext cx="85130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60" b="0">
                <a:solidFill>
                  <a:srgbClr val="333333"/>
                </a:solidFill>
                <a:latin typeface="Microsoft YaHei"/>
                <a:ea typeface="Microsoft YaHei"/>
              </a:rPr>
              <a:t>创建成功时，状态为待分配，负责人为空。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需求基线 / 页面交互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16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用户不是操作需求条目，而是操作页面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72768"/>
            <a:ext cx="3154680" cy="2212848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37360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92807"/>
            <a:ext cx="2825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客户门户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2377440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286000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登录页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688336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596896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客户注册页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2999232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907792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我的工单页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" y="3310128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218688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新建工单页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3621024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529584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客户详情页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1572768"/>
            <a:ext cx="3154680" cy="2212848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1" y="1737360"/>
            <a:ext cx="420624" cy="411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0831" y="1892807"/>
            <a:ext cx="2825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内部后台</a:t>
            </a:r>
          </a:p>
        </p:txBody>
      </p:sp>
      <p:sp>
        <p:nvSpPr>
          <p:cNvPr id="24" name="Oval 23"/>
          <p:cNvSpPr/>
          <p:nvPr/>
        </p:nvSpPr>
        <p:spPr>
          <a:xfrm>
            <a:off x="4407407" y="2377440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2286000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内部列表页</a:t>
            </a:r>
          </a:p>
        </p:txBody>
      </p:sp>
      <p:sp>
        <p:nvSpPr>
          <p:cNvPr id="26" name="Oval 25"/>
          <p:cNvSpPr/>
          <p:nvPr/>
        </p:nvSpPr>
        <p:spPr>
          <a:xfrm>
            <a:off x="4407407" y="2688336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596896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内部详情页</a:t>
            </a:r>
          </a:p>
        </p:txBody>
      </p:sp>
      <p:sp>
        <p:nvSpPr>
          <p:cNvPr id="28" name="Oval 27"/>
          <p:cNvSpPr/>
          <p:nvPr/>
        </p:nvSpPr>
        <p:spPr>
          <a:xfrm>
            <a:off x="4407407" y="2999232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2907792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分类管理页</a:t>
            </a:r>
          </a:p>
        </p:txBody>
      </p:sp>
      <p:sp>
        <p:nvSpPr>
          <p:cNvPr id="30" name="Oval 29"/>
          <p:cNvSpPr/>
          <p:nvPr/>
        </p:nvSpPr>
        <p:spPr>
          <a:xfrm>
            <a:off x="4407407" y="3310128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3218688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客服账号页</a:t>
            </a:r>
          </a:p>
        </p:txBody>
      </p:sp>
      <p:sp>
        <p:nvSpPr>
          <p:cNvPr id="32" name="Oval 31"/>
          <p:cNvSpPr/>
          <p:nvPr/>
        </p:nvSpPr>
        <p:spPr>
          <a:xfrm>
            <a:off x="4407407" y="3621024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3529584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客户账号页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160520"/>
            <a:ext cx="9784080" cy="36576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3544" y="4279392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  <a:ea typeface="Microsoft YaHei"/>
              </a:rPr>
              <a:t>页面区域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35224" y="4279392"/>
            <a:ext cx="3547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  <a:ea typeface="Microsoft YaHei"/>
              </a:rPr>
              <a:t>展示与操作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2824" y="4279392"/>
            <a:ext cx="4005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19" b="1">
                <a:solidFill>
                  <a:srgbClr val="FFFFFF"/>
                </a:solidFill>
                <a:latin typeface="Microsoft YaHei"/>
                <a:ea typeface="Microsoft YaHei"/>
              </a:rPr>
              <a:t>规则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4526280"/>
            <a:ext cx="9784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4626864"/>
            <a:ext cx="18836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问题分类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44368" y="4626864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下拉选择有效分类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01968" y="4626864"/>
            <a:ext cx="3986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无有效分类时禁止提交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4892040"/>
            <a:ext cx="9784080" cy="365760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2688" y="4992624"/>
            <a:ext cx="18836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标题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4368" y="4992624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必填输入框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1968" y="4992624"/>
            <a:ext cx="3986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1-100 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5257800"/>
            <a:ext cx="9784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2688" y="5358384"/>
            <a:ext cx="18836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问题描述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44368" y="5358384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多行文本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01968" y="5358384"/>
            <a:ext cx="3986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1-4000 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" y="5623560"/>
            <a:ext cx="9784080" cy="365760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" y="5724144"/>
            <a:ext cx="18836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提交按钮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44368" y="5724144"/>
            <a:ext cx="35295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创建工单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01968" y="5724144"/>
            <a:ext cx="3986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19" b="0">
                <a:solidFill>
                  <a:srgbClr val="333333"/>
                </a:solidFill>
                <a:latin typeface="Microsoft YaHei"/>
                <a:ea typeface="Microsoft YaHei"/>
              </a:rPr>
              <a:t>成功后跳转详情页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863840" y="1572768"/>
            <a:ext cx="318211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65008" y="182880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111111"/>
                </a:solidFill>
                <a:latin typeface="Microsoft YaHei"/>
                <a:ea typeface="Microsoft YaHei"/>
              </a:rPr>
              <a:t>创建成功流转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19872" y="2267712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填写提交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-&gt; 后端校验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-&gt; 创建待分配工单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-&gt; 跳转详情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Microsoft YaHei"/>
                <a:ea typeface="Microsoft YaHei"/>
              </a:rPr>
              <a:t>-&gt; 提示创建成功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需求基线 / 追踪关系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17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重要规则不能只写一次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554480"/>
            <a:ext cx="5449824" cy="685800"/>
          </a:xfrm>
          <a:prstGeom prst="roundRect">
            <a:avLst/>
          </a:prstGeom>
          <a:solidFill>
            <a:srgbClr val="0B4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93008" y="1773936"/>
            <a:ext cx="5193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客户不展示具体客服账号或负责人名称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090672"/>
            <a:ext cx="1737360" cy="93268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31012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464A5"/>
                </a:solidFill>
                <a:latin typeface="Microsoft YaHei"/>
                <a:ea typeface="Microsoft YaHei"/>
              </a:rPr>
              <a:t>SRS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60273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数据边界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3383280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3090672"/>
            <a:ext cx="1737360" cy="93268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331012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464A5"/>
                </a:solidFill>
                <a:latin typeface="Microsoft YaHei"/>
                <a:ea typeface="Microsoft YaHei"/>
              </a:rPr>
              <a:t>页面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60273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详情不显示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383280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3792" y="3090672"/>
            <a:ext cx="1737360" cy="93268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2" y="331012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464A5"/>
                </a:solidFill>
                <a:latin typeface="Microsoft YaHei"/>
                <a:ea typeface="Microsoft YaHei"/>
              </a:rPr>
              <a:t>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360273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响应不返回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2" y="3383280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784" y="3090672"/>
            <a:ext cx="1737360" cy="932688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07224" y="331012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20A36A"/>
                </a:solidFill>
                <a:latin typeface="Microsoft YaHei"/>
                <a:ea typeface="Microsoft YaHei"/>
              </a:rPr>
              <a:t>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224" y="360273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TC-SEC-004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3383280"/>
            <a:ext cx="4754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37776" y="3090672"/>
            <a:ext cx="1737360" cy="93268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9216" y="331012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464A5"/>
                </a:solidFill>
                <a:latin typeface="Microsoft YaHei"/>
                <a:ea typeface="Microsoft YaHei"/>
              </a:rPr>
              <a:t>实施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9216" y="360273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M5 安全复核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3584" y="5047488"/>
            <a:ext cx="95829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B4D85"/>
                </a:solidFill>
                <a:latin typeface="Microsoft YaHei"/>
                <a:ea typeface="Microsoft YaHei"/>
              </a:rPr>
              <a:t>客户需要看到处理进展，但不需要看到内部负责人账号。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需求基线 / 文档体系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18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不同文档，回答不同层面的问题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17904"/>
            <a:ext cx="10533888" cy="438912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36776"/>
            <a:ext cx="2221991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1" y="1636776"/>
            <a:ext cx="4846320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回答的问题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636776"/>
            <a:ext cx="3136391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主要使用者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56815"/>
            <a:ext cx="105338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057399"/>
            <a:ext cx="22037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产品与技术规范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5" y="2057399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项目总体边界是什么？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144" y="2057399"/>
            <a:ext cx="3118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全体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395727"/>
            <a:ext cx="10533888" cy="438912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" y="2496311"/>
            <a:ext cx="22037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PRD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5" y="2496311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为什么做，为谁做？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0144" y="2496311"/>
            <a:ext cx="3118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产品/业务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834639"/>
            <a:ext cx="105338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" y="2935223"/>
            <a:ext cx="22037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SRS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54095" y="2935223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系统必须表现出什么行为？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4" y="2935223"/>
            <a:ext cx="3118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开发/测试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273551"/>
            <a:ext cx="10533888" cy="438912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" y="3374135"/>
            <a:ext cx="22037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页面说明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54095" y="3374135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用户在哪些页面完成操作？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10144" y="3374135"/>
            <a:ext cx="3118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前端/产品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712463"/>
            <a:ext cx="105338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3813048"/>
            <a:ext cx="22037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技术/数据/API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54095" y="3813048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如何实现、保存和通信？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4" y="3813048"/>
            <a:ext cx="3118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研发/测试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151375"/>
            <a:ext cx="10533888" cy="438912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" y="4251959"/>
            <a:ext cx="22037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测试方案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54095" y="4251959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怎样证明符合基线？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0144" y="4251959"/>
            <a:ext cx="3118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测试/验收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590288"/>
            <a:ext cx="1053388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2376" y="4690872"/>
            <a:ext cx="22037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实施计划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54095" y="4690872"/>
            <a:ext cx="48280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按什么顺序开发交付？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4" y="4690872"/>
            <a:ext cx="3118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项目/开发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设计基线 / 技术设计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19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架构不是图好看，而是规则有地方落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572768"/>
            <a:ext cx="4206240" cy="384048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682496"/>
            <a:ext cx="3794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50" b="1">
                <a:solidFill>
                  <a:srgbClr val="0B4D85"/>
                </a:solidFill>
                <a:latin typeface="Microsoft YaHei"/>
                <a:ea typeface="Microsoft YaHei"/>
              </a:rPr>
              <a:t>静态前端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139696"/>
            <a:ext cx="4206240" cy="384048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249424"/>
            <a:ext cx="3794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50" b="1">
                <a:solidFill>
                  <a:srgbClr val="0B4D85"/>
                </a:solidFill>
                <a:latin typeface="Microsoft YaHei"/>
                <a:ea typeface="Microsoft YaHei"/>
              </a:rPr>
              <a:t>FastAPI 接口层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2706624"/>
            <a:ext cx="4206240" cy="384048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2816352"/>
            <a:ext cx="3794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50" b="1">
                <a:solidFill>
                  <a:srgbClr val="0B4D85"/>
                </a:solidFill>
                <a:latin typeface="Microsoft YaHei"/>
                <a:ea typeface="Microsoft YaHei"/>
              </a:rPr>
              <a:t>应用服务层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273552"/>
            <a:ext cx="4206240" cy="384048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383280"/>
            <a:ext cx="3794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50" b="1">
                <a:solidFill>
                  <a:srgbClr val="0B4D85"/>
                </a:solidFill>
                <a:latin typeface="Microsoft YaHei"/>
                <a:ea typeface="Microsoft YaHei"/>
              </a:rPr>
              <a:t>领域规则层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" y="3840480"/>
            <a:ext cx="4206240" cy="384048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950208"/>
            <a:ext cx="3794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50" b="1">
                <a:solidFill>
                  <a:srgbClr val="0B4D85"/>
                </a:solidFill>
                <a:latin typeface="Microsoft YaHei"/>
                <a:ea typeface="Microsoft YaHei"/>
              </a:rPr>
              <a:t>仓储协议层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407408"/>
            <a:ext cx="4206240" cy="384048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517136"/>
            <a:ext cx="3794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50" b="1">
                <a:solidFill>
                  <a:srgbClr val="20A36A"/>
                </a:solidFill>
                <a:latin typeface="Microsoft YaHei"/>
                <a:ea typeface="Microsoft YaHei"/>
              </a:rPr>
              <a:t>JSON 适配器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1627632"/>
            <a:ext cx="5669280" cy="50292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32703" y="1746504"/>
            <a:ext cx="26334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1746504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落点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2130552"/>
            <a:ext cx="5669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1848" y="2231136"/>
            <a:ext cx="26151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客户本人权限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2231136"/>
            <a:ext cx="279806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领域规则 / 服务层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633472"/>
            <a:ext cx="566928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41848" y="2734056"/>
            <a:ext cx="26151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不返回密码哈希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2734056"/>
            <a:ext cx="279806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响应模型 / 接口层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3136391"/>
            <a:ext cx="5669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41848" y="3236975"/>
            <a:ext cx="26151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分配和记录一次保存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8" y="3236975"/>
            <a:ext cx="279806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服务 / 仓储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3639311"/>
            <a:ext cx="566928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41848" y="3739896"/>
            <a:ext cx="26151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JSON 原子替换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3739896"/>
            <a:ext cx="279806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存储基础设施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设计基线 / 权限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20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按钮隐藏不是权限控制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1627632"/>
            <a:ext cx="1429076" cy="45720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737360"/>
            <a:ext cx="13742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Cookie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4876" y="1783080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52036" y="1627632"/>
            <a:ext cx="1429076" cy="45720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79468" y="1737360"/>
            <a:ext cx="13742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会话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1969" y="1783080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09129" y="1627632"/>
            <a:ext cx="1429076" cy="45720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6561" y="1737360"/>
            <a:ext cx="13742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用户状态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9061" y="1783080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66221" y="1627632"/>
            <a:ext cx="1429076" cy="45720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3653" y="1737360"/>
            <a:ext cx="13742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角色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6154" y="1783080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23314" y="1627632"/>
            <a:ext cx="1429076" cy="45720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50746" y="1737360"/>
            <a:ext cx="13742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资源归属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3246" y="1783080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80406" y="1627632"/>
            <a:ext cx="1429076" cy="45720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7838" y="1737360"/>
            <a:ext cx="13742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工单状态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00339" y="1783080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37499" y="1627632"/>
            <a:ext cx="1429076" cy="45720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64931" y="1737360"/>
            <a:ext cx="13742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业务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2834640"/>
            <a:ext cx="10058400" cy="438912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2953512"/>
            <a:ext cx="1993391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40" b="1">
                <a:solidFill>
                  <a:srgbClr val="FFFFFF"/>
                </a:solidFill>
                <a:latin typeface="Microsoft YaHei"/>
                <a:ea typeface="Microsoft YaHei"/>
              </a:rPr>
              <a:t>操作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7791" y="2953512"/>
            <a:ext cx="171907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40" b="1">
                <a:solidFill>
                  <a:srgbClr val="FFFFFF"/>
                </a:solidFill>
                <a:latin typeface="Microsoft YaHei"/>
                <a:ea typeface="Microsoft YaHei"/>
              </a:rPr>
              <a:t>客户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1" y="2953512"/>
            <a:ext cx="171907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40" b="1">
                <a:solidFill>
                  <a:srgbClr val="FFFFFF"/>
                </a:solidFill>
                <a:latin typeface="Microsoft YaHei"/>
                <a:ea typeface="Microsoft YaHei"/>
              </a:rPr>
              <a:t>客服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1" y="2953512"/>
            <a:ext cx="171907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40" b="1">
                <a:solidFill>
                  <a:srgbClr val="FFFFFF"/>
                </a:solidFill>
                <a:latin typeface="Microsoft YaHei"/>
                <a:ea typeface="Microsoft YaHei"/>
              </a:rPr>
              <a:t>管理员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953512"/>
            <a:ext cx="235915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40" b="1">
                <a:solidFill>
                  <a:srgbClr val="FFFFFF"/>
                </a:solidFill>
                <a:latin typeface="Microsoft YaHei"/>
                <a:ea typeface="Microsoft YaHei"/>
              </a:rPr>
              <a:t>规则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3273552"/>
            <a:ext cx="10058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5" y="3374136"/>
            <a:ext cx="1975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创建工单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16935" y="3374136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允许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5736" y="3374136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不允许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74536" y="3374136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不允许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3374136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仅客户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" y="3712464"/>
            <a:ext cx="10058400" cy="438912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5" y="3813048"/>
            <a:ext cx="1975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查看全部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16935" y="3813048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不允许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45736" y="3813048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允许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74536" y="3813048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允许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03336" y="3813048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内部可见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9808" y="4151376"/>
            <a:ext cx="10058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5" y="4251960"/>
            <a:ext cx="1975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发送留言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16935" y="4251960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本人工单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45736" y="4251960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本人负责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74536" y="4251960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任意工单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03336" y="4251960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未关闭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9808" y="4590288"/>
            <a:ext cx="10058400" cy="438912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5" y="4690872"/>
            <a:ext cx="1975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分配工单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16935" y="4690872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不允许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45736" y="4690872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不允许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74536" y="4690872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允许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03336" y="4690872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管理员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8" y="5029200"/>
            <a:ext cx="10058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3815" y="5129784"/>
            <a:ext cx="197510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推进状态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16935" y="5129784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不允许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45736" y="5129784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本人负责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74536" y="5129784"/>
            <a:ext cx="17007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任意工单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03336" y="5129784"/>
            <a:ext cx="2340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线性推进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设计基线 / 数据模型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21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数据模型决定可追溯能力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1591056"/>
            <a:ext cx="1481328" cy="475488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4128" y="1719072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874519"/>
            <a:ext cx="12252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Microsoft YaHei"/>
                <a:ea typeface="Microsoft YaHei"/>
              </a:rPr>
              <a:t>User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24912" y="1591056"/>
            <a:ext cx="1481328" cy="475488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52928" y="1719072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52928" y="1874519"/>
            <a:ext cx="12252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Microsoft YaHei"/>
                <a:ea typeface="Microsoft YaHei"/>
              </a:rPr>
              <a:t>Category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3712" y="1591056"/>
            <a:ext cx="1481328" cy="475488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81728" y="1719072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874519"/>
            <a:ext cx="12252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Microsoft YaHei"/>
                <a:ea typeface="Microsoft YaHei"/>
              </a:rPr>
              <a:t>Ticket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2249424"/>
            <a:ext cx="1481328" cy="475488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24128" y="2377440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2532888"/>
            <a:ext cx="12252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Microsoft YaHei"/>
                <a:ea typeface="Microsoft YaHei"/>
              </a:rPr>
              <a:t>Message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24912" y="2249424"/>
            <a:ext cx="1481328" cy="475488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52928" y="2377440"/>
            <a:ext cx="347472" cy="36576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2928" y="2532888"/>
            <a:ext cx="12252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Microsoft YaHei"/>
                <a:ea typeface="Microsoft YaHei"/>
              </a:rPr>
              <a:t>AuditLog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3712" y="2249424"/>
            <a:ext cx="1481328" cy="475488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81728" y="2377440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8" y="2532888"/>
            <a:ext cx="1225296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>
                <a:solidFill>
                  <a:srgbClr val="111111"/>
                </a:solidFill>
                <a:latin typeface="Microsoft YaHei"/>
                <a:ea typeface="Microsoft YaHei"/>
              </a:rPr>
              <a:t>Session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" y="3246120"/>
            <a:ext cx="8595360" cy="3840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3364991"/>
            <a:ext cx="254203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Ticket 字段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1296" y="3364991"/>
            <a:ext cx="583387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含义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" y="3630168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730752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39" y="3730752"/>
            <a:ext cx="5815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UUID v4 工单标识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" y="4014215"/>
            <a:ext cx="859536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114800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title / description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39" y="4114800"/>
            <a:ext cx="5815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标题 1-100 字，描述 1-4000 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" y="4398264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498848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category_name_snapshot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39" y="4498848"/>
            <a:ext cx="5815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创建时分类名称快照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" y="4782312"/>
            <a:ext cx="8595360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882896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customer_user_id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39" y="4882896"/>
            <a:ext cx="5815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创建客户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" y="5166359"/>
            <a:ext cx="8595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266944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status / assignee_user_id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39" y="5266944"/>
            <a:ext cx="5815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当前状态与负责客服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99248" y="1591056"/>
            <a:ext cx="3063240" cy="1243584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18704" y="1828800"/>
            <a:ext cx="267004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F28C28"/>
                </a:solidFill>
                <a:latin typeface="Microsoft YaHei"/>
                <a:ea typeface="Microsoft YaHei"/>
              </a:rPr>
              <a:t>为什么需要快照？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F28C28"/>
                </a:solidFill>
                <a:latin typeface="Microsoft YaHei"/>
                <a:ea typeface="Microsoft YaHei"/>
              </a:rPr>
              <a:t>分类后续可以改名或停用，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0">
                <a:solidFill>
                  <a:srgbClr val="F28C28"/>
                </a:solidFill>
                <a:latin typeface="Microsoft YaHei"/>
                <a:ea typeface="Microsoft YaHei"/>
              </a:rPr>
              <a:t>历史工单仍显示提交时分类名称。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设计基线 / JSON 存储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22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JSON 是当前实现，仓储接口是未来出口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591056"/>
            <a:ext cx="4315968" cy="3163824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719072"/>
            <a:ext cx="4023359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{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  "schema_version": 1,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  "meta": {...},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  "users": [],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  "categories": [],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  "tickets": [],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  "messages": [],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  "audit_logs": [],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  "sessions": []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591056"/>
            <a:ext cx="2468880" cy="3163824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33872" y="1755648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33872" y="1911095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写入保护</a:t>
            </a:r>
          </a:p>
        </p:txBody>
      </p:sp>
      <p:sp>
        <p:nvSpPr>
          <p:cNvPr id="13" name="Oval 12"/>
          <p:cNvSpPr/>
          <p:nvPr/>
        </p:nvSpPr>
        <p:spPr>
          <a:xfrm>
            <a:off x="5870448" y="2395728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6752" y="2304288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写入锁</a:t>
            </a:r>
          </a:p>
        </p:txBody>
      </p:sp>
      <p:sp>
        <p:nvSpPr>
          <p:cNvPr id="15" name="Oval 14"/>
          <p:cNvSpPr/>
          <p:nvPr/>
        </p:nvSpPr>
        <p:spPr>
          <a:xfrm>
            <a:off x="5870448" y="2706624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2615184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读取快照</a:t>
            </a:r>
          </a:p>
        </p:txBody>
      </p:sp>
      <p:sp>
        <p:nvSpPr>
          <p:cNvPr id="17" name="Oval 16"/>
          <p:cNvSpPr/>
          <p:nvPr/>
        </p:nvSpPr>
        <p:spPr>
          <a:xfrm>
            <a:off x="5870448" y="3017520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2926080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内存变更</a:t>
            </a:r>
          </a:p>
        </p:txBody>
      </p:sp>
      <p:sp>
        <p:nvSpPr>
          <p:cNvPr id="19" name="Oval 18"/>
          <p:cNvSpPr/>
          <p:nvPr/>
        </p:nvSpPr>
        <p:spPr>
          <a:xfrm>
            <a:off x="5870448" y="3328416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6752" y="3236976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临时文件</a:t>
            </a:r>
          </a:p>
        </p:txBody>
      </p:sp>
      <p:sp>
        <p:nvSpPr>
          <p:cNvPr id="21" name="Oval 20"/>
          <p:cNvSpPr/>
          <p:nvPr/>
        </p:nvSpPr>
        <p:spPr>
          <a:xfrm>
            <a:off x="5870448" y="3639312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16752" y="3547872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原子替换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40496" y="1591056"/>
            <a:ext cx="2468880" cy="3163824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05088" y="1755648"/>
            <a:ext cx="420624" cy="411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05088" y="1911095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演进边界</a:t>
            </a:r>
          </a:p>
        </p:txBody>
      </p:sp>
      <p:sp>
        <p:nvSpPr>
          <p:cNvPr id="26" name="Oval 25"/>
          <p:cNvSpPr/>
          <p:nvPr/>
        </p:nvSpPr>
        <p:spPr>
          <a:xfrm>
            <a:off x="8741664" y="2395728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87968" y="2304288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服务层依赖协议</a:t>
            </a:r>
          </a:p>
        </p:txBody>
      </p:sp>
      <p:sp>
        <p:nvSpPr>
          <p:cNvPr id="28" name="Oval 27"/>
          <p:cNvSpPr/>
          <p:nvPr/>
        </p:nvSpPr>
        <p:spPr>
          <a:xfrm>
            <a:off x="8741664" y="2706624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87968" y="2615184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JSON 是适配器</a:t>
            </a:r>
          </a:p>
        </p:txBody>
      </p:sp>
      <p:sp>
        <p:nvSpPr>
          <p:cNvPr id="30" name="Oval 29"/>
          <p:cNvSpPr/>
          <p:nvPr/>
        </p:nvSpPr>
        <p:spPr>
          <a:xfrm>
            <a:off x="8741664" y="3017520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87968" y="2926080"/>
            <a:ext cx="1975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未来数据库替换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376672"/>
            <a:ext cx="10104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0B4D85"/>
                </a:solidFill>
                <a:latin typeface="Microsoft YaHei"/>
                <a:ea typeface="Microsoft YaHei"/>
              </a:rPr>
              <a:t>服务层只依赖仓储协议，不直接读写 JSON 文件。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设计基线 /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23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API 是页面和业务服务之间的合同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572768"/>
            <a:ext cx="141732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36776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1464A5"/>
                </a:solidFill>
                <a:latin typeface="Microsoft YaHei"/>
                <a:ea typeface="Microsoft YaHei"/>
              </a:rPr>
              <a:t>/auth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62656" y="1572768"/>
            <a:ext cx="141732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7" y="1636776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1464A5"/>
                </a:solidFill>
                <a:latin typeface="Microsoft YaHei"/>
                <a:ea typeface="Microsoft YaHei"/>
              </a:rPr>
              <a:t>/categories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572768"/>
            <a:ext cx="141732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11496" y="1636776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1464A5"/>
                </a:solidFill>
                <a:latin typeface="Microsoft YaHei"/>
                <a:ea typeface="Microsoft YaHei"/>
              </a:rPr>
              <a:t>/customer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5471" y="1572768"/>
            <a:ext cx="1417320" cy="292608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2903" y="1636776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0A36A"/>
                </a:solidFill>
                <a:latin typeface="Microsoft YaHei"/>
                <a:ea typeface="Microsoft YaHei"/>
              </a:rPr>
              <a:t>/internal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572768"/>
            <a:ext cx="1417320" cy="292608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1" y="1636776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20A36A"/>
                </a:solidFill>
                <a:latin typeface="Microsoft YaHei"/>
                <a:ea typeface="Microsoft YaHei"/>
              </a:rPr>
              <a:t>/admin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359152"/>
            <a:ext cx="5029200" cy="2651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2487168"/>
            <a:ext cx="4736592" cy="2414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POST /api/v1/customer/tickets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{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"title": "无法正常使用服务",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"description": "登录后页面无法继续操作。",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  "category_id": "550e8400-..."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359152"/>
            <a:ext cx="5029200" cy="26517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487168"/>
            <a:ext cx="4736592" cy="2414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{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  "error": {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    "code": "VALIDATION_ERROR",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    "message": "输入内容不符合要求。",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    "field_errors": {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      "title": "标题长度必须为 1 至 100 个字符。"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    }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  }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Microsoft YaHei"/>
                <a:ea typeface="Microsoft YaHei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设计基线 / 三件套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24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三份设计文档共同构成实现蓝图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847088"/>
            <a:ext cx="2999232" cy="237744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2011680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技术设计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6" y="2651760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56032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>
                <a:solidFill>
                  <a:srgbClr val="333333"/>
                </a:solidFill>
                <a:latin typeface="Microsoft YaHei"/>
                <a:ea typeface="Microsoft YaHei"/>
              </a:rPr>
              <a:t>结构与机制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6" y="2962656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871215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>
                <a:solidFill>
                  <a:srgbClr val="333333"/>
                </a:solidFill>
                <a:latin typeface="Microsoft YaHei"/>
                <a:ea typeface="Microsoft YaHei"/>
              </a:rPr>
              <a:t>认证与授权</a:t>
            </a:r>
          </a:p>
        </p:txBody>
      </p:sp>
      <p:sp>
        <p:nvSpPr>
          <p:cNvPr id="15" name="Oval 14"/>
          <p:cNvSpPr/>
          <p:nvPr/>
        </p:nvSpPr>
        <p:spPr>
          <a:xfrm>
            <a:off x="1042416" y="3273552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182112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>
                <a:solidFill>
                  <a:srgbClr val="333333"/>
                </a:solidFill>
                <a:latin typeface="Microsoft YaHei"/>
                <a:ea typeface="Microsoft YaHei"/>
              </a:rPr>
              <a:t>存储策略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90288" y="1847088"/>
            <a:ext cx="2999232" cy="2377440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79" y="2011680"/>
            <a:ext cx="420624" cy="411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2167128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数据模型</a:t>
            </a:r>
          </a:p>
        </p:txBody>
      </p:sp>
      <p:sp>
        <p:nvSpPr>
          <p:cNvPr id="20" name="Oval 19"/>
          <p:cNvSpPr/>
          <p:nvPr/>
        </p:nvSpPr>
        <p:spPr>
          <a:xfrm>
            <a:off x="4791455" y="2651760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59" y="256032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>
                <a:solidFill>
                  <a:srgbClr val="333333"/>
                </a:solidFill>
                <a:latin typeface="Microsoft YaHei"/>
                <a:ea typeface="Microsoft YaHei"/>
              </a:rPr>
              <a:t>事实与约束</a:t>
            </a:r>
          </a:p>
        </p:txBody>
      </p:sp>
      <p:sp>
        <p:nvSpPr>
          <p:cNvPr id="22" name="Oval 21"/>
          <p:cNvSpPr/>
          <p:nvPr/>
        </p:nvSpPr>
        <p:spPr>
          <a:xfrm>
            <a:off x="4791455" y="2962656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59" y="2871215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>
                <a:solidFill>
                  <a:srgbClr val="333333"/>
                </a:solidFill>
                <a:latin typeface="Microsoft YaHei"/>
                <a:ea typeface="Microsoft YaHei"/>
              </a:rPr>
              <a:t>实体与关联</a:t>
            </a:r>
          </a:p>
        </p:txBody>
      </p:sp>
      <p:sp>
        <p:nvSpPr>
          <p:cNvPr id="24" name="Oval 23"/>
          <p:cNvSpPr/>
          <p:nvPr/>
        </p:nvSpPr>
        <p:spPr>
          <a:xfrm>
            <a:off x="4791455" y="3273552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59" y="3182112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>
                <a:solidFill>
                  <a:srgbClr val="333333"/>
                </a:solidFill>
                <a:latin typeface="Microsoft YaHei"/>
                <a:ea typeface="Microsoft YaHei"/>
              </a:rPr>
              <a:t>历史快照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327" y="1847088"/>
            <a:ext cx="2999232" cy="2377440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3919" y="2011680"/>
            <a:ext cx="420624" cy="4114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19" y="2167128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API 设计</a:t>
            </a:r>
          </a:p>
        </p:txBody>
      </p:sp>
      <p:sp>
        <p:nvSpPr>
          <p:cNvPr id="29" name="Oval 28"/>
          <p:cNvSpPr/>
          <p:nvPr/>
        </p:nvSpPr>
        <p:spPr>
          <a:xfrm>
            <a:off x="8540496" y="2651760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560320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>
                <a:solidFill>
                  <a:srgbClr val="333333"/>
                </a:solidFill>
                <a:latin typeface="Microsoft YaHei"/>
                <a:ea typeface="Microsoft YaHei"/>
              </a:rPr>
              <a:t>交互与边界</a:t>
            </a:r>
          </a:p>
        </p:txBody>
      </p:sp>
      <p:sp>
        <p:nvSpPr>
          <p:cNvPr id="31" name="Oval 30"/>
          <p:cNvSpPr/>
          <p:nvPr/>
        </p:nvSpPr>
        <p:spPr>
          <a:xfrm>
            <a:off x="8540496" y="2962656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2871215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>
                <a:solidFill>
                  <a:srgbClr val="333333"/>
                </a:solidFill>
                <a:latin typeface="Microsoft YaHei"/>
                <a:ea typeface="Microsoft YaHei"/>
              </a:rPr>
              <a:t>权限与错误</a:t>
            </a:r>
          </a:p>
        </p:txBody>
      </p:sp>
      <p:sp>
        <p:nvSpPr>
          <p:cNvPr id="33" name="Oval 32"/>
          <p:cNvSpPr/>
          <p:nvPr/>
        </p:nvSpPr>
        <p:spPr>
          <a:xfrm>
            <a:off x="8540496" y="3273552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0" y="3182112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50" b="0">
                <a:solidFill>
                  <a:srgbClr val="333333"/>
                </a:solidFill>
                <a:latin typeface="Microsoft YaHei"/>
                <a:ea typeface="Microsoft YaHei"/>
              </a:rPr>
              <a:t>字段暴露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864608"/>
            <a:ext cx="523036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0B4D85"/>
                </a:solidFill>
                <a:latin typeface="Microsoft YaHei"/>
                <a:ea typeface="Microsoft YaHei"/>
              </a:rPr>
              <a:t>MVP 设计基线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504688"/>
            <a:ext cx="8321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6F7C8E"/>
                </a:solidFill>
                <a:latin typeface="Microsoft YaHei"/>
                <a:ea typeface="Microsoft YaHei"/>
              </a:rPr>
              <a:t>系统怎么组织  |  事实怎么保存  |  前后端怎么约定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验证前置 / 一致性审查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25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开发前先问：需求都落到设计了吗？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481328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0B4D85"/>
                </a:solidFill>
                <a:latin typeface="Microsoft YaHei"/>
                <a:ea typeface="Microsoft YaHei"/>
              </a:rPr>
              <a:t>审查对象：PRD / SRS / 页面说明 / 技术设计 / 数据模型 / API 设计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" y="1993392"/>
            <a:ext cx="2377440" cy="292608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057400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20A36A"/>
                </a:solidFill>
                <a:latin typeface="Microsoft YaHei"/>
                <a:ea typeface="Microsoft YaHei"/>
              </a:rPr>
              <a:t>88 项 SRS 需求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993392"/>
            <a:ext cx="237744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057400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角色权限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90688" y="1993392"/>
            <a:ext cx="237744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19" y="2057400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状态流程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" y="2450592"/>
            <a:ext cx="237744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514600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敏感字段隔离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2450592"/>
            <a:ext cx="237744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2514600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JSON 持久化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0688" y="2450592"/>
            <a:ext cx="237744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19" y="2514600"/>
            <a:ext cx="23225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1464A5"/>
                </a:solidFill>
                <a:latin typeface="Microsoft YaHei"/>
                <a:ea typeface="Microsoft YaHei"/>
              </a:rPr>
              <a:t>MVP 范围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3246120"/>
            <a:ext cx="10515600" cy="420624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364991"/>
            <a:ext cx="190195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Microsoft YaHei"/>
                <a:ea typeface="Microsoft YaHei"/>
              </a:rPr>
              <a:t>SRS 范围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3364991"/>
            <a:ext cx="181051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Microsoft YaHei"/>
                <a:ea typeface="Microsoft YaHei"/>
              </a:rPr>
              <a:t>主题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3364991"/>
            <a:ext cx="2450591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Microsoft YaHei"/>
                <a:ea typeface="Microsoft YaHei"/>
              </a:rPr>
              <a:t>页面落实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488" y="3364991"/>
            <a:ext cx="299923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Microsoft YaHei"/>
                <a:ea typeface="Microsoft YaHei"/>
              </a:rPr>
              <a:t>技术/数据/API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42448" y="3364991"/>
            <a:ext cx="80467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" y="3666744"/>
            <a:ext cx="10515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3767328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TKT-006~011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62072" y="3767328"/>
            <a:ext cx="17922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工单查看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82312" y="3767328"/>
            <a:ext cx="24323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列表与详情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42631" y="3767328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权限校验、字段隔离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1592" y="3767328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覆盖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" y="4087368"/>
            <a:ext cx="10515600" cy="420624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" y="4187952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SEC-001~004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62072" y="4187952"/>
            <a:ext cx="17922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授权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2312" y="4187952"/>
            <a:ext cx="24323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角色入口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42631" y="4187952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服务端授权、资源级检查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51592" y="4187952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覆盖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" y="4507992"/>
            <a:ext cx="105156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" y="4608576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DAT-001~007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62072" y="4608576"/>
            <a:ext cx="17922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持久化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4608576"/>
            <a:ext cx="24323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无直接界面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42631" y="4608576"/>
            <a:ext cx="298094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仓储接口、store.json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51592" y="4608576"/>
            <a:ext cx="78638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19" b="0">
                <a:solidFill>
                  <a:srgbClr val="333333"/>
                </a:solidFill>
                <a:latin typeface="Microsoft YaHei"/>
                <a:ea typeface="Microsoft YaHei"/>
              </a:rPr>
              <a:t>覆盖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验证前置 / 发现项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26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发现问题不是坏事，未关闭才危险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3337560" cy="208483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792224"/>
            <a:ext cx="420624" cy="4114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47672"/>
            <a:ext cx="3008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F-01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243230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40864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客户详情负责人展示歧义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743200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651760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影响字段隔离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1627632"/>
            <a:ext cx="3337560" cy="208483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0288" y="1792224"/>
            <a:ext cx="420624" cy="4114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1947672"/>
            <a:ext cx="3008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F-02</a:t>
            </a:r>
          </a:p>
        </p:txBody>
      </p:sp>
      <p:sp>
        <p:nvSpPr>
          <p:cNvPr id="18" name="Oval 17"/>
          <p:cNvSpPr/>
          <p:nvPr/>
        </p:nvSpPr>
        <p:spPr>
          <a:xfrm>
            <a:off x="4626864" y="243230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2340864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建单成功跳转不确定</a:t>
            </a:r>
          </a:p>
        </p:txBody>
      </p:sp>
      <p:sp>
        <p:nvSpPr>
          <p:cNvPr id="20" name="Oval 19"/>
          <p:cNvSpPr/>
          <p:nvPr/>
        </p:nvSpPr>
        <p:spPr>
          <a:xfrm>
            <a:off x="4626864" y="2743200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2651760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影响页面行为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01583" y="1627632"/>
            <a:ext cx="3337560" cy="2084831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66175" y="1792224"/>
            <a:ext cx="420624" cy="4114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66175" y="1947672"/>
            <a:ext cx="3008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F-03</a:t>
            </a:r>
          </a:p>
        </p:txBody>
      </p:sp>
      <p:sp>
        <p:nvSpPr>
          <p:cNvPr id="25" name="Oval 24"/>
          <p:cNvSpPr/>
          <p:nvPr/>
        </p:nvSpPr>
        <p:spPr>
          <a:xfrm>
            <a:off x="8302752" y="243230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2340864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技术方案建议语气</a:t>
            </a:r>
          </a:p>
        </p:txBody>
      </p:sp>
      <p:sp>
        <p:nvSpPr>
          <p:cNvPr id="27" name="Oval 26"/>
          <p:cNvSpPr/>
          <p:nvPr/>
        </p:nvSpPr>
        <p:spPr>
          <a:xfrm>
            <a:off x="8302752" y="2743200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2651760"/>
            <a:ext cx="2843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影响设计约束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" y="4334256"/>
            <a:ext cx="10424160" cy="393192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453128"/>
            <a:ext cx="17190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Microsoft YaHei"/>
                <a:ea typeface="Microsoft YaHei"/>
              </a:rPr>
              <a:t>发现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4453128"/>
            <a:ext cx="8485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Microsoft YaHei"/>
                <a:ea typeface="Microsoft YaHei"/>
              </a:rPr>
              <a:t>修订结果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7824" y="4727448"/>
            <a:ext cx="104241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" y="4828032"/>
            <a:ext cx="170078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F-01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0632" y="4828032"/>
            <a:ext cx="846734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客户详情不展示具体客服账号或负责人名称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" y="5120640"/>
            <a:ext cx="10424160" cy="393192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" y="5221224"/>
            <a:ext cx="170078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F-02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70632" y="5221224"/>
            <a:ext cx="846734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创建成功后跳转新建工单详情页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7824" y="5513831"/>
            <a:ext cx="104241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" y="5614416"/>
            <a:ext cx="170078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F-03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70632" y="5614416"/>
            <a:ext cx="8467344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统一改为确定性设计约束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验证前置 / 测试方案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27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测试不是最后补充，而是提前定义“怎样算做对”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554480"/>
            <a:ext cx="3182112" cy="2852928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719072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2852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测试目标</a:t>
            </a:r>
          </a:p>
        </p:txBody>
      </p:sp>
      <p:sp>
        <p:nvSpPr>
          <p:cNvPr id="11" name="Oval 10"/>
          <p:cNvSpPr/>
          <p:nvPr/>
        </p:nvSpPr>
        <p:spPr>
          <a:xfrm>
            <a:off x="969264" y="2359152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267712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业务闭环</a:t>
            </a:r>
          </a:p>
        </p:txBody>
      </p:sp>
      <p:sp>
        <p:nvSpPr>
          <p:cNvPr id="13" name="Oval 12"/>
          <p:cNvSpPr/>
          <p:nvPr/>
        </p:nvSpPr>
        <p:spPr>
          <a:xfrm>
            <a:off x="969264" y="2670048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578608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权限边界</a:t>
            </a:r>
          </a:p>
        </p:txBody>
      </p:sp>
      <p:sp>
        <p:nvSpPr>
          <p:cNvPr id="15" name="Oval 14"/>
          <p:cNvSpPr/>
          <p:nvPr/>
        </p:nvSpPr>
        <p:spPr>
          <a:xfrm>
            <a:off x="969264" y="2980944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2889504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状态数据一致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" y="3291840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200400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凭证安全</a:t>
            </a:r>
          </a:p>
        </p:txBody>
      </p:sp>
      <p:sp>
        <p:nvSpPr>
          <p:cNvPr id="19" name="Oval 18"/>
          <p:cNvSpPr/>
          <p:nvPr/>
        </p:nvSpPr>
        <p:spPr>
          <a:xfrm>
            <a:off x="969264" y="3602736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511296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本地持久化</a:t>
            </a:r>
          </a:p>
        </p:txBody>
      </p:sp>
      <p:sp>
        <p:nvSpPr>
          <p:cNvPr id="21" name="Oval 20"/>
          <p:cNvSpPr/>
          <p:nvPr/>
        </p:nvSpPr>
        <p:spPr>
          <a:xfrm>
            <a:off x="969264" y="3913631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822191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页面反馈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1554480"/>
            <a:ext cx="3182112" cy="2852928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62272" y="1719072"/>
            <a:ext cx="420624" cy="411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1874519"/>
            <a:ext cx="2852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测试层次</a:t>
            </a:r>
          </a:p>
        </p:txBody>
      </p:sp>
      <p:sp>
        <p:nvSpPr>
          <p:cNvPr id="26" name="Oval 25"/>
          <p:cNvSpPr/>
          <p:nvPr/>
        </p:nvSpPr>
        <p:spPr>
          <a:xfrm>
            <a:off x="4498848" y="2359152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2267712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规则单元</a:t>
            </a:r>
          </a:p>
        </p:txBody>
      </p:sp>
      <p:sp>
        <p:nvSpPr>
          <p:cNvPr id="28" name="Oval 27"/>
          <p:cNvSpPr/>
          <p:nvPr/>
        </p:nvSpPr>
        <p:spPr>
          <a:xfrm>
            <a:off x="4498848" y="2670048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45152" y="2578608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仓储服务</a:t>
            </a:r>
          </a:p>
        </p:txBody>
      </p:sp>
      <p:sp>
        <p:nvSpPr>
          <p:cNvPr id="30" name="Oval 29"/>
          <p:cNvSpPr/>
          <p:nvPr/>
        </p:nvSpPr>
        <p:spPr>
          <a:xfrm>
            <a:off x="4498848" y="2980944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45152" y="2889504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API 集成</a:t>
            </a:r>
          </a:p>
        </p:txBody>
      </p:sp>
      <p:sp>
        <p:nvSpPr>
          <p:cNvPr id="32" name="Oval 31"/>
          <p:cNvSpPr/>
          <p:nvPr/>
        </p:nvSpPr>
        <p:spPr>
          <a:xfrm>
            <a:off x="4498848" y="3291840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152" y="3200400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页面联调</a:t>
            </a:r>
          </a:p>
        </p:txBody>
      </p:sp>
      <p:sp>
        <p:nvSpPr>
          <p:cNvPr id="34" name="Oval 33"/>
          <p:cNvSpPr/>
          <p:nvPr/>
        </p:nvSpPr>
        <p:spPr>
          <a:xfrm>
            <a:off x="4498848" y="3602736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45152" y="3511296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业务验收</a:t>
            </a:r>
          </a:p>
        </p:txBody>
      </p:sp>
      <p:sp>
        <p:nvSpPr>
          <p:cNvPr id="36" name="Oval 35"/>
          <p:cNvSpPr/>
          <p:nvPr/>
        </p:nvSpPr>
        <p:spPr>
          <a:xfrm>
            <a:off x="4498848" y="3913631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45152" y="3822191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文档/代码审查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62672" y="1572768"/>
            <a:ext cx="3703320" cy="502920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17536" y="169164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  <a:ea typeface="Microsoft YaHei"/>
              </a:rPr>
              <a:t>用例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14816" y="1691640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  <a:ea typeface="Microsoft YaHei"/>
              </a:rPr>
              <a:t>场景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86416" y="1691640"/>
            <a:ext cx="11247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Microsoft YaHei"/>
                <a:ea typeface="Microsoft YaHei"/>
              </a:rPr>
              <a:t>预期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62672" y="2075688"/>
            <a:ext cx="3703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26680" y="2176272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80" b="0">
                <a:solidFill>
                  <a:srgbClr val="333333"/>
                </a:solidFill>
                <a:latin typeface="Microsoft YaHei"/>
                <a:ea typeface="Microsoft YaHei"/>
              </a:rPr>
              <a:t>AUTH-004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2176272"/>
            <a:ext cx="12435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80" b="0">
                <a:solidFill>
                  <a:srgbClr val="333333"/>
                </a:solidFill>
                <a:latin typeface="Microsoft YaHei"/>
                <a:ea typeface="Microsoft YaHei"/>
              </a:rPr>
              <a:t>三类登录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95560" y="2176272"/>
            <a:ext cx="11064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80" b="0">
                <a:solidFill>
                  <a:srgbClr val="333333"/>
                </a:solidFill>
                <a:latin typeface="Microsoft YaHei"/>
                <a:ea typeface="Microsoft YaHei"/>
              </a:rPr>
              <a:t>进入首页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662672" y="2578608"/>
            <a:ext cx="370332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26680" y="2679192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80" b="0">
                <a:solidFill>
                  <a:srgbClr val="333333"/>
                </a:solidFill>
                <a:latin typeface="Microsoft YaHei"/>
                <a:ea typeface="Microsoft YaHei"/>
              </a:rPr>
              <a:t>TKT-005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2679192"/>
            <a:ext cx="12435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80" b="0">
                <a:solidFill>
                  <a:srgbClr val="333333"/>
                </a:solidFill>
                <a:latin typeface="Microsoft YaHei"/>
                <a:ea typeface="Microsoft YaHei"/>
              </a:rPr>
              <a:t>他人工单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5560" y="2679192"/>
            <a:ext cx="11064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80" b="0">
                <a:solidFill>
                  <a:srgbClr val="333333"/>
                </a:solidFill>
                <a:latin typeface="Microsoft YaHei"/>
                <a:ea typeface="Microsoft YaHei"/>
              </a:rPr>
              <a:t>拒绝访问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62672" y="3081528"/>
            <a:ext cx="3703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80" y="3182112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80" b="0">
                <a:solidFill>
                  <a:srgbClr val="333333"/>
                </a:solidFill>
                <a:latin typeface="Microsoft YaHei"/>
                <a:ea typeface="Microsoft YaHei"/>
              </a:rPr>
              <a:t>STS-004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3960" y="3182112"/>
            <a:ext cx="12435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80" b="0">
                <a:solidFill>
                  <a:srgbClr val="333333"/>
                </a:solidFill>
                <a:latin typeface="Microsoft YaHei"/>
                <a:ea typeface="Microsoft YaHei"/>
              </a:rPr>
              <a:t>跳级回退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5560" y="3182112"/>
            <a:ext cx="11064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80" b="0">
                <a:solidFill>
                  <a:srgbClr val="333333"/>
                </a:solidFill>
                <a:latin typeface="Microsoft YaHei"/>
                <a:ea typeface="Microsoft YaHei"/>
              </a:rPr>
              <a:t>拒绝变更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62672" y="3584448"/>
            <a:ext cx="3703320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26680" y="3685032"/>
            <a:ext cx="96926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80" b="0">
                <a:solidFill>
                  <a:srgbClr val="333333"/>
                </a:solidFill>
                <a:latin typeface="Microsoft YaHei"/>
                <a:ea typeface="Microsoft YaHei"/>
              </a:rPr>
              <a:t>DAT-002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23960" y="3685032"/>
            <a:ext cx="124358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80" b="0">
                <a:solidFill>
                  <a:srgbClr val="333333"/>
                </a:solidFill>
                <a:latin typeface="Microsoft YaHei"/>
                <a:ea typeface="Microsoft YaHei"/>
              </a:rPr>
              <a:t>重启读取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95560" y="3685032"/>
            <a:ext cx="110642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780" b="0">
                <a:solidFill>
                  <a:srgbClr val="333333"/>
                </a:solidFill>
                <a:latin typeface="Microsoft YaHei"/>
                <a:ea typeface="Microsoft YaHei"/>
              </a:rPr>
              <a:t>数据存在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验证前置 / E2E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28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验收要覆盖主流程，也要覆盖风险点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64208"/>
            <a:ext cx="3154680" cy="1097280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1792224"/>
            <a:ext cx="347472" cy="36576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47672"/>
            <a:ext cx="28986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E2E-01 初始化与建单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267712"/>
            <a:ext cx="2898648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客户建单待分配且可查看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664208"/>
            <a:ext cx="3154680" cy="1097280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792224"/>
            <a:ext cx="347472" cy="36576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947672"/>
            <a:ext cx="28986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E2E-02 分配处理关闭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267712"/>
            <a:ext cx="2898648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客户可看进展，关闭后只读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664208"/>
            <a:ext cx="3154680" cy="109728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92224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47672"/>
            <a:ext cx="28986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E2E-03 越权验证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67712"/>
            <a:ext cx="2898648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非负责人不可写，其他客户不可读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145536"/>
            <a:ext cx="3154680" cy="109728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" y="3273552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3429000"/>
            <a:ext cx="28986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E2E-04 禁用客户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749040"/>
            <a:ext cx="2898648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会话失效，历史保留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3145536"/>
            <a:ext cx="3154680" cy="109728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53712" y="3273552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429000"/>
            <a:ext cx="289864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E2E-05 重启读取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749040"/>
            <a:ext cx="2898648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</a:rPr>
              <a:t>账号工单留言记录完整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验证前置 / 质量门禁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29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有些缺陷不能靠“后续优化”处理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1609344"/>
            <a:ext cx="2057400" cy="292608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673352"/>
            <a:ext cx="2002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F28C28"/>
                </a:solidFill>
                <a:latin typeface="Microsoft YaHei"/>
                <a:ea typeface="Microsoft YaHei"/>
              </a:rPr>
              <a:t>越权访问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9344"/>
            <a:ext cx="2057400" cy="292608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1673352"/>
            <a:ext cx="2002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F28C28"/>
                </a:solidFill>
                <a:latin typeface="Microsoft YaHei"/>
                <a:ea typeface="Microsoft YaHei"/>
              </a:rPr>
              <a:t>敏感数据泄露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1609344"/>
            <a:ext cx="2057400" cy="292608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1673352"/>
            <a:ext cx="2002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F28C28"/>
                </a:solidFill>
                <a:latin typeface="Microsoft YaHei"/>
                <a:ea typeface="Microsoft YaHei"/>
              </a:rPr>
              <a:t>明文密码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139696"/>
            <a:ext cx="2057400" cy="292608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203703"/>
            <a:ext cx="2002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F28C28"/>
                </a:solidFill>
                <a:latin typeface="Microsoft YaHei"/>
                <a:ea typeface="Microsoft YaHei"/>
              </a:rPr>
              <a:t>状态违规写入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39696"/>
            <a:ext cx="2057400" cy="292608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2203703"/>
            <a:ext cx="2002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F28C28"/>
                </a:solidFill>
                <a:latin typeface="Microsoft YaHei"/>
                <a:ea typeface="Microsoft YaHei"/>
              </a:rPr>
              <a:t>数据损坏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9248" y="2139696"/>
            <a:ext cx="2057400" cy="292608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2203703"/>
            <a:ext cx="2002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50" b="1">
                <a:solidFill>
                  <a:srgbClr val="F28C28"/>
                </a:solidFill>
                <a:latin typeface="Microsoft YaHei"/>
                <a:ea typeface="Microsoft YaHei"/>
              </a:rPr>
              <a:t>闭环不可完成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" y="3182112"/>
            <a:ext cx="10058400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300984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等级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3300984"/>
            <a:ext cx="46451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示例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3300984"/>
            <a:ext cx="3364991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验收处理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" y="3639312"/>
            <a:ext cx="10058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3739896"/>
            <a:ext cx="17007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严重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2072" y="3739896"/>
            <a:ext cx="46268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越权读取、明文密码、JSON 损坏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3739896"/>
            <a:ext cx="33467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必须修复并复测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" y="4096512"/>
            <a:ext cx="10058400" cy="457200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" y="4197096"/>
            <a:ext cx="17007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62072" y="4197096"/>
            <a:ext cx="46268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状态可跳级、退出后仍可访问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6952" y="4197096"/>
            <a:ext cx="33467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必须修复并复测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" y="4553712"/>
            <a:ext cx="10058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2" y="4654296"/>
            <a:ext cx="17007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62072" y="4654296"/>
            <a:ext cx="46268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重要交互反馈缺失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6952" y="4654296"/>
            <a:ext cx="33467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原则上修复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9264" y="5010912"/>
            <a:ext cx="10058400" cy="457200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2" y="5111496"/>
            <a:ext cx="17007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62072" y="5111496"/>
            <a:ext cx="462686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不影响流程的展示问题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6952" y="5111496"/>
            <a:ext cx="33467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Microsoft YaHei"/>
                <a:ea typeface="Microsoft YaHei"/>
              </a:rPr>
              <a:t>记录后验收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实施计划 / 里程碑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30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计划不是排期表，而是风险处理顺序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84831"/>
            <a:ext cx="1431689" cy="64008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2194560"/>
            <a:ext cx="137682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M0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工程骨架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5777" y="2240279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72937" y="2084831"/>
            <a:ext cx="1431689" cy="64008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00369" y="2194560"/>
            <a:ext cx="137682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M1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数据/安全/会话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5482" y="2240279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32642" y="2084831"/>
            <a:ext cx="1431689" cy="64008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0074" y="2194560"/>
            <a:ext cx="137682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M2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管理配置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5187" y="2240279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2347" y="2084831"/>
            <a:ext cx="1431689" cy="64008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19779" y="2194560"/>
            <a:ext cx="137682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M3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客户工单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4892" y="2240279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52052" y="2084831"/>
            <a:ext cx="1431689" cy="64008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9484" y="2194560"/>
            <a:ext cx="137682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M4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内部闭环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4597" y="2240279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11757" y="2084831"/>
            <a:ext cx="1431689" cy="64008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39189" y="2194560"/>
            <a:ext cx="137682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M5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安全联调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4302" y="2240279"/>
            <a:ext cx="14630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>
                <a:solidFill>
                  <a:srgbClr val="6F7C8E"/>
                </a:solidFill>
                <a:latin typeface="Microsoft YaHei"/>
                <a:ea typeface="Microsoft YaHei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71462" y="2084831"/>
            <a:ext cx="1431689" cy="640080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98894" y="2194560"/>
            <a:ext cx="137682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M6</a:t>
            </a:r>
          </a:p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验收交付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962656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应用启动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67712" y="2962656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基础能力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2191" y="2962656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分类账号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76672" y="2962656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建单详情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2962656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分配处理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2962656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字段安全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1" y="2962656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>
                <a:solidFill>
                  <a:srgbClr val="6F7C8E"/>
                </a:solidFill>
                <a:latin typeface="Microsoft YaHei"/>
                <a:ea typeface="Microsoft YaHei"/>
              </a:rPr>
              <a:t>全量验收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956048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B4D85"/>
                </a:solidFill>
                <a:latin typeface="Microsoft YaHei"/>
                <a:ea typeface="Microsoft YaHei"/>
              </a:rPr>
              <a:t>基础能力先固化，业务闭环再纵向集成，最后做安全与验收复核。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实施计划 / 拆解逻辑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31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页面不是最小风险单元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554480"/>
            <a:ext cx="4846320" cy="3566160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" y="1719072"/>
            <a:ext cx="420624" cy="4114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874519"/>
            <a:ext cx="4517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直接按页面开写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359152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2267712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登录页临时会话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2670048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2578608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建单页临时校验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" y="2980944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2889504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详情页临时权限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" y="3291840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3200400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管理页临时审计</a:t>
            </a:r>
          </a:p>
        </p:txBody>
      </p:sp>
      <p:sp>
        <p:nvSpPr>
          <p:cNvPr id="19" name="Oval 18"/>
          <p:cNvSpPr/>
          <p:nvPr/>
        </p:nvSpPr>
        <p:spPr>
          <a:xfrm>
            <a:off x="1005840" y="3602736"/>
            <a:ext cx="64008" cy="6400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2144" y="3511296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最后补权限和测试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554480"/>
            <a:ext cx="4846320" cy="356616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5664" y="1719072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1874519"/>
            <a:ext cx="4517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推荐路径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2359152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8544" y="2267712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先固化数据/仓储/安全/会话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2670048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2578608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再完成管理配置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2980944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8544" y="2889504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再完成客户建单</a:t>
            </a:r>
          </a:p>
        </p:txBody>
      </p:sp>
      <p:sp>
        <p:nvSpPr>
          <p:cNvPr id="30" name="Oval 29"/>
          <p:cNvSpPr/>
          <p:nvPr/>
        </p:nvSpPr>
        <p:spPr>
          <a:xfrm>
            <a:off x="6492240" y="3291840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8544" y="3200400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再完成内部处理</a:t>
            </a:r>
          </a:p>
        </p:txBody>
      </p:sp>
      <p:sp>
        <p:nvSpPr>
          <p:cNvPr id="32" name="Oval 31"/>
          <p:cNvSpPr/>
          <p:nvPr/>
        </p:nvSpPr>
        <p:spPr>
          <a:xfrm>
            <a:off x="6492240" y="3602736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3511296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最后字段隔离和验收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实施计划 / 测试驱动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32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高风险规则，适合先写测试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08760"/>
            <a:ext cx="3182112" cy="2743200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73351"/>
            <a:ext cx="420624" cy="411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2852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适合测试先行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2313432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221991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状态转换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624327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532887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权限判断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2935224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843784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资源归属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" y="3246120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154679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会话失效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3557016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465576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字段隔离</a:t>
            </a:r>
          </a:p>
        </p:txBody>
      </p:sp>
      <p:sp>
        <p:nvSpPr>
          <p:cNvPr id="21" name="Oval 20"/>
          <p:cNvSpPr/>
          <p:nvPr/>
        </p:nvSpPr>
        <p:spPr>
          <a:xfrm>
            <a:off x="950976" y="3867911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776472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JSON 原子写入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1627632"/>
            <a:ext cx="3529584" cy="3840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5383" y="1746504"/>
            <a:ext cx="1152143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Microsoft YaHei"/>
                <a:ea typeface="Microsoft YaHei"/>
              </a:rPr>
              <a:t>当前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7255" y="1746504"/>
            <a:ext cx="1152143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Microsoft YaHei"/>
                <a:ea typeface="Microsoft YaHei"/>
              </a:rPr>
              <a:t>下一状态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39127" y="1746504"/>
            <a:ext cx="896112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860" b="1">
                <a:solidFill>
                  <a:srgbClr val="FFFFFF"/>
                </a:solidFill>
                <a:latin typeface="Microsoft YaHei"/>
                <a:ea typeface="Microsoft YaHei"/>
              </a:rPr>
              <a:t>预期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2011680"/>
            <a:ext cx="35295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4528" y="2112264"/>
            <a:ext cx="1133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待分配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2112264"/>
            <a:ext cx="1133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处理中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2112264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允许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395728"/>
            <a:ext cx="3529584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2496312"/>
            <a:ext cx="1133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处理中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2496312"/>
            <a:ext cx="1133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已解决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2496312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允许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2779776"/>
            <a:ext cx="35295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24528" y="2880360"/>
            <a:ext cx="1133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待分配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2880360"/>
            <a:ext cx="1133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已解决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2880360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拒绝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20" y="3163824"/>
            <a:ext cx="3529584" cy="384048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24528" y="3264408"/>
            <a:ext cx="1133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已解决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3264408"/>
            <a:ext cx="1133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处理中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8272" y="3264408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拒绝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0520" y="3547872"/>
            <a:ext cx="352958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24528" y="3648456"/>
            <a:ext cx="1133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已关闭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0" y="3648456"/>
            <a:ext cx="11338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任意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8272" y="3648456"/>
            <a:ext cx="877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860" b="0">
                <a:solidFill>
                  <a:srgbClr val="333333"/>
                </a:solidFill>
                <a:latin typeface="Microsoft YaHei"/>
                <a:ea typeface="Microsoft YaHei"/>
              </a:rPr>
              <a:t>拒绝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73568" y="1645920"/>
            <a:ext cx="3163824" cy="2267712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19872" y="1773936"/>
            <a:ext cx="2871216" cy="2029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客户工单详情响应不得包含：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- assignee_user_id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- assignee.username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- audit_logs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- password_hash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40" b="0">
                <a:solidFill>
                  <a:srgbClr val="333333"/>
                </a:solidFill>
                <a:latin typeface="Microsoft YaHei"/>
                <a:ea typeface="Microsoft YaHei"/>
              </a:rPr>
              <a:t>- token_hash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49808" y="4407408"/>
            <a:ext cx="10369296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400" y="4572000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81328" y="4553712"/>
            <a:ext cx="23591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不必强制严格 TDD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41648" y="4562856"/>
            <a:ext cx="6720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20" b="0">
                <a:solidFill>
                  <a:srgbClr val="333333"/>
                </a:solidFill>
                <a:latin typeface="Microsoft YaHei"/>
                <a:ea typeface="Microsoft YaHei"/>
              </a:rPr>
              <a:t>普通页面排版、CSS 视觉细节、一般提示文案微调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实施计划 / 启动检查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33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不是文档写完了，而是条件满足了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26464"/>
            <a:ext cx="914400" cy="292608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49047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20A36A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146304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产品与技术规范已经确认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956816"/>
            <a:ext cx="914400" cy="292608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2020824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20A36A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1993392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PRD、SRS 和页面交互说明已经确认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487168"/>
            <a:ext cx="914400" cy="292608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2551175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20A36A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21408" y="2523744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技术设计、数据模型和 API 设计已经确认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017520"/>
            <a:ext cx="914400" cy="292608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081527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20A36A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21408" y="3054096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需求与设计一致性审查通过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547872"/>
            <a:ext cx="914400" cy="292608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3611879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20A36A"/>
                </a:solidFill>
                <a:latin typeface="Microsoft YaHei"/>
                <a:ea typeface="Microsoft YaHei"/>
              </a:rPr>
              <a:t>已完成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408" y="3584448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测试与验收方案已经确认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078224"/>
            <a:ext cx="91440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" y="4142232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1464A5"/>
                </a:solidFill>
                <a:latin typeface="Microsoft YaHei"/>
                <a:ea typeface="Microsoft YaHei"/>
              </a:rPr>
              <a:t>待确认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21408" y="4114800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MVP 实施计划最终确认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608575"/>
            <a:ext cx="914400" cy="292608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672583"/>
            <a:ext cx="859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00" b="1">
                <a:solidFill>
                  <a:srgbClr val="F28C28"/>
                </a:solidFill>
                <a:latin typeface="Microsoft YaHei"/>
                <a:ea typeface="Microsoft YaHei"/>
              </a:rPr>
              <a:t>待启动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21408" y="4645151"/>
            <a:ext cx="6949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333333"/>
                </a:solidFill>
                <a:latin typeface="Microsoft YaHei"/>
                <a:ea typeface="Microsoft YaHei"/>
              </a:rPr>
              <a:t>代码工程初始化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7552" y="5522976"/>
            <a:ext cx="10003536" cy="457200"/>
          </a:xfrm>
          <a:prstGeom prst="roundRect">
            <a:avLst/>
          </a:prstGeom>
          <a:solidFill>
            <a:srgbClr val="0B4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660136"/>
            <a:ext cx="98023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当前项目尚未开始代码开发，正在形成开发前实施计划。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Agent 协作 / Agent 作用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34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Agent 的价值，是加快分析和产物衔接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468880"/>
            <a:ext cx="3246120" cy="987552"/>
          </a:xfrm>
          <a:prstGeom prst="roundRect">
            <a:avLst/>
          </a:prstGeom>
          <a:solidFill>
            <a:srgbClr val="0B4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761488"/>
            <a:ext cx="27066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Agent 协作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1783080"/>
            <a:ext cx="2560320" cy="2331720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50976" y="1947672"/>
            <a:ext cx="420624" cy="411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103120"/>
            <a:ext cx="22311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人提供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" y="2587752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33856" y="249631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用户输入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2898648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2807208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业务选择</a:t>
            </a:r>
          </a:p>
        </p:txBody>
      </p:sp>
      <p:sp>
        <p:nvSpPr>
          <p:cNvPr id="17" name="Oval 16"/>
          <p:cNvSpPr/>
          <p:nvPr/>
        </p:nvSpPr>
        <p:spPr>
          <a:xfrm>
            <a:off x="987552" y="3209544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118104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确认批准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3648" y="1444752"/>
            <a:ext cx="2651760" cy="310896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78240" y="1609344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1764792"/>
            <a:ext cx="23225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产物输出</a:t>
            </a:r>
          </a:p>
        </p:txBody>
      </p:sp>
      <p:sp>
        <p:nvSpPr>
          <p:cNvPr id="22" name="Oval 21"/>
          <p:cNvSpPr/>
          <p:nvPr/>
        </p:nvSpPr>
        <p:spPr>
          <a:xfrm>
            <a:off x="8814816" y="2249424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157984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澄清问题</a:t>
            </a:r>
          </a:p>
        </p:txBody>
      </p:sp>
      <p:sp>
        <p:nvSpPr>
          <p:cNvPr id="24" name="Oval 23"/>
          <p:cNvSpPr/>
          <p:nvPr/>
        </p:nvSpPr>
        <p:spPr>
          <a:xfrm>
            <a:off x="8814816" y="2560320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246888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规范文档</a:t>
            </a:r>
          </a:p>
        </p:txBody>
      </p:sp>
      <p:sp>
        <p:nvSpPr>
          <p:cNvPr id="26" name="Oval 25"/>
          <p:cNvSpPr/>
          <p:nvPr/>
        </p:nvSpPr>
        <p:spPr>
          <a:xfrm>
            <a:off x="8814816" y="2871216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0" y="2779776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设计文档</a:t>
            </a:r>
          </a:p>
        </p:txBody>
      </p:sp>
      <p:sp>
        <p:nvSpPr>
          <p:cNvPr id="28" name="Oval 27"/>
          <p:cNvSpPr/>
          <p:nvPr/>
        </p:nvSpPr>
        <p:spPr>
          <a:xfrm>
            <a:off x="8814816" y="3182112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309067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追踪矩阵</a:t>
            </a:r>
          </a:p>
        </p:txBody>
      </p:sp>
      <p:sp>
        <p:nvSpPr>
          <p:cNvPr id="30" name="Oval 29"/>
          <p:cNvSpPr/>
          <p:nvPr/>
        </p:nvSpPr>
        <p:spPr>
          <a:xfrm>
            <a:off x="8814816" y="3493008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3401568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测试方案</a:t>
            </a:r>
          </a:p>
        </p:txBody>
      </p:sp>
      <p:sp>
        <p:nvSpPr>
          <p:cNvPr id="32" name="Oval 31"/>
          <p:cNvSpPr/>
          <p:nvPr/>
        </p:nvSpPr>
        <p:spPr>
          <a:xfrm>
            <a:off x="8814816" y="3803904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3712464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Microsoft YaHei"/>
                <a:ea typeface="Microsoft YaHei"/>
              </a:rPr>
              <a:t>实施计划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346704" y="2962656"/>
            <a:ext cx="1088136" cy="0"/>
          </a:xfrm>
          <a:prstGeom prst="line">
            <a:avLst/>
          </a:prstGeom>
          <a:ln w="25400">
            <a:solidFill>
              <a:srgbClr val="20A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680960" y="2962656"/>
            <a:ext cx="932688" cy="0"/>
          </a:xfrm>
          <a:prstGeom prst="line">
            <a:avLst/>
          </a:prstGeom>
          <a:ln w="25400">
            <a:solidFill>
              <a:srgbClr val="1464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99232" y="5074920"/>
            <a:ext cx="63276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800" b="1">
                <a:solidFill>
                  <a:srgbClr val="0B4D85"/>
                </a:solidFill>
                <a:latin typeface="Microsoft YaHei"/>
                <a:ea typeface="Microsoft YaHei"/>
              </a:rPr>
              <a:t>分析、整理、生成、检查、拆解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Agent 协作 / 人的责任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35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Agent 可以推进工作，人必须批准方向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554480"/>
            <a:ext cx="4983480" cy="3749039"/>
          </a:xfrm>
          <a:prstGeom prst="roundRect">
            <a:avLst/>
          </a:prstGeom>
          <a:solidFill>
            <a:srgbClr val="EDF8F3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32688" y="1719072"/>
            <a:ext cx="420624" cy="41148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74519"/>
            <a:ext cx="4654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人负责</a:t>
            </a:r>
          </a:p>
        </p:txBody>
      </p:sp>
      <p:sp>
        <p:nvSpPr>
          <p:cNvPr id="11" name="Oval 10"/>
          <p:cNvSpPr/>
          <p:nvPr/>
        </p:nvSpPr>
        <p:spPr>
          <a:xfrm>
            <a:off x="969264" y="2359152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267712"/>
            <a:ext cx="4489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选择业务场景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969264" y="2670048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2578608"/>
            <a:ext cx="4489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确认客户与账号模式</a:t>
            </a:r>
          </a:p>
        </p:txBody>
      </p:sp>
      <p:sp>
        <p:nvSpPr>
          <p:cNvPr id="15" name="Oval 14"/>
          <p:cNvSpPr/>
          <p:nvPr/>
        </p:nvSpPr>
        <p:spPr>
          <a:xfrm>
            <a:off x="969264" y="2980944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2889504"/>
            <a:ext cx="4489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确认处理组织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" y="3291840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200400"/>
            <a:ext cx="4489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确认范围取舍</a:t>
            </a:r>
          </a:p>
        </p:txBody>
      </p:sp>
      <p:sp>
        <p:nvSpPr>
          <p:cNvPr id="19" name="Oval 18"/>
          <p:cNvSpPr/>
          <p:nvPr/>
        </p:nvSpPr>
        <p:spPr>
          <a:xfrm>
            <a:off x="969264" y="3602736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511296"/>
            <a:ext cx="4489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确认技术约束</a:t>
            </a:r>
          </a:p>
        </p:txBody>
      </p:sp>
      <p:sp>
        <p:nvSpPr>
          <p:cNvPr id="21" name="Oval 20"/>
          <p:cNvSpPr/>
          <p:nvPr/>
        </p:nvSpPr>
        <p:spPr>
          <a:xfrm>
            <a:off x="969264" y="3913631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822191"/>
            <a:ext cx="4489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批准基线</a:t>
            </a:r>
          </a:p>
        </p:txBody>
      </p:sp>
      <p:sp>
        <p:nvSpPr>
          <p:cNvPr id="23" name="Oval 22"/>
          <p:cNvSpPr/>
          <p:nvPr/>
        </p:nvSpPr>
        <p:spPr>
          <a:xfrm>
            <a:off x="969264" y="4224527"/>
            <a:ext cx="64008" cy="64008"/>
          </a:xfrm>
          <a:prstGeom prst="ellipse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133087"/>
            <a:ext cx="4489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80" b="0">
                <a:solidFill>
                  <a:srgbClr val="333333"/>
                </a:solidFill>
                <a:latin typeface="Microsoft YaHei"/>
                <a:ea typeface="Microsoft YaHei"/>
              </a:rPr>
              <a:t>判断是否进入下一阶段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554480"/>
            <a:ext cx="4572000" cy="3749039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565392" y="1719072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1874519"/>
            <a:ext cx="4242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Agent 协助</a:t>
            </a:r>
          </a:p>
        </p:txBody>
      </p:sp>
      <p:sp>
        <p:nvSpPr>
          <p:cNvPr id="28" name="Oval 27"/>
          <p:cNvSpPr/>
          <p:nvPr/>
        </p:nvSpPr>
        <p:spPr>
          <a:xfrm>
            <a:off x="6601968" y="2359152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2267712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提供选项</a:t>
            </a:r>
          </a:p>
        </p:txBody>
      </p:sp>
      <p:sp>
        <p:nvSpPr>
          <p:cNvPr id="30" name="Oval 29"/>
          <p:cNvSpPr/>
          <p:nvPr/>
        </p:nvSpPr>
        <p:spPr>
          <a:xfrm>
            <a:off x="6601968" y="2670048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2578608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整理材料</a:t>
            </a:r>
          </a:p>
        </p:txBody>
      </p:sp>
      <p:sp>
        <p:nvSpPr>
          <p:cNvPr id="32" name="Oval 31"/>
          <p:cNvSpPr/>
          <p:nvPr/>
        </p:nvSpPr>
        <p:spPr>
          <a:xfrm>
            <a:off x="6601968" y="2980944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2889504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生成文档</a:t>
            </a:r>
          </a:p>
        </p:txBody>
      </p:sp>
      <p:sp>
        <p:nvSpPr>
          <p:cNvPr id="34" name="Oval 33"/>
          <p:cNvSpPr/>
          <p:nvPr/>
        </p:nvSpPr>
        <p:spPr>
          <a:xfrm>
            <a:off x="6601968" y="3291840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3200400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检查一致性</a:t>
            </a:r>
          </a:p>
        </p:txBody>
      </p:sp>
      <p:sp>
        <p:nvSpPr>
          <p:cNvPr id="36" name="Oval 35"/>
          <p:cNvSpPr/>
          <p:nvPr/>
        </p:nvSpPr>
        <p:spPr>
          <a:xfrm>
            <a:off x="6601968" y="3602736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8272" y="3511296"/>
            <a:ext cx="4078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Microsoft YaHei"/>
                <a:ea typeface="Microsoft YaHei"/>
              </a:rPr>
              <a:t>拆解计划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Agent 协作 / 过程纪律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36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Agent 协作也需要过程纪律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572768"/>
            <a:ext cx="2395728" cy="292608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636776"/>
            <a:ext cx="23408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80" b="1">
                <a:solidFill>
                  <a:srgbClr val="F28C28"/>
                </a:solidFill>
                <a:latin typeface="Microsoft YaHei"/>
                <a:ea typeface="Microsoft YaHei"/>
              </a:rPr>
              <a:t>确认后要落盘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572768"/>
            <a:ext cx="2395728" cy="292608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636776"/>
            <a:ext cx="23408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80" b="1">
                <a:solidFill>
                  <a:srgbClr val="F28C28"/>
                </a:solidFill>
                <a:latin typeface="Microsoft YaHei"/>
                <a:ea typeface="Microsoft YaHei"/>
              </a:rPr>
              <a:t>建议措辞要定稿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572768"/>
            <a:ext cx="2395728" cy="292608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636776"/>
            <a:ext cx="23408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80" b="1">
                <a:solidFill>
                  <a:srgbClr val="F28C28"/>
                </a:solidFill>
                <a:latin typeface="Microsoft YaHei"/>
                <a:ea typeface="Microsoft YaHei"/>
              </a:rPr>
              <a:t>发现项要关闭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2103120"/>
            <a:ext cx="2395728" cy="292608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2167127"/>
            <a:ext cx="23408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80" b="1">
                <a:solidFill>
                  <a:srgbClr val="F28C28"/>
                </a:solidFill>
                <a:latin typeface="Microsoft YaHei"/>
                <a:ea typeface="Microsoft YaHei"/>
              </a:rPr>
              <a:t>非范围不要偷做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2103120"/>
            <a:ext cx="2395728" cy="292608"/>
          </a:xfrm>
          <a:prstGeom prst="roundRect">
            <a:avLst/>
          </a:prstGeom>
          <a:solidFill>
            <a:srgbClr val="FE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2167127"/>
            <a:ext cx="23408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80" b="1">
                <a:solidFill>
                  <a:srgbClr val="F28C28"/>
                </a:solidFill>
                <a:latin typeface="Microsoft YaHei"/>
                <a:ea typeface="Microsoft YaHei"/>
              </a:rPr>
              <a:t>测试标准不能后补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" y="3255264"/>
            <a:ext cx="10058400" cy="4572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" y="3374136"/>
            <a:ext cx="40050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Microsoft YaHei"/>
                <a:ea typeface="Microsoft YaHei"/>
              </a:rPr>
              <a:t>现象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9783" y="3374136"/>
            <a:ext cx="58338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Microsoft YaHei"/>
                <a:ea typeface="Microsoft YaHei"/>
              </a:rPr>
              <a:t>修正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3712464"/>
            <a:ext cx="10058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813048"/>
            <a:ext cx="39867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规范确认后未立即保存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3813048"/>
            <a:ext cx="58155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补充落盘为正式基线文档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169664"/>
            <a:ext cx="10058400" cy="457200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270248"/>
            <a:ext cx="39867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客户负责人展示存在歧义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4270248"/>
            <a:ext cx="58155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修订为客户详情不展示负责人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4626864"/>
            <a:ext cx="10058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4727448"/>
            <a:ext cx="39867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技术设计仍有建议措辞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4727448"/>
            <a:ext cx="58155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改为确定性设计约束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Agent 协作 / 可复用模式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37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用同一套节奏处理下一个项目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526280"/>
            <a:ext cx="1097280" cy="530352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4681728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19" b="1">
                <a:solidFill>
                  <a:srgbClr val="1464A5"/>
                </a:solidFill>
                <a:latin typeface="Microsoft YaHei"/>
                <a:ea typeface="Microsoft YaHei"/>
              </a:rPr>
              <a:t>问清场景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224528"/>
            <a:ext cx="1097280" cy="530352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39" y="4379976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19" b="1">
                <a:solidFill>
                  <a:srgbClr val="1464A5"/>
                </a:solidFill>
                <a:latin typeface="Microsoft YaHei"/>
                <a:ea typeface="Microsoft YaHei"/>
              </a:rPr>
              <a:t>确认 MVP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3922776"/>
            <a:ext cx="1097280" cy="530352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8728" y="4078224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19" b="1">
                <a:solidFill>
                  <a:srgbClr val="1464A5"/>
                </a:solidFill>
                <a:latin typeface="Microsoft YaHei"/>
                <a:ea typeface="Microsoft YaHei"/>
              </a:rPr>
              <a:t>写清非范围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82896" y="3621024"/>
            <a:ext cx="1097280" cy="530352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8616" y="3776472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19" b="1">
                <a:solidFill>
                  <a:srgbClr val="1464A5"/>
                </a:solidFill>
                <a:latin typeface="Microsoft YaHei"/>
                <a:ea typeface="Microsoft YaHei"/>
              </a:rPr>
              <a:t>固化基线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3319272"/>
            <a:ext cx="1097280" cy="530352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3474720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19" b="1">
                <a:solidFill>
                  <a:srgbClr val="1464A5"/>
                </a:solidFill>
                <a:latin typeface="Microsoft YaHei"/>
                <a:ea typeface="Microsoft YaHei"/>
              </a:rPr>
              <a:t>拆需求交互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62671" y="3017520"/>
            <a:ext cx="1097280" cy="530352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8392" y="3172968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19" b="1">
                <a:solidFill>
                  <a:srgbClr val="1464A5"/>
                </a:solidFill>
                <a:latin typeface="Microsoft YaHei"/>
                <a:ea typeface="Microsoft YaHei"/>
              </a:rPr>
              <a:t>展开设计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715768"/>
            <a:ext cx="1097280" cy="530352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871216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19" b="1">
                <a:solidFill>
                  <a:srgbClr val="20A36A"/>
                </a:solidFill>
                <a:latin typeface="Microsoft YaHei"/>
                <a:ea typeface="Microsoft YaHei"/>
              </a:rPr>
              <a:t>先定验收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442448" y="2414016"/>
            <a:ext cx="1097280" cy="530352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88168" y="2569464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19" b="1">
                <a:solidFill>
                  <a:srgbClr val="20A36A"/>
                </a:solidFill>
                <a:latin typeface="Microsoft YaHei"/>
                <a:ea typeface="Microsoft YaHei"/>
              </a:rPr>
              <a:t>再排计划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5358384"/>
            <a:ext cx="9582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000" b="1">
                <a:solidFill>
                  <a:srgbClr val="0B4D85"/>
                </a:solidFill>
                <a:latin typeface="Microsoft YaHei"/>
                <a:ea typeface="Microsoft YaHei"/>
              </a:rPr>
              <a:t>每一步都有确认，每一步都有产物。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收束 / 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38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400" b="1">
                <a:solidFill>
                  <a:srgbClr val="111111"/>
                </a:solidFill>
                <a:latin typeface="Microsoft YaHei"/>
                <a:ea typeface="Microsoft YaHei"/>
              </a:rPr>
              <a:t>规格清楚，Agent 才能跑得稳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1993392"/>
            <a:ext cx="146304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范围有边界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90672" y="1993392"/>
            <a:ext cx="146304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18103" y="2057400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实现有依据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48656" y="1993392"/>
            <a:ext cx="1463040" cy="292608"/>
          </a:xfrm>
          <a:prstGeom prst="roundRect">
            <a:avLst/>
          </a:prstGeom>
          <a:solidFill>
            <a:srgbClr val="ED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2057400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20A36A"/>
                </a:solidFill>
                <a:latin typeface="Microsoft YaHei"/>
                <a:ea typeface="Microsoft YaHei"/>
              </a:rPr>
              <a:t>测试有证据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993392"/>
            <a:ext cx="146304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1" y="2057400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变更可控制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64624" y="1993392"/>
            <a:ext cx="1463040" cy="292608"/>
          </a:xfrm>
          <a:prstGeom prst="round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92055" y="2057400"/>
            <a:ext cx="14081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1">
                <a:solidFill>
                  <a:srgbClr val="1464A5"/>
                </a:solidFill>
                <a:latin typeface="Microsoft YaHei"/>
                <a:ea typeface="Microsoft YaHei"/>
              </a:rPr>
              <a:t>验收可判断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054096"/>
            <a:ext cx="9784080" cy="438912"/>
          </a:xfrm>
          <a:prstGeom prst="rect">
            <a:avLst/>
          </a:prstGeom>
          <a:solidFill>
            <a:srgbClr val="0B4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172968"/>
            <a:ext cx="478231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Microsoft YaHei"/>
                <a:ea typeface="Microsoft YaHei"/>
              </a:rPr>
              <a:t>没有基线的快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9591" y="3172968"/>
            <a:ext cx="4782312" cy="301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30" b="1">
                <a:solidFill>
                  <a:srgbClr val="FFFFFF"/>
                </a:solidFill>
                <a:latin typeface="Microsoft YaHei"/>
                <a:ea typeface="Microsoft YaHei"/>
              </a:rPr>
              <a:t>有基线的快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493008"/>
            <a:ext cx="9784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" y="3593591"/>
            <a:ext cx="47640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30" b="0">
                <a:solidFill>
                  <a:srgbClr val="333333"/>
                </a:solidFill>
                <a:latin typeface="Microsoft YaHei"/>
                <a:ea typeface="Microsoft YaHei"/>
              </a:rPr>
              <a:t>快速生成，但假设不清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8736" y="3593591"/>
            <a:ext cx="47640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30" b="0">
                <a:solidFill>
                  <a:srgbClr val="333333"/>
                </a:solidFill>
                <a:latin typeface="Microsoft YaHei"/>
                <a:ea typeface="Microsoft YaHei"/>
              </a:rPr>
              <a:t>快速执行，边界清楚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3931920"/>
            <a:ext cx="9784080" cy="438912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4032504"/>
            <a:ext cx="47640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30" b="0">
                <a:solidFill>
                  <a:srgbClr val="333333"/>
                </a:solidFill>
                <a:latin typeface="Microsoft YaHei"/>
                <a:ea typeface="Microsoft YaHei"/>
              </a:rPr>
              <a:t>页面能跑，但权限不稳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88736" y="4032504"/>
            <a:ext cx="47640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30" b="0">
                <a:solidFill>
                  <a:srgbClr val="333333"/>
                </a:solidFill>
                <a:latin typeface="Microsoft YaHei"/>
                <a:ea typeface="Microsoft YaHei"/>
              </a:rPr>
              <a:t>流程可用，规则可测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4370831"/>
            <a:ext cx="9784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" y="4471416"/>
            <a:ext cx="47640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30" b="0">
                <a:solidFill>
                  <a:srgbClr val="333333"/>
                </a:solidFill>
                <a:latin typeface="Microsoft YaHei"/>
                <a:ea typeface="Microsoft YaHei"/>
              </a:rPr>
              <a:t>需求变了难追踪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88736" y="4471416"/>
            <a:ext cx="47640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30" b="0">
                <a:solidFill>
                  <a:srgbClr val="333333"/>
                </a:solidFill>
                <a:latin typeface="Microsoft YaHei"/>
                <a:ea typeface="Microsoft YaHei"/>
              </a:rPr>
              <a:t>变更影响可定位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2688" y="4809744"/>
            <a:ext cx="9784080" cy="438912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" y="4910328"/>
            <a:ext cx="47640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30" b="0">
                <a:solidFill>
                  <a:srgbClr val="333333"/>
                </a:solidFill>
                <a:latin typeface="Microsoft YaHei"/>
                <a:ea typeface="Microsoft YaHei"/>
              </a:rPr>
              <a:t>验收时再争论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88736" y="4910328"/>
            <a:ext cx="47640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30" b="0">
                <a:solidFill>
                  <a:srgbClr val="333333"/>
                </a:solidFill>
                <a:latin typeface="Microsoft YaHei"/>
                <a:ea typeface="Microsoft YaHei"/>
              </a:rPr>
              <a:t>开发前已定义通过标准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收束 / 课堂练习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39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练习：把一句想法变成 MVP 边界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517904"/>
            <a:ext cx="3977639" cy="4434840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82495"/>
            <a:ext cx="420624" cy="41148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37943"/>
            <a:ext cx="36484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>
                <a:solidFill>
                  <a:srgbClr val="111111"/>
                </a:solidFill>
                <a:latin typeface="Microsoft YaHei"/>
                <a:ea typeface="Microsoft YaHei"/>
              </a:rPr>
              <a:t>练习步骤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2322576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231136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写一句原始想法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633472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542032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设计 5 个澄清问题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2944368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852928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写 3 项 MVP 必做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" y="3255264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163824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写 5 项暂不做</a:t>
            </a:r>
          </a:p>
        </p:txBody>
      </p:sp>
      <p:sp>
        <p:nvSpPr>
          <p:cNvPr id="19" name="Oval 18"/>
          <p:cNvSpPr/>
          <p:nvPr/>
        </p:nvSpPr>
        <p:spPr>
          <a:xfrm>
            <a:off x="950976" y="3566160"/>
            <a:ext cx="64008" cy="64008"/>
          </a:xfrm>
          <a:prstGeom prst="ellipse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474720"/>
            <a:ext cx="34838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Microsoft YaHei"/>
                <a:ea typeface="Microsoft YaHei"/>
              </a:rPr>
              <a:t>定义 1 条 E2E 验收路径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2352" y="1554480"/>
            <a:ext cx="6099048" cy="502920"/>
          </a:xfrm>
          <a:prstGeom prst="rect">
            <a:avLst/>
          </a:prstGeom>
          <a:solidFill>
            <a:srgbClr val="20A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7216" y="1673352"/>
            <a:ext cx="22219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Microsoft YaHei"/>
                <a:ea typeface="Microsoft YaHei"/>
              </a:rPr>
              <a:t>项目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16733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080" b="1">
                <a:solidFill>
                  <a:srgbClr val="FFFFFF"/>
                </a:solidFill>
                <a:latin typeface="Microsoft YaHei"/>
                <a:ea typeface="Microsoft YaHei"/>
              </a:rPr>
              <a:t>填写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02352" y="2057400"/>
            <a:ext cx="6099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2157984"/>
            <a:ext cx="220370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原始想法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157984"/>
            <a:ext cx="36393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</a:p>
        </p:txBody>
      </p:sp>
      <p:sp>
        <p:nvSpPr>
          <p:cNvPr id="27" name="Rectangle 26"/>
          <p:cNvSpPr/>
          <p:nvPr/>
        </p:nvSpPr>
        <p:spPr>
          <a:xfrm>
            <a:off x="5102352" y="2560320"/>
            <a:ext cx="6099048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2660903"/>
            <a:ext cx="220370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目标用户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660903"/>
            <a:ext cx="36393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</a:p>
        </p:txBody>
      </p:sp>
      <p:sp>
        <p:nvSpPr>
          <p:cNvPr id="30" name="Rectangle 29"/>
          <p:cNvSpPr/>
          <p:nvPr/>
        </p:nvSpPr>
        <p:spPr>
          <a:xfrm>
            <a:off x="5102352" y="3063239"/>
            <a:ext cx="6099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3163823"/>
            <a:ext cx="220370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5 个澄清问题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163823"/>
            <a:ext cx="36393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</a:p>
        </p:txBody>
      </p:sp>
      <p:sp>
        <p:nvSpPr>
          <p:cNvPr id="33" name="Rectangle 32"/>
          <p:cNvSpPr/>
          <p:nvPr/>
        </p:nvSpPr>
        <p:spPr>
          <a:xfrm>
            <a:off x="5102352" y="3566159"/>
            <a:ext cx="6099048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66360" y="3666744"/>
            <a:ext cx="220370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MVP 必做 3 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3666744"/>
            <a:ext cx="36393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</a:p>
        </p:txBody>
      </p:sp>
      <p:sp>
        <p:nvSpPr>
          <p:cNvPr id="36" name="Rectangle 35"/>
          <p:cNvSpPr/>
          <p:nvPr/>
        </p:nvSpPr>
        <p:spPr>
          <a:xfrm>
            <a:off x="5102352" y="4069079"/>
            <a:ext cx="609904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4169663"/>
            <a:ext cx="220370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MVP 暂不做 5 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169663"/>
            <a:ext cx="36393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</a:p>
        </p:txBody>
      </p:sp>
      <p:sp>
        <p:nvSpPr>
          <p:cNvPr id="39" name="Rectangle 38"/>
          <p:cNvSpPr/>
          <p:nvPr/>
        </p:nvSpPr>
        <p:spPr>
          <a:xfrm>
            <a:off x="5102352" y="4571999"/>
            <a:ext cx="6099048" cy="502920"/>
          </a:xfrm>
          <a:prstGeom prst="rect">
            <a:avLst/>
          </a:prstGeom>
          <a:solidFill>
            <a:srgbClr val="F6F8FA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66360" y="4672583"/>
            <a:ext cx="2203703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E2E 验收路径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4672583"/>
            <a:ext cx="3639312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</a:p>
        </p:txBody>
      </p:sp>
      <p:sp>
        <p:nvSpPr>
          <p:cNvPr id="42" name="TextBox 41"/>
          <p:cNvSpPr txBox="1"/>
          <p:nvPr/>
        </p:nvSpPr>
        <p:spPr>
          <a:xfrm>
            <a:off x="868680" y="6108192"/>
            <a:ext cx="10607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00" b="0">
                <a:solidFill>
                  <a:srgbClr val="6F7C8E"/>
                </a:solidFill>
                <a:latin typeface="Microsoft YaHei"/>
                <a:ea typeface="Microsoft YaHei"/>
              </a:rPr>
              <a:t>示例：内部知识库系统 -&gt; 创建知识条目、搜索条目、管理员审核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1464A5"/>
                </a:solidFill>
                <a:latin typeface="Microsoft YaHei"/>
                <a:ea typeface="Microsoft YaHei"/>
              </a:rPr>
              <a:t>收束 / 讨论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12064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37376"/>
            <a:ext cx="11109960" cy="13716"/>
          </a:xfrm>
          <a:prstGeom prst="rect">
            <a:avLst/>
          </a:prstGeom>
          <a:solidFill>
            <a:srgbClr val="E4E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900" b="0">
                <a:solidFill>
                  <a:srgbClr val="6F7C8E"/>
                </a:solidFill>
                <a:latin typeface="Microsoft YaHei"/>
                <a:ea typeface="Microsoft YaHei"/>
              </a:rPr>
              <a:t>从一个想法到可开发方案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53344" y="6537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50" b="1">
                <a:solidFill>
                  <a:srgbClr val="6F7C8E"/>
                </a:solidFill>
                <a:latin typeface="Microsoft YaHei"/>
                <a:ea typeface="Microsoft YaHei"/>
              </a:rPr>
              <a:t>40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731520"/>
            <a:ext cx="107899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</a:rPr>
              <a:t>讨论：你的团队最容易跳过哪一步？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627632"/>
            <a:ext cx="3127248" cy="786384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1755648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37944"/>
            <a:ext cx="28712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需求澄清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066543"/>
            <a:ext cx="2871215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一开始默认理解一致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627632"/>
            <a:ext cx="3127248" cy="786384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755648"/>
            <a:ext cx="347472" cy="36576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837944"/>
            <a:ext cx="28712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非范围确认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66543"/>
            <a:ext cx="2871215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只写做什么，不写暂不做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1627632"/>
            <a:ext cx="3127248" cy="786384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755648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837944"/>
            <a:ext cx="28712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设计追踪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66543"/>
            <a:ext cx="2871215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需求、页面、数据、API 缺少映射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2688336"/>
            <a:ext cx="3127248" cy="786384"/>
          </a:xfrm>
          <a:prstGeom prst="roundRect">
            <a:avLst/>
          </a:prstGeom>
          <a:solidFill>
            <a:srgbClr val="ECF4FB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" y="2816352"/>
            <a:ext cx="347472" cy="36576"/>
          </a:xfrm>
          <a:prstGeom prst="rect">
            <a:avLst/>
          </a:prstGeom>
          <a:solidFill>
            <a:srgbClr val="146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2898648"/>
            <a:ext cx="28712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测试前置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3127248"/>
            <a:ext cx="2871215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代码后才讨论完成标准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2688336"/>
            <a:ext cx="3127248" cy="786384"/>
          </a:xfrm>
          <a:prstGeom prst="roundRect">
            <a:avLst/>
          </a:prstGeom>
          <a:solidFill>
            <a:srgbClr val="FEF4E9"/>
          </a:solidFill>
          <a:ln w="1270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53712" y="2816352"/>
            <a:ext cx="347472" cy="36576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2898648"/>
            <a:ext cx="28712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400" b="1">
                <a:solidFill>
                  <a:srgbClr val="111111"/>
                </a:solidFill>
                <a:latin typeface="Microsoft YaHei"/>
                <a:ea typeface="Microsoft YaHei"/>
              </a:rPr>
              <a:t>变更确认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127248"/>
            <a:ext cx="2871215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080" b="0">
                <a:solidFill>
                  <a:srgbClr val="333333"/>
                </a:solidFill>
                <a:latin typeface="Microsoft YaHei"/>
                <a:ea typeface="Microsoft YaHei"/>
              </a:rPr>
              <a:t>开发中悄悄扩大范围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" y="5157216"/>
            <a:ext cx="10287000" cy="658368"/>
          </a:xfrm>
          <a:prstGeom prst="roundRect">
            <a:avLst/>
          </a:prstGeom>
          <a:solidFill>
            <a:srgbClr val="0B4D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5376672"/>
            <a:ext cx="100401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</a:rPr>
              <a:t>Agent 加快执行，人负责判断；基线越清楚，协作越可靠。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22992" y="610819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500" b="1">
                <a:solidFill>
                  <a:srgbClr val="1464A5"/>
                </a:solidFill>
                <a:latin typeface="Microsoft YaHei"/>
                <a:ea typeface="Microsoft YaHei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